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57" r:id="rId3"/>
    <p:sldId id="258" r:id="rId4"/>
    <p:sldId id="264" r:id="rId5"/>
    <p:sldId id="259" r:id="rId6"/>
    <p:sldId id="262" r:id="rId7"/>
    <p:sldId id="265" r:id="rId8"/>
    <p:sldId id="260" r:id="rId9"/>
    <p:sldId id="261" r:id="rId10"/>
    <p:sldId id="263" r:id="rId11"/>
  </p:sldIdLst>
  <p:sldSz cx="18288000" cy="10287000"/>
  <p:notesSz cx="6858000" cy="9144000"/>
  <p:embeddedFontLst>
    <p:embeddedFont>
      <p:font typeface="IBM Plex Sans" panose="020B0503050203000203" pitchFamily="34" charset="0"/>
      <p:regular r:id="rId13"/>
      <p:bold r:id="rId14"/>
    </p:embeddedFont>
    <p:embeddedFont>
      <p:font typeface="Montserrat" pitchFamily="2"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2" d="100"/>
          <a:sy n="52" d="100"/>
        </p:scale>
        <p:origin x="850"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manualLayout>
          <c:layoutTarget val="inner"/>
          <c:xMode val="edge"/>
          <c:yMode val="edge"/>
          <c:x val="0.09"/>
          <c:y val="0.13"/>
          <c:w val="0.88500000000000001"/>
          <c:h val="0.7"/>
        </c:manualLayout>
      </c:layout>
      <c:lineChart>
        <c:grouping val="standard"/>
        <c:varyColors val="0"/>
        <c:ser>
          <c:idx val="0"/>
          <c:order val="0"/>
          <c:tx>
            <c:strRef>
              <c:f>Sheet1!$B$1</c:f>
              <c:strCache>
                <c:ptCount val="1"/>
                <c:pt idx="0">
                  <c:v>GOLDPETAL − GOLDTEN</c:v>
                </c:pt>
              </c:strCache>
            </c:strRef>
          </c:tx>
          <c:spPr>
            <a:ln w="38100">
              <a:solidFill>
                <a:srgbClr val="3E4FA8"/>
              </a:solidFill>
            </a:ln>
          </c:spPr>
          <c:marker>
            <c:symbol val="circle"/>
            <c:size val="9"/>
            <c:spPr>
              <a:solidFill>
                <a:srgbClr val="3E4FA8"/>
              </a:solidFill>
              <a:ln>
                <a:solidFill>
                  <a:srgbClr val="FFFFFF"/>
                </a:solidFill>
              </a:ln>
            </c:spPr>
          </c:marker>
          <c:cat>
            <c:strRef>
              <c:f>Sheet1!$A$2:$A$19</c:f>
              <c:strCache>
                <c:ptCount val="18"/>
                <c:pt idx="0">
                  <c:v>Apr 25</c:v>
                </c:pt>
                <c:pt idx="1">
                  <c:v>May 25</c:v>
                </c:pt>
                <c:pt idx="2">
                  <c:v>Jun 25</c:v>
                </c:pt>
                <c:pt idx="3">
                  <c:v>Jul 25</c:v>
                </c:pt>
                <c:pt idx="4">
                  <c:v>Aug 25</c:v>
                </c:pt>
                <c:pt idx="5">
                  <c:v>Sep 25</c:v>
                </c:pt>
                <c:pt idx="6">
                  <c:v>Oct 25</c:v>
                </c:pt>
                <c:pt idx="7">
                  <c:v>Nov 25</c:v>
                </c:pt>
                <c:pt idx="8">
                  <c:v>Dec 25</c:v>
                </c:pt>
                <c:pt idx="9">
                  <c:v>Jan 26</c:v>
                </c:pt>
                <c:pt idx="10">
                  <c:v>Feb 26</c:v>
                </c:pt>
                <c:pt idx="11">
                  <c:v>Mar 26</c:v>
                </c:pt>
                <c:pt idx="12">
                  <c:v>Apr 26</c:v>
                </c:pt>
                <c:pt idx="13">
                  <c:v>May 26</c:v>
                </c:pt>
                <c:pt idx="14">
                  <c:v>Jun 26</c:v>
                </c:pt>
                <c:pt idx="15">
                  <c:v>Jul 26</c:v>
                </c:pt>
                <c:pt idx="16">
                  <c:v>Aug 26</c:v>
                </c:pt>
                <c:pt idx="17">
                  <c:v>Sep 26</c:v>
                </c:pt>
              </c:strCache>
            </c:strRef>
          </c:cat>
          <c:val>
            <c:numRef>
              <c:f>Sheet1!$B$2:$B$19</c:f>
              <c:numCache>
                <c:formatCode>General</c:formatCode>
                <c:ptCount val="18"/>
                <c:pt idx="0">
                  <c:v>77.8</c:v>
                </c:pt>
                <c:pt idx="1">
                  <c:v>86</c:v>
                </c:pt>
                <c:pt idx="2">
                  <c:v>84.9</c:v>
                </c:pt>
                <c:pt idx="3">
                  <c:v>75.5</c:v>
                </c:pt>
                <c:pt idx="4">
                  <c:v>65.8</c:v>
                </c:pt>
                <c:pt idx="5">
                  <c:v>56.5</c:v>
                </c:pt>
                <c:pt idx="6">
                  <c:v>56.7</c:v>
                </c:pt>
                <c:pt idx="7">
                  <c:v>73.5</c:v>
                </c:pt>
                <c:pt idx="8">
                  <c:v>85.2</c:v>
                </c:pt>
                <c:pt idx="9">
                  <c:v>106.2</c:v>
                </c:pt>
                <c:pt idx="10">
                  <c:v>118.5</c:v>
                </c:pt>
                <c:pt idx="11">
                  <c:v>142.19999999999999</c:v>
                </c:pt>
                <c:pt idx="12">
                  <c:v>146.19999999999999</c:v>
                </c:pt>
                <c:pt idx="13">
                  <c:v>147</c:v>
                </c:pt>
                <c:pt idx="14">
                  <c:v>138.9</c:v>
                </c:pt>
                <c:pt idx="15">
                  <c:v>100.2</c:v>
                </c:pt>
                <c:pt idx="16">
                  <c:v>71.7</c:v>
                </c:pt>
                <c:pt idx="17">
                  <c:v>60.2</c:v>
                </c:pt>
              </c:numCache>
            </c:numRef>
          </c:val>
          <c:smooth val="0"/>
          <c:extLst>
            <c:ext xmlns:c16="http://schemas.microsoft.com/office/drawing/2014/chart" uri="{C3380CC4-5D6E-409C-BE32-E72D297353CC}">
              <c16:uniqueId val="{00000000-21C2-4EFC-92B8-6B0299CCB905}"/>
            </c:ext>
          </c:extLst>
        </c:ser>
        <c:ser>
          <c:idx val="1"/>
          <c:order val="1"/>
          <c:tx>
            <c:strRef>
              <c:f>Sheet1!$C$1</c:f>
              <c:strCache>
                <c:ptCount val="1"/>
                <c:pt idx="0">
                  <c:v>GOLDGUINEA − GOLDTEN</c:v>
                </c:pt>
              </c:strCache>
            </c:strRef>
          </c:tx>
          <c:spPr>
            <a:ln w="38100">
              <a:solidFill>
                <a:srgbClr val="9A6A00"/>
              </a:solidFill>
            </a:ln>
          </c:spPr>
          <c:marker>
            <c:symbol val="circle"/>
            <c:size val="9"/>
            <c:spPr>
              <a:solidFill>
                <a:srgbClr val="9A6A00"/>
              </a:solidFill>
              <a:ln>
                <a:solidFill>
                  <a:srgbClr val="FFFFFF"/>
                </a:solidFill>
              </a:ln>
            </c:spPr>
          </c:marker>
          <c:cat>
            <c:strRef>
              <c:f>Sheet1!$A$2:$A$19</c:f>
              <c:strCache>
                <c:ptCount val="18"/>
                <c:pt idx="0">
                  <c:v>Apr 25</c:v>
                </c:pt>
                <c:pt idx="1">
                  <c:v>May 25</c:v>
                </c:pt>
                <c:pt idx="2">
                  <c:v>Jun 25</c:v>
                </c:pt>
                <c:pt idx="3">
                  <c:v>Jul 25</c:v>
                </c:pt>
                <c:pt idx="4">
                  <c:v>Aug 25</c:v>
                </c:pt>
                <c:pt idx="5">
                  <c:v>Sep 25</c:v>
                </c:pt>
                <c:pt idx="6">
                  <c:v>Oct 25</c:v>
                </c:pt>
                <c:pt idx="7">
                  <c:v>Nov 25</c:v>
                </c:pt>
                <c:pt idx="8">
                  <c:v>Dec 25</c:v>
                </c:pt>
                <c:pt idx="9">
                  <c:v>Jan 26</c:v>
                </c:pt>
                <c:pt idx="10">
                  <c:v>Feb 26</c:v>
                </c:pt>
                <c:pt idx="11">
                  <c:v>Mar 26</c:v>
                </c:pt>
                <c:pt idx="12">
                  <c:v>Apr 26</c:v>
                </c:pt>
                <c:pt idx="13">
                  <c:v>May 26</c:v>
                </c:pt>
                <c:pt idx="14">
                  <c:v>Jun 26</c:v>
                </c:pt>
                <c:pt idx="15">
                  <c:v>Jul 26</c:v>
                </c:pt>
                <c:pt idx="16">
                  <c:v>Aug 26</c:v>
                </c:pt>
                <c:pt idx="17">
                  <c:v>Sep 26</c:v>
                </c:pt>
              </c:strCache>
            </c:strRef>
          </c:cat>
          <c:val>
            <c:numRef>
              <c:f>Sheet1!$C$2:$C$19</c:f>
              <c:numCache>
                <c:formatCode>General</c:formatCode>
                <c:ptCount val="18"/>
                <c:pt idx="0">
                  <c:v>38.200000000000003</c:v>
                </c:pt>
                <c:pt idx="1">
                  <c:v>48.8</c:v>
                </c:pt>
                <c:pt idx="2">
                  <c:v>54.3</c:v>
                </c:pt>
                <c:pt idx="3">
                  <c:v>40</c:v>
                </c:pt>
                <c:pt idx="4">
                  <c:v>34.200000000000003</c:v>
                </c:pt>
                <c:pt idx="5">
                  <c:v>34</c:v>
                </c:pt>
                <c:pt idx="6">
                  <c:v>48.1</c:v>
                </c:pt>
                <c:pt idx="7">
                  <c:v>65.400000000000006</c:v>
                </c:pt>
                <c:pt idx="8">
                  <c:v>77.599999999999994</c:v>
                </c:pt>
                <c:pt idx="9">
                  <c:v>108.9</c:v>
                </c:pt>
                <c:pt idx="10">
                  <c:v>124.1</c:v>
                </c:pt>
                <c:pt idx="11">
                  <c:v>142.5</c:v>
                </c:pt>
                <c:pt idx="12">
                  <c:v>143.80000000000001</c:v>
                </c:pt>
                <c:pt idx="13">
                  <c:v>141.6</c:v>
                </c:pt>
                <c:pt idx="14">
                  <c:v>122.3</c:v>
                </c:pt>
                <c:pt idx="15">
                  <c:v>82.3</c:v>
                </c:pt>
                <c:pt idx="16">
                  <c:v>61.4</c:v>
                </c:pt>
                <c:pt idx="17">
                  <c:v>48.6</c:v>
                </c:pt>
              </c:numCache>
            </c:numRef>
          </c:val>
          <c:smooth val="0"/>
          <c:extLst>
            <c:ext xmlns:c16="http://schemas.microsoft.com/office/drawing/2014/chart" uri="{C3380CC4-5D6E-409C-BE32-E72D297353CC}">
              <c16:uniqueId val="{00000001-21C2-4EFC-92B8-6B0299CCB905}"/>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D9DCE3"/>
            </a:solidFill>
          </a:ln>
        </c:spPr>
        <c:txPr>
          <a:bodyPr/>
          <a:lstStyle/>
          <a:p>
            <a:pPr>
              <a:defRPr sz="1200">
                <a:solidFill>
                  <a:srgbClr val="5A6170"/>
                </a:solidFill>
                <a:latin typeface="Calibri"/>
              </a:defRPr>
            </a:pPr>
            <a:endParaRPr lang="en-US"/>
          </a:p>
        </c:txPr>
        <c:crossAx val="2140495176"/>
        <c:crosses val="autoZero"/>
        <c:auto val="1"/>
        <c:lblAlgn val="ctr"/>
        <c:lblOffset val="100"/>
        <c:noMultiLvlLbl val="0"/>
      </c:catAx>
      <c:valAx>
        <c:axId val="2140495176"/>
        <c:scaling>
          <c:orientation val="minMax"/>
          <c:max val="160"/>
          <c:min val="0"/>
        </c:scaling>
        <c:delete val="0"/>
        <c:axPos val="l"/>
        <c:majorGridlines>
          <c:spPr>
            <a:ln>
              <a:solidFill>
                <a:srgbClr val="D9DCE3"/>
              </a:solidFill>
            </a:ln>
          </c:spPr>
        </c:majorGridlines>
        <c:title>
          <c:tx>
            <c:rich>
              <a:bodyPr/>
              <a:lstStyle/>
              <a:p>
                <a:r>
                  <a:rPr lang="en-IN" sz="1300" b="0">
                    <a:solidFill>
                      <a:srgbClr val="5A6170"/>
                    </a:solidFill>
                    <a:latin typeface="Calibri"/>
                  </a:rPr>
                  <a:t>bp per gram over GOLDTEN (VWAP, cycle mean)</a:t>
                </a:r>
              </a:p>
            </c:rich>
          </c:tx>
          <c:overlay val="0"/>
        </c:title>
        <c:numFmt formatCode="General" sourceLinked="1"/>
        <c:majorTickMark val="out"/>
        <c:minorTickMark val="none"/>
        <c:tickLblPos val="nextTo"/>
        <c:spPr>
          <a:ln>
            <a:solidFill>
              <a:srgbClr val="D9DCE3"/>
            </a:solidFill>
          </a:ln>
        </c:spPr>
        <c:txPr>
          <a:bodyPr/>
          <a:lstStyle/>
          <a:p>
            <a:pPr>
              <a:defRPr sz="1400">
                <a:solidFill>
                  <a:srgbClr val="5A6170"/>
                </a:solidFill>
                <a:latin typeface="Calibri"/>
              </a:defRPr>
            </a:pPr>
            <a:endParaRPr lang="en-US"/>
          </a:p>
        </c:txPr>
        <c:crossAx val="2118791784"/>
        <c:crosses val="autoZero"/>
        <c:crossBetween val="between"/>
        <c:majorUnit val="40"/>
      </c:valAx>
    </c:plotArea>
    <c:legend>
      <c:legendPos val="t"/>
      <c:overlay val="0"/>
      <c:txPr>
        <a:bodyPr/>
        <a:lstStyle/>
        <a:p>
          <a:pPr>
            <a:defRPr sz="1500">
              <a:solidFill>
                <a:srgbClr val="1D1D1F"/>
              </a:solidFill>
              <a:latin typeface="Calibri"/>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600" b="1">
                <a:solidFill>
                  <a:srgbClr val="1D1D1F"/>
                </a:solidFill>
                <a:latin typeface="Calibri"/>
              </a:rPr>
              <a:t>Coin price over spot (%): what delivery can afford vs what coins cost</a:t>
            </a:r>
          </a:p>
        </c:rich>
      </c:tx>
      <c:overlay val="0"/>
    </c:title>
    <c:autoTitleDeleted val="0"/>
    <c:plotArea>
      <c:layout/>
      <c:barChart>
        <c:barDir val="col"/>
        <c:grouping val="clustered"/>
        <c:varyColors val="1"/>
        <c:ser>
          <c:idx val="0"/>
          <c:order val="0"/>
          <c:tx>
            <c:strRef>
              <c:f>Sheet1!$B$1</c:f>
              <c:strCache>
                <c:ptCount val="1"/>
                <c:pt idx="0">
                  <c:v>Most a deliverer can pay over spot to break even</c:v>
                </c:pt>
              </c:strCache>
            </c:strRef>
          </c:tx>
          <c:spPr>
            <a:solidFill>
              <a:srgbClr val="9A6A00"/>
            </a:solidFill>
          </c:spPr>
          <c:invertIfNegative val="1"/>
          <c:dLbls>
            <c:numFmt formatCode="0.00&quot;%&quot;" sourceLinked="0"/>
            <c:spPr>
              <a:noFill/>
              <a:ln>
                <a:noFill/>
              </a:ln>
              <a:effectLst/>
            </c:spPr>
            <c:txPr>
              <a:bodyPr/>
              <a:lstStyle/>
              <a:p>
                <a:pPr>
                  <a:defRPr sz="1600" b="1">
                    <a:solidFill>
                      <a:srgbClr val="1D1D1F"/>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8 g coin  (GOLDGUINEA)</c:v>
                </c:pt>
                <c:pt idx="1">
                  <c:v>1 g coin  (GOLDPETAL)</c:v>
                </c:pt>
              </c:strCache>
            </c:strRef>
          </c:cat>
          <c:val>
            <c:numRef>
              <c:f>Sheet1!$B$2:$B$3</c:f>
              <c:numCache>
                <c:formatCode>General</c:formatCode>
                <c:ptCount val="2"/>
                <c:pt idx="0">
                  <c:v>0.27</c:v>
                </c:pt>
                <c:pt idx="1">
                  <c:v>1.1299999999999999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CC6-4595-8C5C-40A67AB6334B}"/>
            </c:ext>
          </c:extLst>
        </c:ser>
        <c:ser>
          <c:idx val="1"/>
          <c:order val="1"/>
          <c:tx>
            <c:strRef>
              <c:f>Sheet1!$C$1</c:f>
              <c:strCache>
                <c:ptCount val="1"/>
                <c:pt idx="0">
                  <c:v>Cheapest retail coin we found</c:v>
                </c:pt>
              </c:strCache>
            </c:strRef>
          </c:tx>
          <c:spPr>
            <a:solidFill>
              <a:srgbClr val="A9AEB8"/>
            </a:solidFill>
          </c:spPr>
          <c:invertIfNegative val="1"/>
          <c:dLbls>
            <c:numFmt formatCode="0.00&quot;%&quot;" sourceLinked="0"/>
            <c:spPr>
              <a:noFill/>
              <a:ln>
                <a:noFill/>
              </a:ln>
              <a:effectLst/>
            </c:spPr>
            <c:txPr>
              <a:bodyPr/>
              <a:lstStyle/>
              <a:p>
                <a:pPr>
                  <a:defRPr sz="1600" b="1">
                    <a:solidFill>
                      <a:srgbClr val="1D1D1F"/>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8 g coin  (GOLDGUINEA)</c:v>
                </c:pt>
                <c:pt idx="1">
                  <c:v>1 g coin  (GOLDPETAL)</c:v>
                </c:pt>
              </c:strCache>
            </c:strRef>
          </c:cat>
          <c:val>
            <c:numRef>
              <c:f>Sheet1!$C$2:$C$3</c:f>
              <c:numCache>
                <c:formatCode>General</c:formatCode>
                <c:ptCount val="2"/>
                <c:pt idx="0">
                  <c:v>3.6</c:v>
                </c:pt>
                <c:pt idx="1">
                  <c:v>5.5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9CC6-4595-8C5C-40A67AB6334B}"/>
            </c:ext>
          </c:extLst>
        </c:ser>
        <c:dLbls>
          <c:dLblPos val="outEnd"/>
          <c:showLegendKey val="0"/>
          <c:showVal val="1"/>
          <c:showCatName val="0"/>
          <c:showSerName val="0"/>
          <c:showPercent val="0"/>
          <c:showBubbleSize val="0"/>
        </c:dLbls>
        <c:gapWidth val="7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CE3"/>
            </a:solidFill>
          </a:ln>
        </c:spPr>
        <c:txPr>
          <a:bodyPr/>
          <a:lstStyle/>
          <a:p>
            <a:pPr>
              <a:defRPr sz="1500">
                <a:solidFill>
                  <a:srgbClr val="1D1D1F"/>
                </a:solidFill>
              </a:defRPr>
            </a:pPr>
            <a:endParaRPr lang="en-US"/>
          </a:p>
        </c:txPr>
        <c:crossAx val="-2113994440"/>
        <c:crosses val="autoZero"/>
        <c:auto val="1"/>
        <c:lblAlgn val="ctr"/>
        <c:lblOffset val="100"/>
        <c:noMultiLvlLbl val="0"/>
      </c:catAx>
      <c:valAx>
        <c:axId val="-2113994440"/>
        <c:scaling>
          <c:orientation val="minMax"/>
          <c:max val="6.5"/>
          <c:min val="0"/>
        </c:scaling>
        <c:delete val="0"/>
        <c:axPos val="l"/>
        <c:majorGridlines>
          <c:spPr>
            <a:ln>
              <a:solidFill>
                <a:srgbClr val="D9DCE3"/>
              </a:solidFill>
            </a:ln>
          </c:spPr>
        </c:majorGridlines>
        <c:numFmt formatCode="0&quot;%&quot;" sourceLinked="0"/>
        <c:majorTickMark val="out"/>
        <c:minorTickMark val="none"/>
        <c:tickLblPos val="nextTo"/>
        <c:spPr>
          <a:ln>
            <a:noFill/>
          </a:ln>
        </c:spPr>
        <c:txPr>
          <a:bodyPr/>
          <a:lstStyle/>
          <a:p>
            <a:pPr>
              <a:defRPr sz="1300">
                <a:solidFill>
                  <a:srgbClr val="5A6170"/>
                </a:solidFill>
              </a:defRPr>
            </a:pPr>
            <a:endParaRPr lang="en-US"/>
          </a:p>
        </c:txPr>
        <c:crossAx val="-2068027336"/>
        <c:crosses val="autoZero"/>
        <c:crossBetween val="between"/>
      </c:valAx>
    </c:plotArea>
    <c:legend>
      <c:legendPos val="b"/>
      <c:overlay val="0"/>
      <c:txPr>
        <a:bodyPr/>
        <a:lstStyle/>
        <a:p>
          <a:pPr>
            <a:defRPr sz="1400">
              <a:solidFill>
                <a:srgbClr val="5A6170"/>
              </a:solidFill>
              <a:latin typeface="Calibri"/>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09"/>
          <c:y val="0.05"/>
          <c:w val="0.89"/>
          <c:h val="0.8"/>
        </c:manualLayout>
      </c:layout>
      <c:barChart>
        <c:barDir val="col"/>
        <c:grouping val="clustered"/>
        <c:varyColors val="1"/>
        <c:ser>
          <c:idx val="0"/>
          <c:order val="0"/>
          <c:tx>
            <c:strRef>
              <c:f>Sheet1!$B$1</c:f>
              <c:strCache>
                <c:ptCount val="1"/>
                <c:pt idx="0">
                  <c:v>Premium on positions entering delivery (₹ lakh)</c:v>
                </c:pt>
              </c:strCache>
            </c:strRef>
          </c:tx>
          <c:invertIfNegative val="1"/>
          <c:dPt>
            <c:idx val="0"/>
            <c:invertIfNegative val="1"/>
            <c:bubble3D val="0"/>
            <c:spPr>
              <a:solidFill>
                <a:srgbClr val="9A6A00"/>
              </a:solidFill>
            </c:spPr>
            <c:extLst>
              <c:ext xmlns:c16="http://schemas.microsoft.com/office/drawing/2014/chart" uri="{C3380CC4-5D6E-409C-BE32-E72D297353CC}">
                <c16:uniqueId val="{00000001-07FD-4EB1-81F8-534B329853A7}"/>
              </c:ext>
            </c:extLst>
          </c:dPt>
          <c:dPt>
            <c:idx val="1"/>
            <c:invertIfNegative val="1"/>
            <c:bubble3D val="0"/>
            <c:spPr>
              <a:solidFill>
                <a:srgbClr val="9A6A00"/>
              </a:solidFill>
            </c:spPr>
            <c:extLst>
              <c:ext xmlns:c16="http://schemas.microsoft.com/office/drawing/2014/chart" uri="{C3380CC4-5D6E-409C-BE32-E72D297353CC}">
                <c16:uniqueId val="{00000003-07FD-4EB1-81F8-534B329853A7}"/>
              </c:ext>
            </c:extLst>
          </c:dPt>
          <c:dPt>
            <c:idx val="2"/>
            <c:invertIfNegative val="1"/>
            <c:bubble3D val="0"/>
            <c:spPr>
              <a:solidFill>
                <a:srgbClr val="9A6A00"/>
              </a:solidFill>
            </c:spPr>
            <c:extLst>
              <c:ext xmlns:c16="http://schemas.microsoft.com/office/drawing/2014/chart" uri="{C3380CC4-5D6E-409C-BE32-E72D297353CC}">
                <c16:uniqueId val="{00000005-07FD-4EB1-81F8-534B329853A7}"/>
              </c:ext>
            </c:extLst>
          </c:dPt>
          <c:dPt>
            <c:idx val="3"/>
            <c:invertIfNegative val="1"/>
            <c:bubble3D val="0"/>
            <c:spPr>
              <a:solidFill>
                <a:srgbClr val="9A6A00"/>
              </a:solidFill>
            </c:spPr>
            <c:extLst>
              <c:ext xmlns:c16="http://schemas.microsoft.com/office/drawing/2014/chart" uri="{C3380CC4-5D6E-409C-BE32-E72D297353CC}">
                <c16:uniqueId val="{00000007-07FD-4EB1-81F8-534B329853A7}"/>
              </c:ext>
            </c:extLst>
          </c:dPt>
          <c:dPt>
            <c:idx val="4"/>
            <c:invertIfNegative val="1"/>
            <c:bubble3D val="0"/>
            <c:spPr>
              <a:solidFill>
                <a:srgbClr val="9A6A00"/>
              </a:solidFill>
            </c:spPr>
            <c:extLst>
              <c:ext xmlns:c16="http://schemas.microsoft.com/office/drawing/2014/chart" uri="{C3380CC4-5D6E-409C-BE32-E72D297353CC}">
                <c16:uniqueId val="{00000009-07FD-4EB1-81F8-534B329853A7}"/>
              </c:ext>
            </c:extLst>
          </c:dPt>
          <c:dPt>
            <c:idx val="5"/>
            <c:invertIfNegative val="1"/>
            <c:bubble3D val="0"/>
            <c:spPr>
              <a:solidFill>
                <a:srgbClr val="9A6A00"/>
              </a:solidFill>
            </c:spPr>
            <c:extLst>
              <c:ext xmlns:c16="http://schemas.microsoft.com/office/drawing/2014/chart" uri="{C3380CC4-5D6E-409C-BE32-E72D297353CC}">
                <c16:uniqueId val="{0000000B-07FD-4EB1-81F8-534B329853A7}"/>
              </c:ext>
            </c:extLst>
          </c:dPt>
          <c:dPt>
            <c:idx val="6"/>
            <c:invertIfNegative val="1"/>
            <c:bubble3D val="0"/>
            <c:spPr>
              <a:solidFill>
                <a:srgbClr val="9A6A00"/>
              </a:solidFill>
            </c:spPr>
            <c:extLst>
              <c:ext xmlns:c16="http://schemas.microsoft.com/office/drawing/2014/chart" uri="{C3380CC4-5D6E-409C-BE32-E72D297353CC}">
                <c16:uniqueId val="{0000000D-07FD-4EB1-81F8-534B329853A7}"/>
              </c:ext>
            </c:extLst>
          </c:dPt>
          <c:dPt>
            <c:idx val="7"/>
            <c:invertIfNegative val="1"/>
            <c:bubble3D val="0"/>
            <c:spPr>
              <a:solidFill>
                <a:srgbClr val="9A6A00"/>
              </a:solidFill>
            </c:spPr>
            <c:extLst>
              <c:ext xmlns:c16="http://schemas.microsoft.com/office/drawing/2014/chart" uri="{C3380CC4-5D6E-409C-BE32-E72D297353CC}">
                <c16:uniqueId val="{0000000F-07FD-4EB1-81F8-534B329853A7}"/>
              </c:ext>
            </c:extLst>
          </c:dPt>
          <c:dPt>
            <c:idx val="8"/>
            <c:invertIfNegative val="1"/>
            <c:bubble3D val="0"/>
            <c:spPr>
              <a:solidFill>
                <a:srgbClr val="9A6A00"/>
              </a:solidFill>
            </c:spPr>
            <c:extLst>
              <c:ext xmlns:c16="http://schemas.microsoft.com/office/drawing/2014/chart" uri="{C3380CC4-5D6E-409C-BE32-E72D297353CC}">
                <c16:uniqueId val="{00000011-07FD-4EB1-81F8-534B329853A7}"/>
              </c:ext>
            </c:extLst>
          </c:dPt>
          <c:dPt>
            <c:idx val="9"/>
            <c:invertIfNegative val="1"/>
            <c:bubble3D val="0"/>
            <c:spPr>
              <a:solidFill>
                <a:srgbClr val="9A6A00"/>
              </a:solidFill>
            </c:spPr>
            <c:extLst>
              <c:ext xmlns:c16="http://schemas.microsoft.com/office/drawing/2014/chart" uri="{C3380CC4-5D6E-409C-BE32-E72D297353CC}">
                <c16:uniqueId val="{00000013-07FD-4EB1-81F8-534B329853A7}"/>
              </c:ext>
            </c:extLst>
          </c:dPt>
          <c:dPt>
            <c:idx val="10"/>
            <c:invertIfNegative val="1"/>
            <c:bubble3D val="0"/>
            <c:spPr>
              <a:solidFill>
                <a:srgbClr val="9A6A00"/>
              </a:solidFill>
            </c:spPr>
            <c:extLst>
              <c:ext xmlns:c16="http://schemas.microsoft.com/office/drawing/2014/chart" uri="{C3380CC4-5D6E-409C-BE32-E72D297353CC}">
                <c16:uniqueId val="{00000015-07FD-4EB1-81F8-534B329853A7}"/>
              </c:ext>
            </c:extLst>
          </c:dPt>
          <c:dPt>
            <c:idx val="11"/>
            <c:invertIfNegative val="1"/>
            <c:bubble3D val="0"/>
            <c:spPr>
              <a:solidFill>
                <a:srgbClr val="9A6A00"/>
              </a:solidFill>
            </c:spPr>
            <c:extLst>
              <c:ext xmlns:c16="http://schemas.microsoft.com/office/drawing/2014/chart" uri="{C3380CC4-5D6E-409C-BE32-E72D297353CC}">
                <c16:uniqueId val="{00000017-07FD-4EB1-81F8-534B329853A7}"/>
              </c:ext>
            </c:extLst>
          </c:dPt>
          <c:dPt>
            <c:idx val="12"/>
            <c:invertIfNegative val="1"/>
            <c:bubble3D val="0"/>
            <c:spPr>
              <a:solidFill>
                <a:srgbClr val="9A6A00"/>
              </a:solidFill>
            </c:spPr>
            <c:extLst>
              <c:ext xmlns:c16="http://schemas.microsoft.com/office/drawing/2014/chart" uri="{C3380CC4-5D6E-409C-BE32-E72D297353CC}">
                <c16:uniqueId val="{00000019-07FD-4EB1-81F8-534B329853A7}"/>
              </c:ext>
            </c:extLst>
          </c:dPt>
          <c:dPt>
            <c:idx val="13"/>
            <c:invertIfNegative val="1"/>
            <c:bubble3D val="0"/>
            <c:spPr>
              <a:solidFill>
                <a:srgbClr val="9A6A00"/>
              </a:solidFill>
            </c:spPr>
            <c:extLst>
              <c:ext xmlns:c16="http://schemas.microsoft.com/office/drawing/2014/chart" uri="{C3380CC4-5D6E-409C-BE32-E72D297353CC}">
                <c16:uniqueId val="{0000001B-07FD-4EB1-81F8-534B329853A7}"/>
              </c:ext>
            </c:extLst>
          </c:dPt>
          <c:dPt>
            <c:idx val="14"/>
            <c:invertIfNegative val="1"/>
            <c:bubble3D val="0"/>
            <c:spPr>
              <a:solidFill>
                <a:srgbClr val="9A6A00"/>
              </a:solidFill>
            </c:spPr>
            <c:extLst>
              <c:ext xmlns:c16="http://schemas.microsoft.com/office/drawing/2014/chart" uri="{C3380CC4-5D6E-409C-BE32-E72D297353CC}">
                <c16:uniqueId val="{0000001D-07FD-4EB1-81F8-534B329853A7}"/>
              </c:ext>
            </c:extLst>
          </c:dPt>
          <c:dPt>
            <c:idx val="15"/>
            <c:invertIfNegative val="1"/>
            <c:bubble3D val="0"/>
            <c:spPr>
              <a:solidFill>
                <a:srgbClr val="9A6A00"/>
              </a:solidFill>
            </c:spPr>
            <c:extLst>
              <c:ext xmlns:c16="http://schemas.microsoft.com/office/drawing/2014/chart" uri="{C3380CC4-5D6E-409C-BE32-E72D297353CC}">
                <c16:uniqueId val="{0000001F-07FD-4EB1-81F8-534B329853A7}"/>
              </c:ext>
            </c:extLst>
          </c:dPt>
          <c:dPt>
            <c:idx val="16"/>
            <c:invertIfNegative val="1"/>
            <c:bubble3D val="0"/>
            <c:spPr>
              <a:solidFill>
                <a:srgbClr val="9A6A00"/>
              </a:solidFill>
            </c:spPr>
            <c:extLst>
              <c:ext xmlns:c16="http://schemas.microsoft.com/office/drawing/2014/chart" uri="{C3380CC4-5D6E-409C-BE32-E72D297353CC}">
                <c16:uniqueId val="{00000021-07FD-4EB1-81F8-534B329853A7}"/>
              </c:ext>
            </c:extLst>
          </c:dPt>
          <c:dPt>
            <c:idx val="17"/>
            <c:invertIfNegative val="1"/>
            <c:bubble3D val="0"/>
            <c:spPr>
              <a:solidFill>
                <a:srgbClr val="9A6A00"/>
              </a:solidFill>
            </c:spPr>
            <c:extLst>
              <c:ext xmlns:c16="http://schemas.microsoft.com/office/drawing/2014/chart" uri="{C3380CC4-5D6E-409C-BE32-E72D297353CC}">
                <c16:uniqueId val="{00000023-07FD-4EB1-81F8-534B329853A7}"/>
              </c:ext>
            </c:extLst>
          </c:dPt>
          <c:cat>
            <c:strRef>
              <c:f>Sheet1!$A$2:$A$19</c:f>
              <c:strCache>
                <c:ptCount val="18"/>
                <c:pt idx="0">
                  <c:v>Apr 25</c:v>
                </c:pt>
                <c:pt idx="1">
                  <c:v>May 25</c:v>
                </c:pt>
                <c:pt idx="2">
                  <c:v>Jun 25</c:v>
                </c:pt>
                <c:pt idx="3">
                  <c:v>Jul 25</c:v>
                </c:pt>
                <c:pt idx="4">
                  <c:v>Aug 25</c:v>
                </c:pt>
                <c:pt idx="5">
                  <c:v>Sep 25</c:v>
                </c:pt>
                <c:pt idx="6">
                  <c:v>Oct 25</c:v>
                </c:pt>
                <c:pt idx="7">
                  <c:v>Nov 25</c:v>
                </c:pt>
                <c:pt idx="8">
                  <c:v>Dec 25</c:v>
                </c:pt>
                <c:pt idx="9">
                  <c:v>Jan 26</c:v>
                </c:pt>
                <c:pt idx="10">
                  <c:v>Feb 26</c:v>
                </c:pt>
                <c:pt idx="11">
                  <c:v>Mar 26</c:v>
                </c:pt>
                <c:pt idx="12">
                  <c:v>Apr 26</c:v>
                </c:pt>
                <c:pt idx="13">
                  <c:v>May 26</c:v>
                </c:pt>
                <c:pt idx="14">
                  <c:v>Jun 26</c:v>
                </c:pt>
                <c:pt idx="15">
                  <c:v>Jul 26</c:v>
                </c:pt>
                <c:pt idx="16">
                  <c:v>Aug 26</c:v>
                </c:pt>
                <c:pt idx="17">
                  <c:v>Sep 26</c:v>
                </c:pt>
              </c:strCache>
            </c:strRef>
          </c:cat>
          <c:val>
            <c:numRef>
              <c:f>Sheet1!$B$2:$B$19</c:f>
              <c:numCache>
                <c:formatCode>General</c:formatCode>
                <c:ptCount val="18"/>
                <c:pt idx="0">
                  <c:v>2.5</c:v>
                </c:pt>
                <c:pt idx="1">
                  <c:v>2.7</c:v>
                </c:pt>
                <c:pt idx="2">
                  <c:v>2.9</c:v>
                </c:pt>
                <c:pt idx="3">
                  <c:v>1.7</c:v>
                </c:pt>
                <c:pt idx="4">
                  <c:v>1.8</c:v>
                </c:pt>
                <c:pt idx="5">
                  <c:v>3.8</c:v>
                </c:pt>
                <c:pt idx="6">
                  <c:v>1.2</c:v>
                </c:pt>
                <c:pt idx="7">
                  <c:v>4.7</c:v>
                </c:pt>
                <c:pt idx="8">
                  <c:v>19.600000000000001</c:v>
                </c:pt>
                <c:pt idx="9">
                  <c:v>115.9</c:v>
                </c:pt>
                <c:pt idx="10">
                  <c:v>196.8</c:v>
                </c:pt>
                <c:pt idx="11">
                  <c:v>120.7</c:v>
                </c:pt>
                <c:pt idx="12">
                  <c:v>122</c:v>
                </c:pt>
                <c:pt idx="13">
                  <c:v>100</c:v>
                </c:pt>
                <c:pt idx="14">
                  <c:v>117.4</c:v>
                </c:pt>
                <c:pt idx="15">
                  <c:v>122.8</c:v>
                </c:pt>
                <c:pt idx="16">
                  <c:v>53.2</c:v>
                </c:pt>
                <c:pt idx="17">
                  <c:v>54.9</c:v>
                </c:pt>
              </c:numCache>
            </c:numRef>
          </c:val>
          <c:extLst>
            <c:ext xmlns:c16="http://schemas.microsoft.com/office/drawing/2014/chart" uri="{C3380CC4-5D6E-409C-BE32-E72D297353CC}">
              <c16:uniqueId val="{00000024-07FD-4EB1-81F8-534B329853A7}"/>
            </c:ext>
          </c:extLst>
        </c:ser>
        <c:dLbls>
          <c:showLegendKey val="0"/>
          <c:showVal val="0"/>
          <c:showCatName val="0"/>
          <c:showSerName val="0"/>
          <c:showPercent val="0"/>
          <c:showBubbleSize val="0"/>
        </c:dLbls>
        <c:gapWidth val="4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CE3"/>
            </a:solidFill>
          </a:ln>
        </c:spPr>
        <c:txPr>
          <a:bodyPr/>
          <a:lstStyle/>
          <a:p>
            <a:pPr>
              <a:defRPr sz="1200">
                <a:solidFill>
                  <a:srgbClr val="5A6170"/>
                </a:solidFill>
                <a:latin typeface="Calibri"/>
              </a:defRPr>
            </a:pPr>
            <a:endParaRPr lang="en-US"/>
          </a:p>
        </c:txPr>
        <c:crossAx val="-2113994440"/>
        <c:crosses val="autoZero"/>
        <c:auto val="1"/>
        <c:lblAlgn val="ctr"/>
        <c:lblOffset val="100"/>
        <c:noMultiLvlLbl val="0"/>
      </c:catAx>
      <c:valAx>
        <c:axId val="-2113994440"/>
        <c:scaling>
          <c:orientation val="minMax"/>
        </c:scaling>
        <c:delete val="0"/>
        <c:axPos val="l"/>
        <c:majorGridlines>
          <c:spPr>
            <a:ln>
              <a:solidFill>
                <a:srgbClr val="D9DCE3"/>
              </a:solidFill>
            </a:ln>
          </c:spPr>
        </c:majorGridlines>
        <c:title>
          <c:tx>
            <c:rich>
              <a:bodyPr/>
              <a:lstStyle/>
              <a:p>
                <a:r>
                  <a:rPr lang="en-US" sz="1300" b="0">
                    <a:solidFill>
                      <a:srgbClr val="5A6170"/>
                    </a:solidFill>
                    <a:latin typeface="Calibri"/>
                  </a:rPr>
                  <a:t>₹ lakh of premium on positions entering the delivery window</a:t>
                </a:r>
              </a:p>
            </c:rich>
          </c:tx>
          <c:overlay val="0"/>
        </c:title>
        <c:numFmt formatCode="General" sourceLinked="1"/>
        <c:majorTickMark val="out"/>
        <c:minorTickMark val="none"/>
        <c:tickLblPos val="nextTo"/>
        <c:spPr>
          <a:ln>
            <a:solidFill>
              <a:srgbClr val="D9DCE3"/>
            </a:solidFill>
          </a:ln>
        </c:spPr>
        <c:txPr>
          <a:bodyPr/>
          <a:lstStyle/>
          <a:p>
            <a:pPr>
              <a:defRPr sz="1400">
                <a:solidFill>
                  <a:srgbClr val="5A6170"/>
                </a:solidFill>
                <a:latin typeface="Calibri"/>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Introduce the two of us: one owns data and quant (fetching, decomposition, validation), the other owns product and pitch (UI, chooser, research, deck).</a:t>
            </a: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One gram of gold has five prices on MCX. The chart shows the 8 gram and 1 gram contracts trading above the 10 gram contract in every one of 18 monthly cycles, 79 and 94 basis points on average, even though all three settle to exactly the same price per gram. If you hold to delivery that is roughly 1,200 to 1,400 rupees per 10 grams. If you exit early it costs only the change, 6 to 11 basis points. No trading app shows either number. This maps directly onto the five PS-03 directions on the right.</a:t>
            </a: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Tola explains every price gap and turns it into a decision. Five features: the decomposition, a monitor for contracts that settle to the same price, a walk-forward verdict, the chooser, and an alert log that stays quiet unless a gap beats costs. The panel shows the chooser's logic with our real numbers: for 5 grams to take home, GOLDPETAL delivery beats the coin shop by about 3,000 rupees even after paying the premium. If you only trade, the premium costs you 9 to 16 rupees a gram.</a:t>
            </a:r>
          </a:p>
        </p:txBody>
      </p:sp>
      <p:sp>
        <p:nvSpPr>
          <p:cNvPr id="101" name="Google Shape;101;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This is the working prototype, live at tola-gold.vercel.app. The landing page states the problem with today's rates and has a working chooser. The chooser ranks every contract by what you actually pay per gram and gives the date to exit by. The evidence pages show why prices differ and how today's premium compares with 18 expired cycles. Everything runs in the browser from a validated data snapshot.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Six stages: fetch, store, model, validate, publish, refresh. Everything comes from three public MCX endpoints. The hard part was access: MCX sits behind Akamai, which blocks scripts, so we use a Chrome-grade TLS client and cache every response. One request returns a whole contract's life, so a full backfill is about 260 requests. The site is static, so nothing breaks on stage.</a:t>
            </a:r>
          </a:p>
        </p:txBody>
      </p:sp>
      <p:sp>
        <p:nvSpPr>
          <p:cNvPr id="110" name="Google Shape;110;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Here is why you can trust the chart. We wrote the pass or fail rule down before pulling the history, used four different price marks including VWAP, which ignores when the last trade happened, and resampled whole cycles. Every condition passed, in every cycle, under every sensitivity run. The contracts really do settle to the same price, and our rebuilt settlement prices match MCX's own on all 145 contracts we can check. The walk-forward verdict is now done: scored only on trades it never trained on, holding the premium earns nothing reliable, and trading its swings earned a small edge, mostly in one crisis quarter.</a:t>
            </a:r>
          </a:p>
        </p:txBody>
      </p:sp>
      <p:sp>
        <p:nvSpPr>
          <p:cNvPr id="137" name="Google Shape;137;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We tested whether anyone can collect the premium. To profit from delivery, 8 gram coins would have to cost under 0.27% over spot and 1 gram coins under 1.13%. The cheapest coins we found cost 3.6% and 5.5%, so it paid in none of the 18 cycles. Trading the premium's swings earned a small edge, mostly in one crisis quarter, and a forward test frozen for the finale keeps scoring it. So only a coin maker can collect it, and a trader should simply avoid paying it.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We sized the market ourselves rather than quote an industry number. Positions in the small contracts entering the delivery window carried about 10 crore rupees of premium over the last 12 cycles, up from a few lakh per cycle in mid-2025. Users: retail and HNI traders first, prop desks second, and the exchange and regulator as the fairness angle. Revenue: a free chooser, a paid desk tier, and licensing to brokers. Growth: bullion went from 44 to 57 percent of MCX turnover.</a:t>
            </a:r>
          </a:p>
        </p:txBody>
      </p:sp>
      <p:sp>
        <p:nvSpPr>
          <p:cNvPr id="119" name="Google Shape;11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In Round 2 we built all five milestones: the data layer, the basis anatomy, the convergence monitor, the walk-forward verdict, and the chooser with notices, and shipped them as a live web app. By the finale we will report the forward test, move the refresh to a daily schedule, and extend to silver.</a:t>
            </a:r>
          </a:p>
        </p:txBody>
      </p:sp>
      <p:sp>
        <p:nvSpPr>
          <p:cNvPr id="128" name="Google Shape;128;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Thank you. The repo and the live demo are linked here.</a:t>
            </a:r>
          </a:p>
        </p:txBody>
      </p:sp>
      <p:sp>
        <p:nvSpPr>
          <p:cNvPr id="146" name="Google Shape;14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hyperlink" Target="tola-gold.vercel.app" TargetMode="External"/><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github.com/Mrigank005/Tola" TargetMode="Externa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7" name="Google Shape;87;p13" title="download (2).jpg"/>
          <p:cNvPicPr preferRelativeResize="0"/>
          <p:nvPr/>
        </p:nvPicPr>
        <p:blipFill rotWithShape="1">
          <a:blip r:embed="rId3">
            <a:alphaModFix/>
          </a:blip>
          <a:srcRect l="38928" r="16455"/>
          <a:stretch/>
        </p:blipFill>
        <p:spPr>
          <a:xfrm rot="-5400000">
            <a:off x="7123100" y="-7111200"/>
            <a:ext cx="4088375" cy="18326624"/>
          </a:xfrm>
          <a:prstGeom prst="rect">
            <a:avLst/>
          </a:prstGeom>
          <a:noFill/>
          <a:ln>
            <a:noFill/>
          </a:ln>
        </p:spPr>
      </p:pic>
      <p:pic>
        <p:nvPicPr>
          <p:cNvPr id="88" name="Google Shape;88;p13" title="Group 48097831.png"/>
          <p:cNvPicPr preferRelativeResize="0"/>
          <p:nvPr/>
        </p:nvPicPr>
        <p:blipFill>
          <a:blip r:embed="rId4">
            <a:alphaModFix/>
          </a:blip>
          <a:stretch>
            <a:fillRect/>
          </a:stretch>
        </p:blipFill>
        <p:spPr>
          <a:xfrm>
            <a:off x="318675" y="296224"/>
            <a:ext cx="7240346" cy="791925"/>
          </a:xfrm>
          <a:prstGeom prst="rect">
            <a:avLst/>
          </a:prstGeom>
          <a:noFill/>
          <a:ln>
            <a:noFill/>
          </a:ln>
        </p:spPr>
      </p:pic>
      <p:pic>
        <p:nvPicPr>
          <p:cNvPr id="89" name="Google Shape;89;p13" title="Logo.png"/>
          <p:cNvPicPr preferRelativeResize="0"/>
          <p:nvPr/>
        </p:nvPicPr>
        <p:blipFill>
          <a:blip r:embed="rId5">
            <a:alphaModFix/>
          </a:blip>
          <a:stretch>
            <a:fillRect/>
          </a:stretch>
        </p:blipFill>
        <p:spPr>
          <a:xfrm>
            <a:off x="12520575" y="296231"/>
            <a:ext cx="5599601" cy="791925"/>
          </a:xfrm>
          <a:prstGeom prst="rect">
            <a:avLst/>
          </a:prstGeom>
          <a:noFill/>
          <a:ln>
            <a:noFill/>
          </a:ln>
        </p:spPr>
      </p:pic>
      <p:sp>
        <p:nvSpPr>
          <p:cNvPr id="90" name="Team title"/>
          <p:cNvSpPr txBox="1"/>
          <p:nvPr/>
        </p:nvSpPr>
        <p:spPr>
          <a:xfrm>
            <a:off x="822960" y="4526280"/>
            <a:ext cx="10972800" cy="615553"/>
          </a:xfrm>
          <a:prstGeom prst="rect">
            <a:avLst/>
          </a:prstGeom>
          <a:noFill/>
        </p:spPr>
        <p:txBody>
          <a:bodyPr wrap="square" lIns="0" tIns="0" rIns="0" bIns="0" anchor="t">
            <a:spAutoFit/>
          </a:bodyPr>
          <a:lstStyle/>
          <a:p>
            <a:pPr algn="l"/>
            <a:r>
              <a:rPr sz="4000" b="1" dirty="0">
                <a:solidFill>
                  <a:srgbClr val="000000"/>
                </a:solidFill>
                <a:latin typeface="Montserrat"/>
              </a:rPr>
              <a:t>TEAM  </a:t>
            </a:r>
            <a:r>
              <a:rPr lang="en-US" sz="4000" b="1" dirty="0" err="1">
                <a:solidFill>
                  <a:srgbClr val="9A6A00"/>
                </a:solidFill>
                <a:latin typeface="Montserrat"/>
              </a:rPr>
              <a:t>Numero</a:t>
            </a:r>
            <a:r>
              <a:rPr lang="en-US" sz="4000" b="1" dirty="0">
                <a:solidFill>
                  <a:srgbClr val="9A6A00"/>
                </a:solidFill>
                <a:latin typeface="Montserrat"/>
              </a:rPr>
              <a:t> Uno</a:t>
            </a:r>
            <a:endParaRPr sz="4000" b="1" dirty="0">
              <a:solidFill>
                <a:srgbClr val="9A6A00"/>
              </a:solidFill>
              <a:latin typeface="Montserrat"/>
            </a:endParaRPr>
          </a:p>
        </p:txBody>
      </p:sp>
      <p:sp>
        <p:nvSpPr>
          <p:cNvPr id="91" name="Project line"/>
          <p:cNvSpPr txBox="1"/>
          <p:nvPr/>
        </p:nvSpPr>
        <p:spPr>
          <a:xfrm>
            <a:off x="822960" y="5349240"/>
            <a:ext cx="16642080" cy="457200"/>
          </a:xfrm>
          <a:prstGeom prst="rect">
            <a:avLst/>
          </a:prstGeom>
          <a:noFill/>
        </p:spPr>
        <p:txBody>
          <a:bodyPr wrap="square" lIns="0" tIns="0" rIns="0" bIns="0" anchor="t">
            <a:spAutoFit/>
          </a:bodyPr>
          <a:lstStyle/>
          <a:p>
            <a:pPr algn="l"/>
            <a:r>
              <a:rPr sz="1900" b="1">
                <a:solidFill>
                  <a:srgbClr val="5A6170"/>
                </a:solidFill>
                <a:latin typeface="IBM Plex Sans"/>
              </a:rPr>
              <a:t>Tola: the fair-price desk for MCX gold  ·  Hack in Hills ’26  ·  PS-03 Commodity Derivatives Intelligence  ·  tola-gold.vercel.app</a:t>
            </a:r>
          </a:p>
        </p:txBody>
      </p:sp>
      <p:sp>
        <p:nvSpPr>
          <p:cNvPr id="92" name="Role Data and quant"/>
          <p:cNvSpPr/>
          <p:nvPr/>
        </p:nvSpPr>
        <p:spPr>
          <a:xfrm>
            <a:off x="822960" y="6172200"/>
            <a:ext cx="8183879" cy="324612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1097280" y="6446520"/>
            <a:ext cx="502920" cy="50292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IBM Plex Sans"/>
              </a:rPr>
              <a:t>1</a:t>
            </a:r>
          </a:p>
        </p:txBody>
      </p:sp>
      <p:sp>
        <p:nvSpPr>
          <p:cNvPr id="94" name="TextBox 93"/>
          <p:cNvSpPr txBox="1"/>
          <p:nvPr/>
        </p:nvSpPr>
        <p:spPr>
          <a:xfrm>
            <a:off x="1097280" y="7178040"/>
            <a:ext cx="7635240" cy="338554"/>
          </a:xfrm>
          <a:prstGeom prst="rect">
            <a:avLst/>
          </a:prstGeom>
          <a:noFill/>
        </p:spPr>
        <p:txBody>
          <a:bodyPr wrap="square" lIns="0" tIns="0" rIns="0" bIns="0" anchor="t">
            <a:spAutoFit/>
          </a:bodyPr>
          <a:lstStyle/>
          <a:p>
            <a:pPr algn="l"/>
            <a:r>
              <a:rPr lang="en-US" sz="2200" b="1" dirty="0">
                <a:solidFill>
                  <a:srgbClr val="1D1D1F"/>
                </a:solidFill>
                <a:latin typeface="Montserrat"/>
              </a:rPr>
              <a:t>Mrigank Singh</a:t>
            </a:r>
            <a:endParaRPr sz="2200" b="1" dirty="0">
              <a:solidFill>
                <a:srgbClr val="1D1D1F"/>
              </a:solidFill>
              <a:latin typeface="Montserrat"/>
            </a:endParaRPr>
          </a:p>
        </p:txBody>
      </p:sp>
      <p:sp>
        <p:nvSpPr>
          <p:cNvPr id="95" name="TextBox 94"/>
          <p:cNvSpPr txBox="1"/>
          <p:nvPr/>
        </p:nvSpPr>
        <p:spPr>
          <a:xfrm>
            <a:off x="1097280" y="7726679"/>
            <a:ext cx="7635240" cy="411480"/>
          </a:xfrm>
          <a:prstGeom prst="rect">
            <a:avLst/>
          </a:prstGeom>
          <a:noFill/>
        </p:spPr>
        <p:txBody>
          <a:bodyPr wrap="square" lIns="0" tIns="0" rIns="0" bIns="0" anchor="t">
            <a:spAutoFit/>
          </a:bodyPr>
          <a:lstStyle/>
          <a:p>
            <a:pPr algn="l"/>
            <a:r>
              <a:rPr sz="1800" b="1">
                <a:solidFill>
                  <a:srgbClr val="9A6A00"/>
                </a:solidFill>
                <a:latin typeface="IBM Plex Sans"/>
              </a:rPr>
              <a:t>Data and quant</a:t>
            </a:r>
          </a:p>
        </p:txBody>
      </p:sp>
      <p:sp>
        <p:nvSpPr>
          <p:cNvPr id="96" name="TextBox 95"/>
          <p:cNvSpPr txBox="1"/>
          <p:nvPr/>
        </p:nvSpPr>
        <p:spPr>
          <a:xfrm>
            <a:off x="1097280" y="8183879"/>
            <a:ext cx="7635240" cy="1097280"/>
          </a:xfrm>
          <a:prstGeom prst="rect">
            <a:avLst/>
          </a:prstGeom>
          <a:noFill/>
        </p:spPr>
        <p:txBody>
          <a:bodyPr wrap="square" lIns="0" tIns="0" rIns="0" bIns="0" anchor="t">
            <a:spAutoFit/>
          </a:bodyPr>
          <a:lstStyle/>
          <a:p>
            <a:pPr algn="l"/>
            <a:r>
              <a:rPr sz="1600" b="0">
                <a:solidFill>
                  <a:srgbClr val="5A6170"/>
                </a:solidFill>
                <a:latin typeface="Calibri"/>
              </a:rPr>
              <a:t>MCX fetcher, polled spot, versioned specs; gap decomposition, G0 gate, walk-forward and delivery-leg model</a:t>
            </a:r>
          </a:p>
        </p:txBody>
      </p:sp>
      <p:sp>
        <p:nvSpPr>
          <p:cNvPr id="97" name="Role Product and pitch"/>
          <p:cNvSpPr/>
          <p:nvPr/>
        </p:nvSpPr>
        <p:spPr>
          <a:xfrm>
            <a:off x="9281160" y="6172200"/>
            <a:ext cx="8183879" cy="3246120"/>
          </a:xfrm>
          <a:prstGeom prst="roundRect">
            <a:avLst>
              <a:gd name="adj" fmla="val 6000"/>
            </a:avLst>
          </a:prstGeom>
          <a:solidFill>
            <a:srgbClr val="F6E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val 97"/>
          <p:cNvSpPr/>
          <p:nvPr/>
        </p:nvSpPr>
        <p:spPr>
          <a:xfrm>
            <a:off x="9555480" y="6446520"/>
            <a:ext cx="502920" cy="50292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IBM Plex Sans"/>
              </a:rPr>
              <a:t>2</a:t>
            </a:r>
          </a:p>
        </p:txBody>
      </p:sp>
      <p:sp>
        <p:nvSpPr>
          <p:cNvPr id="99" name="TextBox 98"/>
          <p:cNvSpPr txBox="1"/>
          <p:nvPr/>
        </p:nvSpPr>
        <p:spPr>
          <a:xfrm>
            <a:off x="9555480" y="7178040"/>
            <a:ext cx="7635240" cy="338554"/>
          </a:xfrm>
          <a:prstGeom prst="rect">
            <a:avLst/>
          </a:prstGeom>
          <a:noFill/>
        </p:spPr>
        <p:txBody>
          <a:bodyPr wrap="square" lIns="0" tIns="0" rIns="0" bIns="0" anchor="t">
            <a:spAutoFit/>
          </a:bodyPr>
          <a:lstStyle/>
          <a:p>
            <a:pPr algn="l"/>
            <a:r>
              <a:rPr lang="en-US" sz="2200" b="1" dirty="0">
                <a:solidFill>
                  <a:srgbClr val="1D1D1F"/>
                </a:solidFill>
                <a:latin typeface="Montserrat"/>
              </a:rPr>
              <a:t>Lakshita </a:t>
            </a:r>
            <a:r>
              <a:rPr lang="en-US" sz="2200" b="1" dirty="0" err="1">
                <a:solidFill>
                  <a:srgbClr val="1D1D1F"/>
                </a:solidFill>
                <a:latin typeface="Montserrat"/>
              </a:rPr>
              <a:t>Deopura</a:t>
            </a:r>
            <a:endParaRPr sz="2200" b="1" dirty="0">
              <a:solidFill>
                <a:srgbClr val="1D1D1F"/>
              </a:solidFill>
              <a:latin typeface="Montserrat"/>
            </a:endParaRPr>
          </a:p>
        </p:txBody>
      </p:sp>
      <p:sp>
        <p:nvSpPr>
          <p:cNvPr id="100" name="TextBox 99"/>
          <p:cNvSpPr txBox="1"/>
          <p:nvPr/>
        </p:nvSpPr>
        <p:spPr>
          <a:xfrm>
            <a:off x="9555480" y="7726679"/>
            <a:ext cx="7635240" cy="411480"/>
          </a:xfrm>
          <a:prstGeom prst="rect">
            <a:avLst/>
          </a:prstGeom>
          <a:noFill/>
        </p:spPr>
        <p:txBody>
          <a:bodyPr wrap="square" lIns="0" tIns="0" rIns="0" bIns="0" anchor="t">
            <a:spAutoFit/>
          </a:bodyPr>
          <a:lstStyle/>
          <a:p>
            <a:pPr algn="l"/>
            <a:r>
              <a:rPr sz="1800" b="1">
                <a:solidFill>
                  <a:srgbClr val="9A6A00"/>
                </a:solidFill>
                <a:latin typeface="IBM Plex Sans"/>
              </a:rPr>
              <a:t>Product and pitch</a:t>
            </a:r>
          </a:p>
        </p:txBody>
      </p:sp>
      <p:sp>
        <p:nvSpPr>
          <p:cNvPr id="101" name="TextBox 100"/>
          <p:cNvSpPr txBox="1"/>
          <p:nvPr/>
        </p:nvSpPr>
        <p:spPr>
          <a:xfrm>
            <a:off x="9555480" y="8183879"/>
            <a:ext cx="7635240" cy="1097280"/>
          </a:xfrm>
          <a:prstGeom prst="rect">
            <a:avLst/>
          </a:prstGeom>
          <a:noFill/>
        </p:spPr>
        <p:txBody>
          <a:bodyPr wrap="square" lIns="0" tIns="0" rIns="0" bIns="0" anchor="t">
            <a:spAutoFit/>
          </a:bodyPr>
          <a:lstStyle/>
          <a:p>
            <a:pPr algn="l"/>
            <a:r>
              <a:rPr sz="1600" b="0">
                <a:solidFill>
                  <a:srgbClr val="5A6170"/>
                </a:solidFill>
                <a:latin typeface="Calibri"/>
              </a:rPr>
              <a:t>Product, UI and pitch: the “which contract?” chooser, notice log, design system; market research, deck and demo video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8" name="Google Shape;98;p14"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99" name="Section label"/>
          <p:cNvSpPr txBox="1"/>
          <p:nvPr/>
        </p:nvSpPr>
        <p:spPr>
          <a:xfrm>
            <a:off x="548640" y="1444752"/>
            <a:ext cx="17190720" cy="365760"/>
          </a:xfrm>
          <a:prstGeom prst="rect">
            <a:avLst/>
          </a:prstGeom>
          <a:noFill/>
        </p:spPr>
        <p:txBody>
          <a:bodyPr wrap="square" lIns="0" tIns="0" rIns="0" bIns="0" anchor="t">
            <a:spAutoFit/>
          </a:bodyPr>
          <a:lstStyle/>
          <a:p>
            <a:pPr algn="l"/>
            <a:r>
              <a:rPr sz="1700" b="1">
                <a:solidFill>
                  <a:srgbClr val="9A6A00"/>
                </a:solidFill>
                <a:latin typeface="Montserrat"/>
              </a:rPr>
              <a:t>PROBLEM STATEMENT &amp; THEME</a:t>
            </a:r>
          </a:p>
        </p:txBody>
      </p:sp>
      <p:sp>
        <p:nvSpPr>
          <p:cNvPr id="100" name="Title"/>
          <p:cNvSpPr txBox="1"/>
          <p:nvPr/>
        </p:nvSpPr>
        <p:spPr>
          <a:xfrm>
            <a:off x="548640" y="1847088"/>
            <a:ext cx="17190720" cy="731520"/>
          </a:xfrm>
          <a:prstGeom prst="rect">
            <a:avLst/>
          </a:prstGeom>
          <a:noFill/>
        </p:spPr>
        <p:txBody>
          <a:bodyPr wrap="square" lIns="0" tIns="0" rIns="0" bIns="0" anchor="t">
            <a:spAutoFit/>
          </a:bodyPr>
          <a:lstStyle/>
          <a:p>
            <a:pPr algn="l"/>
            <a:r>
              <a:rPr sz="3600" b="1">
                <a:solidFill>
                  <a:srgbClr val="000000"/>
                </a:solidFill>
                <a:latin typeface="Montserrat"/>
              </a:rPr>
              <a:t>One gram of gold, five prices</a:t>
            </a:r>
          </a:p>
        </p:txBody>
      </p:sp>
      <p:graphicFrame>
        <p:nvGraphicFramePr>
          <p:cNvPr id="101" name="Premium by cycle chart"/>
          <p:cNvGraphicFramePr>
            <a:graphicFrameLocks noGrp="1"/>
          </p:cNvGraphicFramePr>
          <p:nvPr/>
        </p:nvGraphicFramePr>
        <p:xfrm>
          <a:off x="548640" y="2880360"/>
          <a:ext cx="10881360" cy="6537960"/>
        </p:xfrm>
        <a:graphic>
          <a:graphicData uri="http://schemas.openxmlformats.org/drawingml/2006/chart">
            <c:chart xmlns:c="http://schemas.openxmlformats.org/drawingml/2006/chart" xmlns:r="http://schemas.openxmlformats.org/officeDocument/2006/relationships" r:id="rId4"/>
          </a:graphicData>
        </a:graphic>
      </p:graphicFrame>
      <p:cxnSp>
        <p:nvCxnSpPr>
          <p:cNvPr id="102" name="Context line Jan 26"/>
          <p:cNvCxnSpPr/>
          <p:nvPr/>
        </p:nvCxnSpPr>
        <p:spPr>
          <a:xfrm>
            <a:off x="6610464" y="3730294"/>
            <a:ext cx="0" cy="4576572"/>
          </a:xfrm>
          <a:prstGeom prst="line">
            <a:avLst/>
          </a:prstGeom>
          <a:ln w="15875">
            <a:solidFill>
              <a:srgbClr val="5A6170"/>
            </a:solidFill>
            <a:prstDash val="lgDash"/>
          </a:ln>
        </p:spPr>
        <p:style>
          <a:lnRef idx="2">
            <a:schemeClr val="accent1"/>
          </a:lnRef>
          <a:fillRef idx="0">
            <a:schemeClr val="accent1"/>
          </a:fillRef>
          <a:effectRef idx="1">
            <a:schemeClr val="accent1"/>
          </a:effectRef>
          <a:fontRef idx="minor">
            <a:schemeClr val="tx1"/>
          </a:fontRef>
        </p:style>
      </p:cxnSp>
      <p:sp>
        <p:nvSpPr>
          <p:cNvPr id="103" name="Context label Jan 26"/>
          <p:cNvSpPr txBox="1"/>
          <p:nvPr/>
        </p:nvSpPr>
        <p:spPr>
          <a:xfrm>
            <a:off x="3775824" y="3776014"/>
            <a:ext cx="2743200" cy="365760"/>
          </a:xfrm>
          <a:prstGeom prst="rect">
            <a:avLst/>
          </a:prstGeom>
          <a:noFill/>
        </p:spPr>
        <p:txBody>
          <a:bodyPr wrap="square" lIns="0" tIns="0" rIns="0" bIns="0" anchor="t">
            <a:spAutoFit/>
          </a:bodyPr>
          <a:lstStyle/>
          <a:p>
            <a:pPr algn="r"/>
            <a:r>
              <a:rPr sz="1300" b="1">
                <a:solidFill>
                  <a:srgbClr val="5A6170"/>
                </a:solidFill>
                <a:latin typeface="IBM Plex Sans"/>
              </a:rPr>
              <a:t>30 Jan crash</a:t>
            </a:r>
          </a:p>
        </p:txBody>
      </p:sp>
      <p:cxnSp>
        <p:nvCxnSpPr>
          <p:cNvPr id="104" name="Context line May 26"/>
          <p:cNvCxnSpPr/>
          <p:nvPr/>
        </p:nvCxnSpPr>
        <p:spPr>
          <a:xfrm>
            <a:off x="8750465" y="3730294"/>
            <a:ext cx="0" cy="4576572"/>
          </a:xfrm>
          <a:prstGeom prst="line">
            <a:avLst/>
          </a:prstGeom>
          <a:ln w="15875">
            <a:solidFill>
              <a:srgbClr val="5A6170"/>
            </a:solidFill>
            <a:prstDash val="lgDash"/>
          </a:ln>
        </p:spPr>
        <p:style>
          <a:lnRef idx="2">
            <a:schemeClr val="accent1"/>
          </a:lnRef>
          <a:fillRef idx="0">
            <a:schemeClr val="accent1"/>
          </a:fillRef>
          <a:effectRef idx="1">
            <a:schemeClr val="accent1"/>
          </a:effectRef>
          <a:fontRef idx="minor">
            <a:schemeClr val="tx1"/>
          </a:fontRef>
        </p:style>
      </p:cxnSp>
      <p:sp>
        <p:nvSpPr>
          <p:cNvPr id="105" name="Context label May 26"/>
          <p:cNvSpPr txBox="1"/>
          <p:nvPr/>
        </p:nvSpPr>
        <p:spPr>
          <a:xfrm>
            <a:off x="5915825" y="3776014"/>
            <a:ext cx="2743200" cy="365760"/>
          </a:xfrm>
          <a:prstGeom prst="rect">
            <a:avLst/>
          </a:prstGeom>
          <a:noFill/>
        </p:spPr>
        <p:txBody>
          <a:bodyPr wrap="square" lIns="0" tIns="0" rIns="0" bIns="0" anchor="t">
            <a:spAutoFit/>
          </a:bodyPr>
          <a:lstStyle/>
          <a:p>
            <a:pPr algn="r"/>
            <a:r>
              <a:rPr sz="1300" b="1">
                <a:solidFill>
                  <a:srgbClr val="5A6170"/>
                </a:solidFill>
                <a:latin typeface="IBM Plex Sans"/>
              </a:rPr>
              <a:t>Import duty 6→15%</a:t>
            </a:r>
          </a:p>
        </p:txBody>
      </p:sp>
      <p:sp>
        <p:nvSpPr>
          <p:cNvPr id="106" name="Block Problem"/>
          <p:cNvSpPr/>
          <p:nvPr/>
        </p:nvSpPr>
        <p:spPr>
          <a:xfrm>
            <a:off x="11795760" y="2880360"/>
            <a:ext cx="5943600" cy="1965960"/>
          </a:xfrm>
          <a:prstGeom prst="roundRect">
            <a:avLst>
              <a:gd name="adj" fmla="val 6000"/>
            </a:avLst>
          </a:prstGeom>
          <a:solidFill>
            <a:srgbClr val="F6E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12070080" y="3063240"/>
            <a:ext cx="5394960" cy="365760"/>
          </a:xfrm>
          <a:prstGeom prst="rect">
            <a:avLst/>
          </a:prstGeom>
          <a:noFill/>
        </p:spPr>
        <p:txBody>
          <a:bodyPr wrap="square" lIns="0" tIns="0" rIns="0" bIns="0" anchor="t">
            <a:spAutoFit/>
          </a:bodyPr>
          <a:lstStyle/>
          <a:p>
            <a:pPr algn="l"/>
            <a:r>
              <a:rPr sz="1900" b="1">
                <a:solidFill>
                  <a:srgbClr val="9A6A00"/>
                </a:solidFill>
                <a:latin typeface="Montserrat"/>
              </a:rPr>
              <a:t>Problem</a:t>
            </a:r>
          </a:p>
        </p:txBody>
      </p:sp>
      <p:sp>
        <p:nvSpPr>
          <p:cNvPr id="108" name="TextBox 107"/>
          <p:cNvSpPr txBox="1"/>
          <p:nvPr/>
        </p:nvSpPr>
        <p:spPr>
          <a:xfrm>
            <a:off x="12070080" y="3520439"/>
            <a:ext cx="5394960" cy="1234439"/>
          </a:xfrm>
          <a:prstGeom prst="rect">
            <a:avLst/>
          </a:prstGeom>
          <a:noFill/>
        </p:spPr>
        <p:txBody>
          <a:bodyPr wrap="square" lIns="0" tIns="0" rIns="0" bIns="0" anchor="t">
            <a:spAutoFit/>
          </a:bodyPr>
          <a:lstStyle/>
          <a:p>
            <a:pPr algn="l">
              <a:spcAft>
                <a:spcPts val="300"/>
              </a:spcAft>
            </a:pPr>
            <a:r>
              <a:rPr sz="1600" b="1">
                <a:solidFill>
                  <a:srgbClr val="1D1D1F"/>
                </a:solidFill>
                <a:latin typeface="Calibri"/>
              </a:rPr>
              <a:t>GOLDGUINEA +79 bp</a:t>
            </a:r>
            <a:r>
              <a:rPr sz="1600" b="0">
                <a:solidFill>
                  <a:srgbClr val="1D1D1F"/>
                </a:solidFill>
                <a:latin typeface="Calibri"/>
              </a:rPr>
              <a:t> and </a:t>
            </a:r>
            <a:r>
              <a:rPr sz="1600" b="1">
                <a:solidFill>
                  <a:srgbClr val="1D1D1F"/>
                </a:solidFill>
                <a:latin typeface="Calibri"/>
              </a:rPr>
              <a:t>GOLDPETAL +94 bp</a:t>
            </a:r>
            <a:r>
              <a:rPr sz="1600" b="0">
                <a:solidFill>
                  <a:srgbClr val="1D1D1F"/>
                </a:solidFill>
                <a:latin typeface="Calibri"/>
              </a:rPr>
              <a:t> over GOLDTEN, though all three settle to the same price per gram. Every cycle, 18 of 18 (Apr 2025 – Sep 2026).</a:t>
            </a:r>
          </a:p>
        </p:txBody>
      </p:sp>
      <p:sp>
        <p:nvSpPr>
          <p:cNvPr id="109" name="Block Impact"/>
          <p:cNvSpPr/>
          <p:nvPr/>
        </p:nvSpPr>
        <p:spPr>
          <a:xfrm>
            <a:off x="11795760" y="4983479"/>
            <a:ext cx="5943600" cy="169164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12070080" y="5166359"/>
            <a:ext cx="5394960" cy="365760"/>
          </a:xfrm>
          <a:prstGeom prst="rect">
            <a:avLst/>
          </a:prstGeom>
          <a:noFill/>
        </p:spPr>
        <p:txBody>
          <a:bodyPr wrap="square" lIns="0" tIns="0" rIns="0" bIns="0" anchor="t">
            <a:spAutoFit/>
          </a:bodyPr>
          <a:lstStyle/>
          <a:p>
            <a:pPr algn="l"/>
            <a:r>
              <a:rPr sz="1900" b="1">
                <a:solidFill>
                  <a:srgbClr val="9A6A00"/>
                </a:solidFill>
                <a:latin typeface="Montserrat"/>
              </a:rPr>
              <a:t>Impact</a:t>
            </a:r>
          </a:p>
        </p:txBody>
      </p:sp>
      <p:sp>
        <p:nvSpPr>
          <p:cNvPr id="111" name="TextBox 110"/>
          <p:cNvSpPr txBox="1"/>
          <p:nvPr/>
        </p:nvSpPr>
        <p:spPr>
          <a:xfrm>
            <a:off x="12070080" y="5623559"/>
            <a:ext cx="5394960" cy="960120"/>
          </a:xfrm>
          <a:prstGeom prst="rect">
            <a:avLst/>
          </a:prstGeom>
          <a:noFill/>
        </p:spPr>
        <p:txBody>
          <a:bodyPr wrap="square" lIns="0" tIns="0" rIns="0" bIns="0" anchor="t">
            <a:spAutoFit/>
          </a:bodyPr>
          <a:lstStyle/>
          <a:p>
            <a:pPr algn="l">
              <a:spcAft>
                <a:spcPts val="300"/>
              </a:spcAft>
            </a:pPr>
            <a:r>
              <a:rPr sz="1600" b="1">
                <a:solidFill>
                  <a:srgbClr val="1D1D1F"/>
                </a:solidFill>
                <a:latin typeface="Calibri"/>
              </a:rPr>
              <a:t>Hold to delivery: </a:t>
            </a:r>
            <a:r>
              <a:rPr sz="1600" b="0">
                <a:solidFill>
                  <a:srgbClr val="1D1D1F"/>
                </a:solidFill>
                <a:latin typeface="Calibri"/>
              </a:rPr>
              <a:t>≈ ₹1,170–1,390 per 10 g.</a:t>
            </a:r>
          </a:p>
          <a:p>
            <a:pPr algn="l">
              <a:spcAft>
                <a:spcPts val="300"/>
              </a:spcAft>
            </a:pPr>
            <a:r>
              <a:rPr sz="1600" b="1">
                <a:solidFill>
                  <a:srgbClr val="1D1D1F"/>
                </a:solidFill>
                <a:latin typeface="Calibri"/>
              </a:rPr>
              <a:t>Exit early: </a:t>
            </a:r>
            <a:r>
              <a:rPr sz="1600" b="0">
                <a:solidFill>
                  <a:srgbClr val="1D1D1F"/>
                </a:solidFill>
                <a:latin typeface="Calibri"/>
              </a:rPr>
              <a:t>≈ 6–11 bp. No trading app shows either.</a:t>
            </a:r>
          </a:p>
        </p:txBody>
      </p:sp>
      <p:sp>
        <p:nvSpPr>
          <p:cNvPr id="112" name="Block Theme alignment"/>
          <p:cNvSpPr/>
          <p:nvPr/>
        </p:nvSpPr>
        <p:spPr>
          <a:xfrm>
            <a:off x="11795760" y="6812279"/>
            <a:ext cx="5943600" cy="260604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12070080" y="6995159"/>
            <a:ext cx="5394960" cy="365760"/>
          </a:xfrm>
          <a:prstGeom prst="rect">
            <a:avLst/>
          </a:prstGeom>
          <a:noFill/>
        </p:spPr>
        <p:txBody>
          <a:bodyPr wrap="square" lIns="0" tIns="0" rIns="0" bIns="0" anchor="t">
            <a:spAutoFit/>
          </a:bodyPr>
          <a:lstStyle/>
          <a:p>
            <a:pPr algn="l"/>
            <a:r>
              <a:rPr sz="1900" b="1">
                <a:solidFill>
                  <a:srgbClr val="9A6A00"/>
                </a:solidFill>
                <a:latin typeface="Montserrat"/>
              </a:rPr>
              <a:t>Theme alignment</a:t>
            </a:r>
          </a:p>
        </p:txBody>
      </p:sp>
      <p:sp>
        <p:nvSpPr>
          <p:cNvPr id="114" name="TextBox 113"/>
          <p:cNvSpPr txBox="1"/>
          <p:nvPr/>
        </p:nvSpPr>
        <p:spPr>
          <a:xfrm>
            <a:off x="12070080" y="7452359"/>
            <a:ext cx="5394960" cy="1874519"/>
          </a:xfrm>
          <a:prstGeom prst="rect">
            <a:avLst/>
          </a:prstGeom>
          <a:noFill/>
        </p:spPr>
        <p:txBody>
          <a:bodyPr wrap="square" lIns="0" tIns="0" rIns="0" bIns="0" anchor="t">
            <a:spAutoFit/>
          </a:bodyPr>
          <a:lstStyle/>
          <a:p>
            <a:pPr algn="l">
              <a:spcAft>
                <a:spcPts val="300"/>
              </a:spcAft>
            </a:pPr>
            <a:r>
              <a:rPr sz="1600" b="1">
                <a:solidFill>
                  <a:srgbClr val="1D1D1F"/>
                </a:solidFill>
                <a:latin typeface="Calibri"/>
              </a:rPr>
              <a:t>Relative value · </a:t>
            </a:r>
            <a:r>
              <a:rPr sz="1600" b="0">
                <a:solidFill>
                  <a:srgbClr val="1D1D1F"/>
                </a:solidFill>
                <a:latin typeface="Calibri"/>
              </a:rPr>
              <a:t>gaps decomposed per gram</a:t>
            </a:r>
          </a:p>
          <a:p>
            <a:pPr algn="l">
              <a:spcAft>
                <a:spcPts val="300"/>
              </a:spcAft>
            </a:pPr>
            <a:r>
              <a:rPr sz="1600" b="1">
                <a:solidFill>
                  <a:srgbClr val="1D1D1F"/>
                </a:solidFill>
                <a:latin typeface="Calibri"/>
              </a:rPr>
              <a:t>Carry · </a:t>
            </a:r>
            <a:r>
              <a:rPr sz="1600" b="0">
                <a:solidFill>
                  <a:srgbClr val="1D1D1F"/>
                </a:solidFill>
                <a:latin typeface="Calibri"/>
              </a:rPr>
              <a:t>implied from each contract’s curve</a:t>
            </a:r>
          </a:p>
          <a:p>
            <a:pPr algn="l">
              <a:spcAft>
                <a:spcPts val="300"/>
              </a:spcAft>
            </a:pPr>
            <a:r>
              <a:rPr sz="1600" b="1">
                <a:solidFill>
                  <a:srgbClr val="1D1D1F"/>
                </a:solidFill>
                <a:latin typeface="Calibri"/>
              </a:rPr>
              <a:t>Walk-forward · </a:t>
            </a:r>
            <a:r>
              <a:rPr sz="1600" b="0">
                <a:solidFill>
                  <a:srgbClr val="1D1D1F"/>
                </a:solidFill>
                <a:latin typeface="Calibri"/>
              </a:rPr>
              <a:t>pre-registered G0, then M4</a:t>
            </a:r>
          </a:p>
          <a:p>
            <a:pPr algn="l">
              <a:spcAft>
                <a:spcPts val="300"/>
              </a:spcAft>
            </a:pPr>
            <a:r>
              <a:rPr sz="1600" b="1">
                <a:solidFill>
                  <a:srgbClr val="1D1D1F"/>
                </a:solidFill>
                <a:latin typeface="Calibri"/>
              </a:rPr>
              <a:t>Trader intelligence · </a:t>
            </a:r>
            <a:r>
              <a:rPr sz="1600" b="0">
                <a:solidFill>
                  <a:srgbClr val="1D1D1F"/>
                </a:solidFill>
                <a:latin typeface="Calibri"/>
              </a:rPr>
              <a:t>chooser, quiet alert log</a:t>
            </a:r>
          </a:p>
          <a:p>
            <a:pPr algn="l">
              <a:spcAft>
                <a:spcPts val="300"/>
              </a:spcAft>
            </a:pPr>
            <a:r>
              <a:rPr sz="1600" b="1">
                <a:solidFill>
                  <a:srgbClr val="1D1D1F"/>
                </a:solidFill>
                <a:latin typeface="Calibri"/>
              </a:rPr>
              <a:t>Lifecycle · </a:t>
            </a:r>
            <a:r>
              <a:rPr sz="1600" b="0">
                <a:solidFill>
                  <a:srgbClr val="1D1D1F"/>
                </a:solidFill>
                <a:latin typeface="Calibri"/>
              </a:rPr>
              <a:t>tender windows, versioned specs</a:t>
            </a:r>
          </a:p>
        </p:txBody>
      </p:sp>
      <p:sp>
        <p:nvSpPr>
          <p:cNvPr id="115" name="Source note"/>
          <p:cNvSpPr txBox="1"/>
          <p:nvPr/>
        </p:nvSpPr>
        <p:spPr>
          <a:xfrm>
            <a:off x="548640" y="9692640"/>
            <a:ext cx="17190720" cy="365760"/>
          </a:xfrm>
          <a:prstGeom prst="rect">
            <a:avLst/>
          </a:prstGeom>
          <a:noFill/>
        </p:spPr>
        <p:txBody>
          <a:bodyPr wrap="square" lIns="0" tIns="0" rIns="0" bIns="0" anchor="t">
            <a:spAutoFit/>
          </a:bodyPr>
          <a:lstStyle/>
          <a:p>
            <a:pPr algn="l"/>
            <a:r>
              <a:rPr sz="1200" b="0">
                <a:solidFill>
                  <a:srgbClr val="5A6170"/>
                </a:solidFill>
                <a:latin typeface="Calibri"/>
              </a:rPr>
              <a:t>Source: MCX bhavcopy + polled spot (our pipeline), Apr 2025 – Sep 2026 expiries; pre-tender days, ≥ ₹1 Cr per leg. Settlement price per gram identical for GOLDTEN and GOLDGUINEA in 18/18 cycles. Dashed lines: context, not cause. ₹ at ≈ ₹14,800/g.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pic>
        <p:nvPicPr>
          <p:cNvPr id="107" name="Google Shape;107;p15"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108" name="Section label"/>
          <p:cNvSpPr txBox="1"/>
          <p:nvPr/>
        </p:nvSpPr>
        <p:spPr>
          <a:xfrm>
            <a:off x="548640" y="1444752"/>
            <a:ext cx="17190720" cy="365760"/>
          </a:xfrm>
          <a:prstGeom prst="rect">
            <a:avLst/>
          </a:prstGeom>
          <a:noFill/>
        </p:spPr>
        <p:txBody>
          <a:bodyPr wrap="square" lIns="0" tIns="0" rIns="0" bIns="0" anchor="t">
            <a:spAutoFit/>
          </a:bodyPr>
          <a:lstStyle/>
          <a:p>
            <a:pPr algn="l"/>
            <a:r>
              <a:rPr sz="1700" b="1">
                <a:solidFill>
                  <a:srgbClr val="9A6A00"/>
                </a:solidFill>
                <a:latin typeface="Montserrat"/>
              </a:rPr>
              <a:t>SOLUTION</a:t>
            </a:r>
          </a:p>
        </p:txBody>
      </p:sp>
      <p:sp>
        <p:nvSpPr>
          <p:cNvPr id="109" name="Title"/>
          <p:cNvSpPr txBox="1"/>
          <p:nvPr/>
        </p:nvSpPr>
        <p:spPr>
          <a:xfrm>
            <a:off x="548640" y="1847088"/>
            <a:ext cx="17190720" cy="731520"/>
          </a:xfrm>
          <a:prstGeom prst="rect">
            <a:avLst/>
          </a:prstGeom>
          <a:noFill/>
        </p:spPr>
        <p:txBody>
          <a:bodyPr wrap="square" lIns="0" tIns="0" rIns="0" bIns="0" anchor="t">
            <a:spAutoFit/>
          </a:bodyPr>
          <a:lstStyle/>
          <a:p>
            <a:pPr algn="l"/>
            <a:r>
              <a:rPr sz="3600" b="1">
                <a:solidFill>
                  <a:srgbClr val="000000"/>
                </a:solidFill>
                <a:latin typeface="Montserrat"/>
              </a:rPr>
              <a:t>Every gap explained, then a decision</a:t>
            </a:r>
          </a:p>
        </p:txBody>
      </p:sp>
      <p:sp>
        <p:nvSpPr>
          <p:cNvPr id="110" name="TextBox 109"/>
          <p:cNvSpPr txBox="1"/>
          <p:nvPr/>
        </p:nvSpPr>
        <p:spPr>
          <a:xfrm>
            <a:off x="548640" y="2880360"/>
            <a:ext cx="7680960" cy="1188720"/>
          </a:xfrm>
          <a:prstGeom prst="rect">
            <a:avLst/>
          </a:prstGeom>
          <a:noFill/>
        </p:spPr>
        <p:txBody>
          <a:bodyPr wrap="square" lIns="0" tIns="0" rIns="0" bIns="0" anchor="t">
            <a:spAutoFit/>
          </a:bodyPr>
          <a:lstStyle/>
          <a:p>
            <a:pPr algn="l"/>
            <a:r>
              <a:rPr sz="1800" b="0">
                <a:solidFill>
                  <a:srgbClr val="1D1D1F"/>
                </a:solidFill>
                <a:latin typeface="Calibri"/>
              </a:rPr>
              <a:t>Tola splits each price gap into unit, carry, settlement reference, delivery terms and residual, measured against the exchange’s own polled spot price.</a:t>
            </a:r>
          </a:p>
        </p:txBody>
      </p:sp>
      <p:sp>
        <p:nvSpPr>
          <p:cNvPr id="111" name="Oval 110"/>
          <p:cNvSpPr/>
          <p:nvPr/>
        </p:nvSpPr>
        <p:spPr>
          <a:xfrm>
            <a:off x="548640" y="4306824"/>
            <a:ext cx="329184" cy="329184"/>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1097280" y="4251960"/>
            <a:ext cx="7132320" cy="685800"/>
          </a:xfrm>
          <a:prstGeom prst="rect">
            <a:avLst/>
          </a:prstGeom>
          <a:noFill/>
        </p:spPr>
        <p:txBody>
          <a:bodyPr wrap="square" lIns="0" tIns="0" rIns="0" bIns="0" anchor="t">
            <a:spAutoFit/>
          </a:bodyPr>
          <a:lstStyle/>
          <a:p>
            <a:pPr algn="l"/>
            <a:r>
              <a:rPr sz="1700" b="1">
                <a:solidFill>
                  <a:srgbClr val="1D1D1F"/>
                </a:solidFill>
                <a:latin typeface="IBM Plex Sans"/>
              </a:rPr>
              <a:t>Basis anatomy</a:t>
            </a:r>
            <a:r>
              <a:rPr sz="1700" b="0">
                <a:solidFill>
                  <a:srgbClr val="5A6170"/>
                </a:solidFill>
                <a:latin typeface="Calibri"/>
              </a:rPr>
              <a:t>  every contract, every day: timing, carry, reference, premium</a:t>
            </a:r>
          </a:p>
        </p:txBody>
      </p:sp>
      <p:sp>
        <p:nvSpPr>
          <p:cNvPr id="113" name="Oval 112"/>
          <p:cNvSpPr/>
          <p:nvPr/>
        </p:nvSpPr>
        <p:spPr>
          <a:xfrm>
            <a:off x="548640" y="5093208"/>
            <a:ext cx="329184" cy="329184"/>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1097280" y="5038344"/>
            <a:ext cx="7132320" cy="685800"/>
          </a:xfrm>
          <a:prstGeom prst="rect">
            <a:avLst/>
          </a:prstGeom>
          <a:noFill/>
        </p:spPr>
        <p:txBody>
          <a:bodyPr wrap="square" lIns="0" tIns="0" rIns="0" bIns="0" anchor="t">
            <a:spAutoFit/>
          </a:bodyPr>
          <a:lstStyle/>
          <a:p>
            <a:pPr algn="l"/>
            <a:r>
              <a:rPr sz="1700" b="1">
                <a:solidFill>
                  <a:srgbClr val="1D1D1F"/>
                </a:solidFill>
                <a:latin typeface="IBM Plex Sans"/>
              </a:rPr>
              <a:t>Convergence monitor</a:t>
            </a:r>
            <a:r>
              <a:rPr sz="1700" b="0">
                <a:solidFill>
                  <a:srgbClr val="5A6170"/>
                </a:solidFill>
                <a:latin typeface="Calibri"/>
              </a:rPr>
              <a:t>  the premium today against 18 expired cycles</a:t>
            </a:r>
          </a:p>
        </p:txBody>
      </p:sp>
      <p:sp>
        <p:nvSpPr>
          <p:cNvPr id="115" name="Oval 114"/>
          <p:cNvSpPr/>
          <p:nvPr/>
        </p:nvSpPr>
        <p:spPr>
          <a:xfrm>
            <a:off x="548640" y="5879592"/>
            <a:ext cx="329184" cy="329184"/>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1097280" y="5824728"/>
            <a:ext cx="7132320" cy="685800"/>
          </a:xfrm>
          <a:prstGeom prst="rect">
            <a:avLst/>
          </a:prstGeom>
          <a:noFill/>
        </p:spPr>
        <p:txBody>
          <a:bodyPr wrap="square" lIns="0" tIns="0" rIns="0" bIns="0" anchor="t">
            <a:spAutoFit/>
          </a:bodyPr>
          <a:lstStyle/>
          <a:p>
            <a:pPr algn="l"/>
            <a:r>
              <a:rPr sz="1700" b="1">
                <a:solidFill>
                  <a:srgbClr val="1D1D1F"/>
                </a:solidFill>
                <a:latin typeface="IBM Plex Sans"/>
              </a:rPr>
              <a:t>Walk-forward verdict</a:t>
            </a:r>
            <a:r>
              <a:rPr sz="1700" b="0">
                <a:solidFill>
                  <a:srgbClr val="5A6170"/>
                </a:solidFill>
                <a:latin typeface="Calibri"/>
              </a:rPr>
              <a:t>  including the delivery leg</a:t>
            </a:r>
          </a:p>
        </p:txBody>
      </p:sp>
      <p:sp>
        <p:nvSpPr>
          <p:cNvPr id="117" name="Oval 116"/>
          <p:cNvSpPr/>
          <p:nvPr/>
        </p:nvSpPr>
        <p:spPr>
          <a:xfrm>
            <a:off x="548640" y="6665976"/>
            <a:ext cx="329184" cy="329184"/>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1097280" y="6611112"/>
            <a:ext cx="7132320" cy="685800"/>
          </a:xfrm>
          <a:prstGeom prst="rect">
            <a:avLst/>
          </a:prstGeom>
          <a:noFill/>
        </p:spPr>
        <p:txBody>
          <a:bodyPr wrap="square" lIns="0" tIns="0" rIns="0" bIns="0" anchor="t">
            <a:spAutoFit/>
          </a:bodyPr>
          <a:lstStyle/>
          <a:p>
            <a:pPr algn="l"/>
            <a:r>
              <a:rPr sz="1700" b="1">
                <a:solidFill>
                  <a:srgbClr val="1D1D1F"/>
                </a:solidFill>
                <a:latin typeface="IBM Plex Sans"/>
              </a:rPr>
              <a:t>“Which contract?” chooser</a:t>
            </a:r>
            <a:r>
              <a:rPr sz="1700" b="0">
                <a:solidFill>
                  <a:srgbClr val="5A6170"/>
                </a:solidFill>
                <a:latin typeface="Calibri"/>
              </a:rPr>
              <a:t>  grams, holding period, exit or deliver</a:t>
            </a:r>
          </a:p>
        </p:txBody>
      </p:sp>
      <p:sp>
        <p:nvSpPr>
          <p:cNvPr id="119" name="Oval 118"/>
          <p:cNvSpPr/>
          <p:nvPr/>
        </p:nvSpPr>
        <p:spPr>
          <a:xfrm>
            <a:off x="548640" y="7452360"/>
            <a:ext cx="329184" cy="329184"/>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1097280" y="7397496"/>
            <a:ext cx="7132320" cy="685800"/>
          </a:xfrm>
          <a:prstGeom prst="rect">
            <a:avLst/>
          </a:prstGeom>
          <a:noFill/>
        </p:spPr>
        <p:txBody>
          <a:bodyPr wrap="square" lIns="0" tIns="0" rIns="0" bIns="0" anchor="t">
            <a:spAutoFit/>
          </a:bodyPr>
          <a:lstStyle/>
          <a:p>
            <a:pPr algn="l"/>
            <a:r>
              <a:rPr sz="1700" b="1">
                <a:solidFill>
                  <a:srgbClr val="1D1D1F"/>
                </a:solidFill>
                <a:latin typeface="IBM Plex Sans"/>
              </a:rPr>
              <a:t>Quiet notice log</a:t>
            </a:r>
            <a:r>
              <a:rPr sz="1700" b="0">
                <a:solidFill>
                  <a:srgbClr val="5A6170"/>
                </a:solidFill>
                <a:latin typeface="Calibri"/>
              </a:rPr>
              <a:t>  speaks only when a condition starts</a:t>
            </a:r>
          </a:p>
        </p:txBody>
      </p:sp>
      <p:sp>
        <p:nvSpPr>
          <p:cNvPr id="121" name="Unique value"/>
          <p:cNvSpPr/>
          <p:nvPr/>
        </p:nvSpPr>
        <p:spPr>
          <a:xfrm>
            <a:off x="548640" y="8366760"/>
            <a:ext cx="7680960" cy="1097280"/>
          </a:xfrm>
          <a:prstGeom prst="roundRect">
            <a:avLst>
              <a:gd name="adj" fmla="val 6000"/>
            </a:avLst>
          </a:prstGeom>
          <a:solidFill>
            <a:srgbClr val="F6E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822960" y="8503920"/>
            <a:ext cx="7132320" cy="868680"/>
          </a:xfrm>
          <a:prstGeom prst="rect">
            <a:avLst/>
          </a:prstGeom>
          <a:noFill/>
        </p:spPr>
        <p:txBody>
          <a:bodyPr wrap="square" lIns="0" tIns="0" rIns="0" bIns="0" anchor="t">
            <a:spAutoFit/>
          </a:bodyPr>
          <a:lstStyle/>
          <a:p>
            <a:pPr algn="l"/>
            <a:r>
              <a:rPr sz="1600" b="1">
                <a:solidFill>
                  <a:srgbClr val="9A6A00"/>
                </a:solidFill>
                <a:latin typeface="IBM Plex Sans"/>
              </a:rPr>
              <a:t>Unique value  </a:t>
            </a:r>
            <a:r>
              <a:rPr sz="1600" b="0">
                <a:solidFill>
                  <a:srgbClr val="1D1D1F"/>
                </a:solidFill>
                <a:latin typeface="Calibri"/>
              </a:rPr>
              <a:t>The first PS03 build on the settlement reference, with measured costs and a named user.</a:t>
            </a:r>
          </a:p>
        </p:txBody>
      </p:sp>
      <p:sp>
        <p:nvSpPr>
          <p:cNvPr id="123" name="Chooser panel"/>
          <p:cNvSpPr/>
          <p:nvPr/>
        </p:nvSpPr>
        <p:spPr>
          <a:xfrm>
            <a:off x="8686800" y="2880360"/>
            <a:ext cx="9052560" cy="6583680"/>
          </a:xfrm>
          <a:prstGeom prst="roundRect">
            <a:avLst>
              <a:gd name="adj" fmla="val 3000"/>
            </a:avLst>
          </a:prstGeom>
          <a:solidFill>
            <a:srgbClr val="FFFFFF"/>
          </a:solidFill>
          <a:ln w="19050">
            <a:solidFill>
              <a:srgbClr val="D9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9052560" y="3154679"/>
            <a:ext cx="8321040" cy="411480"/>
          </a:xfrm>
          <a:prstGeom prst="rect">
            <a:avLst/>
          </a:prstGeom>
          <a:noFill/>
        </p:spPr>
        <p:txBody>
          <a:bodyPr wrap="square" lIns="0" tIns="0" rIns="0" bIns="0" anchor="t">
            <a:spAutoFit/>
          </a:bodyPr>
          <a:lstStyle/>
          <a:p>
            <a:pPr algn="l"/>
            <a:r>
              <a:rPr sz="2200" b="1">
                <a:solidFill>
                  <a:srgbClr val="1D1D1F"/>
                </a:solidFill>
                <a:latin typeface="Montserrat"/>
              </a:rPr>
              <a:t>Which contract should I hold?</a:t>
            </a:r>
          </a:p>
        </p:txBody>
      </p:sp>
      <p:sp>
        <p:nvSpPr>
          <p:cNvPr id="125" name="Input Quantity"/>
          <p:cNvSpPr/>
          <p:nvPr/>
        </p:nvSpPr>
        <p:spPr>
          <a:xfrm>
            <a:off x="9052560" y="3749039"/>
            <a:ext cx="2606040" cy="777240"/>
          </a:xfrm>
          <a:prstGeom prst="roundRect">
            <a:avLst>
              <a:gd name="adj" fmla="val 12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9235440" y="3813048"/>
            <a:ext cx="2286000" cy="685800"/>
          </a:xfrm>
          <a:prstGeom prst="rect">
            <a:avLst/>
          </a:prstGeom>
          <a:noFill/>
        </p:spPr>
        <p:txBody>
          <a:bodyPr wrap="square" lIns="0" tIns="0" rIns="0" bIns="0" anchor="t">
            <a:spAutoFit/>
          </a:bodyPr>
          <a:lstStyle/>
          <a:p>
            <a:pPr algn="l"/>
            <a:r>
              <a:rPr sz="1300" b="0">
                <a:solidFill>
                  <a:srgbClr val="5A6170"/>
                </a:solidFill>
                <a:latin typeface="IBM Plex Sans"/>
              </a:rPr>
              <a:t>Quantity</a:t>
            </a:r>
          </a:p>
          <a:p>
            <a:pPr algn="l"/>
            <a:r>
              <a:rPr sz="1600" b="1">
                <a:solidFill>
                  <a:srgbClr val="1D1D1F"/>
                </a:solidFill>
                <a:latin typeface="IBM Plex Sans"/>
              </a:rPr>
              <a:t>5 g</a:t>
            </a:r>
          </a:p>
        </p:txBody>
      </p:sp>
      <p:sp>
        <p:nvSpPr>
          <p:cNvPr id="127" name="Input Holding"/>
          <p:cNvSpPr/>
          <p:nvPr/>
        </p:nvSpPr>
        <p:spPr>
          <a:xfrm>
            <a:off x="11841480" y="3749039"/>
            <a:ext cx="2606040" cy="777240"/>
          </a:xfrm>
          <a:prstGeom prst="roundRect">
            <a:avLst>
              <a:gd name="adj" fmla="val 12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12024359" y="3813048"/>
            <a:ext cx="2286000" cy="685800"/>
          </a:xfrm>
          <a:prstGeom prst="rect">
            <a:avLst/>
          </a:prstGeom>
          <a:noFill/>
        </p:spPr>
        <p:txBody>
          <a:bodyPr wrap="square" lIns="0" tIns="0" rIns="0" bIns="0" anchor="t">
            <a:spAutoFit/>
          </a:bodyPr>
          <a:lstStyle/>
          <a:p>
            <a:pPr algn="l"/>
            <a:r>
              <a:rPr sz="1300" b="0">
                <a:solidFill>
                  <a:srgbClr val="5A6170"/>
                </a:solidFill>
                <a:latin typeface="IBM Plex Sans"/>
              </a:rPr>
              <a:t>Holding</a:t>
            </a:r>
          </a:p>
          <a:p>
            <a:pPr algn="l"/>
            <a:r>
              <a:rPr sz="1600" b="1">
                <a:solidFill>
                  <a:srgbClr val="1D1D1F"/>
                </a:solidFill>
                <a:latin typeface="IBM Plex Sans"/>
              </a:rPr>
              <a:t>to delivery</a:t>
            </a:r>
          </a:p>
        </p:txBody>
      </p:sp>
      <p:sp>
        <p:nvSpPr>
          <p:cNvPr id="129" name="Input Broker"/>
          <p:cNvSpPr/>
          <p:nvPr/>
        </p:nvSpPr>
        <p:spPr>
          <a:xfrm>
            <a:off x="14630400" y="3749039"/>
            <a:ext cx="2606040" cy="777240"/>
          </a:xfrm>
          <a:prstGeom prst="roundRect">
            <a:avLst>
              <a:gd name="adj" fmla="val 12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14813280" y="3813048"/>
            <a:ext cx="2286000" cy="685800"/>
          </a:xfrm>
          <a:prstGeom prst="rect">
            <a:avLst/>
          </a:prstGeom>
          <a:noFill/>
        </p:spPr>
        <p:txBody>
          <a:bodyPr wrap="square" lIns="0" tIns="0" rIns="0" bIns="0" anchor="t">
            <a:spAutoFit/>
          </a:bodyPr>
          <a:lstStyle/>
          <a:p>
            <a:pPr algn="l"/>
            <a:r>
              <a:rPr sz="1300" b="0">
                <a:solidFill>
                  <a:srgbClr val="5A6170"/>
                </a:solidFill>
                <a:latin typeface="IBM Plex Sans"/>
              </a:rPr>
              <a:t>Broker</a:t>
            </a:r>
          </a:p>
          <a:p>
            <a:pPr algn="l"/>
            <a:r>
              <a:rPr sz="1600" b="1">
                <a:solidFill>
                  <a:srgbClr val="1D1D1F"/>
                </a:solidFill>
                <a:latin typeface="IBM Plex Sans"/>
              </a:rPr>
              <a:t>Zerodha rates</a:t>
            </a:r>
          </a:p>
        </p:txBody>
      </p:sp>
      <p:sp>
        <p:nvSpPr>
          <p:cNvPr id="131" name="Option GOLDPETAL × 5 lots"/>
          <p:cNvSpPr/>
          <p:nvPr/>
        </p:nvSpPr>
        <p:spPr>
          <a:xfrm>
            <a:off x="9052560" y="4892040"/>
            <a:ext cx="8321040" cy="822960"/>
          </a:xfrm>
          <a:prstGeom prst="roundRect">
            <a:avLst>
              <a:gd name="adj" fmla="val 10000"/>
            </a:avLst>
          </a:prstGeom>
          <a:solidFill>
            <a:srgbClr val="F6E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9326880" y="5001768"/>
            <a:ext cx="3291840" cy="640080"/>
          </a:xfrm>
          <a:prstGeom prst="rect">
            <a:avLst/>
          </a:prstGeom>
          <a:noFill/>
        </p:spPr>
        <p:txBody>
          <a:bodyPr wrap="square" lIns="0" tIns="0" rIns="0" bIns="0" anchor="ctr">
            <a:spAutoFit/>
          </a:bodyPr>
          <a:lstStyle/>
          <a:p>
            <a:pPr algn="l"/>
            <a:r>
              <a:rPr sz="1700" b="1">
                <a:solidFill>
                  <a:srgbClr val="1D1D1F"/>
                </a:solidFill>
                <a:latin typeface="IBM Plex Sans"/>
              </a:rPr>
              <a:t>GOLDPETAL × 5 lots</a:t>
            </a:r>
          </a:p>
        </p:txBody>
      </p:sp>
      <p:sp>
        <p:nvSpPr>
          <p:cNvPr id="133" name="TextBox 132"/>
          <p:cNvSpPr txBox="1"/>
          <p:nvPr/>
        </p:nvSpPr>
        <p:spPr>
          <a:xfrm>
            <a:off x="12527280" y="5001768"/>
            <a:ext cx="2103120" cy="640080"/>
          </a:xfrm>
          <a:prstGeom prst="rect">
            <a:avLst/>
          </a:prstGeom>
          <a:noFill/>
        </p:spPr>
        <p:txBody>
          <a:bodyPr wrap="square" lIns="0" tIns="0" rIns="0" bIns="0" anchor="ctr">
            <a:spAutoFit/>
          </a:bodyPr>
          <a:lstStyle/>
          <a:p>
            <a:pPr algn="l"/>
            <a:r>
              <a:rPr sz="2000" b="1">
                <a:solidFill>
                  <a:srgbClr val="1D1D1F"/>
                </a:solidFill>
                <a:latin typeface="Montserrat"/>
              </a:rPr>
              <a:t>₹77,250</a:t>
            </a:r>
          </a:p>
        </p:txBody>
      </p:sp>
      <p:sp>
        <p:nvSpPr>
          <p:cNvPr id="134" name="TextBox 133"/>
          <p:cNvSpPr txBox="1"/>
          <p:nvPr/>
        </p:nvSpPr>
        <p:spPr>
          <a:xfrm>
            <a:off x="14630400" y="5001768"/>
            <a:ext cx="2651760" cy="640080"/>
          </a:xfrm>
          <a:prstGeom prst="rect">
            <a:avLst/>
          </a:prstGeom>
          <a:noFill/>
        </p:spPr>
        <p:txBody>
          <a:bodyPr wrap="square" lIns="0" tIns="0" rIns="0" bIns="0" anchor="ctr">
            <a:spAutoFit/>
          </a:bodyPr>
          <a:lstStyle/>
          <a:p>
            <a:pPr algn="l"/>
            <a:r>
              <a:rPr sz="1300" b="0">
                <a:solidFill>
                  <a:srgbClr val="5A6170"/>
                </a:solidFill>
                <a:latin typeface="Calibri"/>
              </a:rPr>
              <a:t>Best: 1 g bars/coins, incl. premium + making charge</a:t>
            </a:r>
          </a:p>
        </p:txBody>
      </p:sp>
      <p:sp>
        <p:nvSpPr>
          <p:cNvPr id="135" name="Option Retail 1 g coins × 5"/>
          <p:cNvSpPr/>
          <p:nvPr/>
        </p:nvSpPr>
        <p:spPr>
          <a:xfrm>
            <a:off x="9052560" y="5852159"/>
            <a:ext cx="8321040" cy="822960"/>
          </a:xfrm>
          <a:prstGeom prst="roundRect">
            <a:avLst>
              <a:gd name="adj" fmla="val 10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9326880" y="5961888"/>
            <a:ext cx="3291840" cy="640080"/>
          </a:xfrm>
          <a:prstGeom prst="rect">
            <a:avLst/>
          </a:prstGeom>
          <a:noFill/>
        </p:spPr>
        <p:txBody>
          <a:bodyPr wrap="square" lIns="0" tIns="0" rIns="0" bIns="0" anchor="ctr">
            <a:spAutoFit/>
          </a:bodyPr>
          <a:lstStyle/>
          <a:p>
            <a:pPr algn="l"/>
            <a:r>
              <a:rPr sz="1700" b="1">
                <a:solidFill>
                  <a:srgbClr val="1D1D1F"/>
                </a:solidFill>
                <a:latin typeface="IBM Plex Sans"/>
              </a:rPr>
              <a:t>Retail 1 g coins × 5</a:t>
            </a:r>
          </a:p>
        </p:txBody>
      </p:sp>
      <p:sp>
        <p:nvSpPr>
          <p:cNvPr id="137" name="TextBox 136"/>
          <p:cNvSpPr txBox="1"/>
          <p:nvPr/>
        </p:nvSpPr>
        <p:spPr>
          <a:xfrm>
            <a:off x="12527280" y="5961888"/>
            <a:ext cx="2103120" cy="640080"/>
          </a:xfrm>
          <a:prstGeom prst="rect">
            <a:avLst/>
          </a:prstGeom>
          <a:noFill/>
        </p:spPr>
        <p:txBody>
          <a:bodyPr wrap="square" lIns="0" tIns="0" rIns="0" bIns="0" anchor="ctr">
            <a:spAutoFit/>
          </a:bodyPr>
          <a:lstStyle/>
          <a:p>
            <a:pPr algn="l"/>
            <a:r>
              <a:rPr sz="2000" b="1">
                <a:solidFill>
                  <a:srgbClr val="1D1D1F"/>
                </a:solidFill>
                <a:latin typeface="Montserrat"/>
              </a:rPr>
              <a:t>₹80,300</a:t>
            </a:r>
          </a:p>
        </p:txBody>
      </p:sp>
      <p:sp>
        <p:nvSpPr>
          <p:cNvPr id="138" name="TextBox 137"/>
          <p:cNvSpPr txBox="1"/>
          <p:nvPr/>
        </p:nvSpPr>
        <p:spPr>
          <a:xfrm>
            <a:off x="14630400" y="5961888"/>
            <a:ext cx="2651760" cy="640080"/>
          </a:xfrm>
          <a:prstGeom prst="rect">
            <a:avLst/>
          </a:prstGeom>
          <a:noFill/>
        </p:spPr>
        <p:txBody>
          <a:bodyPr wrap="square" lIns="0" tIns="0" rIns="0" bIns="0" anchor="ctr">
            <a:spAutoFit/>
          </a:bodyPr>
          <a:lstStyle/>
          <a:p>
            <a:pPr algn="l"/>
            <a:r>
              <a:rPr sz="1300" b="0">
                <a:solidFill>
                  <a:srgbClr val="5A6170"/>
                </a:solidFill>
                <a:latin typeface="Calibri"/>
              </a:rPr>
              <a:t>Coin shop, incl. GST</a:t>
            </a:r>
          </a:p>
        </p:txBody>
      </p:sp>
      <p:sp>
        <p:nvSpPr>
          <p:cNvPr id="139" name="Option GOLDGUINEA"/>
          <p:cNvSpPr/>
          <p:nvPr/>
        </p:nvSpPr>
        <p:spPr>
          <a:xfrm>
            <a:off x="9052560" y="6812279"/>
            <a:ext cx="8321040" cy="822960"/>
          </a:xfrm>
          <a:prstGeom prst="roundRect">
            <a:avLst>
              <a:gd name="adj" fmla="val 10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9326880" y="6922007"/>
            <a:ext cx="3291840" cy="640080"/>
          </a:xfrm>
          <a:prstGeom prst="rect">
            <a:avLst/>
          </a:prstGeom>
          <a:noFill/>
        </p:spPr>
        <p:txBody>
          <a:bodyPr wrap="square" lIns="0" tIns="0" rIns="0" bIns="0" anchor="ctr">
            <a:spAutoFit/>
          </a:bodyPr>
          <a:lstStyle/>
          <a:p>
            <a:pPr algn="l"/>
            <a:r>
              <a:rPr sz="1700" b="1">
                <a:solidFill>
                  <a:srgbClr val="5A6170"/>
                </a:solidFill>
                <a:latin typeface="IBM Plex Sans"/>
              </a:rPr>
              <a:t>GOLDGUINEA</a:t>
            </a:r>
          </a:p>
        </p:txBody>
      </p:sp>
      <p:sp>
        <p:nvSpPr>
          <p:cNvPr id="141" name="TextBox 140"/>
          <p:cNvSpPr txBox="1"/>
          <p:nvPr/>
        </p:nvSpPr>
        <p:spPr>
          <a:xfrm>
            <a:off x="12527280" y="6922007"/>
            <a:ext cx="2103120" cy="640080"/>
          </a:xfrm>
          <a:prstGeom prst="rect">
            <a:avLst/>
          </a:prstGeom>
          <a:noFill/>
        </p:spPr>
        <p:txBody>
          <a:bodyPr wrap="square" lIns="0" tIns="0" rIns="0" bIns="0" anchor="ctr">
            <a:spAutoFit/>
          </a:bodyPr>
          <a:lstStyle/>
          <a:p>
            <a:pPr algn="l"/>
            <a:r>
              <a:rPr sz="2000" b="1">
                <a:solidFill>
                  <a:srgbClr val="5A6170"/>
                </a:solidFill>
                <a:latin typeface="Montserrat"/>
              </a:rPr>
              <a:t>n/a</a:t>
            </a:r>
          </a:p>
        </p:txBody>
      </p:sp>
      <p:sp>
        <p:nvSpPr>
          <p:cNvPr id="142" name="TextBox 141"/>
          <p:cNvSpPr txBox="1"/>
          <p:nvPr/>
        </p:nvSpPr>
        <p:spPr>
          <a:xfrm>
            <a:off x="14630400" y="6922007"/>
            <a:ext cx="2651760" cy="640080"/>
          </a:xfrm>
          <a:prstGeom prst="rect">
            <a:avLst/>
          </a:prstGeom>
          <a:noFill/>
        </p:spPr>
        <p:txBody>
          <a:bodyPr wrap="square" lIns="0" tIns="0" rIns="0" bIns="0" anchor="ctr">
            <a:spAutoFit/>
          </a:bodyPr>
          <a:lstStyle/>
          <a:p>
            <a:pPr algn="l"/>
            <a:r>
              <a:rPr sz="1300" b="0">
                <a:solidFill>
                  <a:srgbClr val="5A6170"/>
                </a:solidFill>
                <a:latin typeface="Calibri"/>
              </a:rPr>
              <a:t>Lot is 8 g, too big for 5 g</a:t>
            </a:r>
          </a:p>
        </p:txBody>
      </p:sp>
      <p:sp>
        <p:nvSpPr>
          <p:cNvPr id="143" name="Option GOLDTEN"/>
          <p:cNvSpPr/>
          <p:nvPr/>
        </p:nvSpPr>
        <p:spPr>
          <a:xfrm>
            <a:off x="9052560" y="7772400"/>
            <a:ext cx="8321040" cy="822960"/>
          </a:xfrm>
          <a:prstGeom prst="roundRect">
            <a:avLst>
              <a:gd name="adj" fmla="val 10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143"/>
          <p:cNvSpPr txBox="1"/>
          <p:nvPr/>
        </p:nvSpPr>
        <p:spPr>
          <a:xfrm>
            <a:off x="9326880" y="7882127"/>
            <a:ext cx="3291840" cy="640080"/>
          </a:xfrm>
          <a:prstGeom prst="rect">
            <a:avLst/>
          </a:prstGeom>
          <a:noFill/>
        </p:spPr>
        <p:txBody>
          <a:bodyPr wrap="square" lIns="0" tIns="0" rIns="0" bIns="0" anchor="ctr">
            <a:spAutoFit/>
          </a:bodyPr>
          <a:lstStyle/>
          <a:p>
            <a:pPr algn="l"/>
            <a:r>
              <a:rPr sz="1700" b="1">
                <a:solidFill>
                  <a:srgbClr val="5A6170"/>
                </a:solidFill>
                <a:latin typeface="IBM Plex Sans"/>
              </a:rPr>
              <a:t>GOLDTEN</a:t>
            </a:r>
          </a:p>
        </p:txBody>
      </p:sp>
      <p:sp>
        <p:nvSpPr>
          <p:cNvPr id="145" name="TextBox 144"/>
          <p:cNvSpPr txBox="1"/>
          <p:nvPr/>
        </p:nvSpPr>
        <p:spPr>
          <a:xfrm>
            <a:off x="12527280" y="7882127"/>
            <a:ext cx="2103120" cy="640080"/>
          </a:xfrm>
          <a:prstGeom prst="rect">
            <a:avLst/>
          </a:prstGeom>
          <a:noFill/>
        </p:spPr>
        <p:txBody>
          <a:bodyPr wrap="square" lIns="0" tIns="0" rIns="0" bIns="0" anchor="ctr">
            <a:spAutoFit/>
          </a:bodyPr>
          <a:lstStyle/>
          <a:p>
            <a:pPr algn="l"/>
            <a:r>
              <a:rPr sz="2000" b="1">
                <a:solidFill>
                  <a:srgbClr val="5A6170"/>
                </a:solidFill>
                <a:latin typeface="Montserrat"/>
              </a:rPr>
              <a:t>n/a</a:t>
            </a:r>
          </a:p>
        </p:txBody>
      </p:sp>
      <p:sp>
        <p:nvSpPr>
          <p:cNvPr id="146" name="TextBox 145"/>
          <p:cNvSpPr txBox="1"/>
          <p:nvPr/>
        </p:nvSpPr>
        <p:spPr>
          <a:xfrm>
            <a:off x="14630400" y="7882127"/>
            <a:ext cx="2651760" cy="640080"/>
          </a:xfrm>
          <a:prstGeom prst="rect">
            <a:avLst/>
          </a:prstGeom>
          <a:noFill/>
        </p:spPr>
        <p:txBody>
          <a:bodyPr wrap="square" lIns="0" tIns="0" rIns="0" bIns="0" anchor="ctr">
            <a:spAutoFit/>
          </a:bodyPr>
          <a:lstStyle/>
          <a:p>
            <a:pPr algn="l"/>
            <a:r>
              <a:rPr sz="1300" b="0">
                <a:solidFill>
                  <a:srgbClr val="5A6170"/>
                </a:solidFill>
                <a:latin typeface="Calibri"/>
              </a:rPr>
              <a:t>Lot is 10 g, too big for 5 g</a:t>
            </a:r>
          </a:p>
        </p:txBody>
      </p:sp>
      <p:sp>
        <p:nvSpPr>
          <p:cNvPr id="147" name="TextBox 146"/>
          <p:cNvSpPr txBox="1"/>
          <p:nvPr/>
        </p:nvSpPr>
        <p:spPr>
          <a:xfrm>
            <a:off x="9052560" y="8778240"/>
            <a:ext cx="8321040" cy="457200"/>
          </a:xfrm>
          <a:prstGeom prst="rect">
            <a:avLst/>
          </a:prstGeom>
          <a:noFill/>
        </p:spPr>
        <p:txBody>
          <a:bodyPr wrap="square" lIns="0" tIns="0" rIns="0" bIns="0" anchor="t">
            <a:spAutoFit/>
          </a:bodyPr>
          <a:lstStyle/>
          <a:p>
            <a:pPr algn="l"/>
            <a:r>
              <a:rPr sz="1500" b="1">
                <a:solidFill>
                  <a:srgbClr val="1D1D1F"/>
                </a:solidFill>
                <a:latin typeface="IBM Plex Sans"/>
              </a:rPr>
              <a:t>Saves ≈ ₹3,050 vs the coin shop.</a:t>
            </a:r>
            <a:r>
              <a:rPr sz="1500" b="0">
                <a:solidFill>
                  <a:srgbClr val="5A6170"/>
                </a:solidFill>
                <a:latin typeface="IBM Plex Sans"/>
              </a:rPr>
              <a:t>  Exit before delivery instead and the premium costs ≈ ₹9–16/g.</a:t>
            </a:r>
          </a:p>
        </p:txBody>
      </p:sp>
      <p:sp>
        <p:nvSpPr>
          <p:cNvPr id="148" name="Source note"/>
          <p:cNvSpPr txBox="1"/>
          <p:nvPr/>
        </p:nvSpPr>
        <p:spPr>
          <a:xfrm>
            <a:off x="548640" y="9692640"/>
            <a:ext cx="17190720" cy="365760"/>
          </a:xfrm>
          <a:prstGeom prst="rect">
            <a:avLst/>
          </a:prstGeom>
          <a:noFill/>
        </p:spPr>
        <p:txBody>
          <a:bodyPr wrap="square" lIns="0" tIns="0" rIns="0" bIns="0" anchor="t">
            <a:spAutoFit/>
          </a:bodyPr>
          <a:lstStyle/>
          <a:p>
            <a:pPr algn="l"/>
            <a:r>
              <a:rPr sz="1200" b="0">
                <a:solidFill>
                  <a:srgbClr val="5A6170"/>
                </a:solidFill>
                <a:latin typeface="Calibri"/>
              </a:rPr>
              <a:t>Chooser panel: the Round 1 worked example (13 Oct 2026 prices). The live chooser at tola-gold.vercel.app now ranks every contract for any quantity, with exit-by dates, from MCX data to 23 Oct 2026. Vault, assaying and transport: ₹10/g assumed.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4" name="Google Shape;134;p18"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135" name="Section label"/>
          <p:cNvSpPr txBox="1"/>
          <p:nvPr/>
        </p:nvSpPr>
        <p:spPr>
          <a:xfrm>
            <a:off x="548640" y="1444752"/>
            <a:ext cx="17190720" cy="365760"/>
          </a:xfrm>
          <a:prstGeom prst="rect">
            <a:avLst/>
          </a:prstGeom>
          <a:noFill/>
        </p:spPr>
        <p:txBody>
          <a:bodyPr wrap="square" lIns="0" tIns="0" rIns="0" bIns="0" anchor="t">
            <a:spAutoFit/>
          </a:bodyPr>
          <a:lstStyle/>
          <a:p>
            <a:pPr algn="l"/>
            <a:r>
              <a:rPr sz="1700" b="1">
                <a:solidFill>
                  <a:srgbClr val="9A6A00"/>
                </a:solidFill>
                <a:latin typeface="Montserrat"/>
              </a:rPr>
              <a:t>PROTOTYPE</a:t>
            </a:r>
          </a:p>
        </p:txBody>
      </p:sp>
      <p:sp>
        <p:nvSpPr>
          <p:cNvPr id="136" name="Title"/>
          <p:cNvSpPr txBox="1"/>
          <p:nvPr/>
        </p:nvSpPr>
        <p:spPr>
          <a:xfrm>
            <a:off x="548640" y="1847088"/>
            <a:ext cx="17190720" cy="731520"/>
          </a:xfrm>
          <a:prstGeom prst="rect">
            <a:avLst/>
          </a:prstGeom>
          <a:noFill/>
        </p:spPr>
        <p:txBody>
          <a:bodyPr wrap="square" lIns="0" tIns="0" rIns="0" bIns="0" anchor="t">
            <a:spAutoFit/>
          </a:bodyPr>
          <a:lstStyle/>
          <a:p>
            <a:pPr algn="l"/>
            <a:r>
              <a:rPr sz="3600" b="1">
                <a:solidFill>
                  <a:srgbClr val="000000"/>
                </a:solidFill>
                <a:latin typeface="Montserrat"/>
              </a:rPr>
              <a:t>Live, working, and on real MCX data</a:t>
            </a:r>
          </a:p>
        </p:txBody>
      </p:sp>
      <p:pic>
        <p:nvPicPr>
          <p:cNvPr id="137" name="Screenshot landing" descr="landing.png"/>
          <p:cNvPicPr>
            <a:picLocks noChangeAspect="1"/>
          </p:cNvPicPr>
          <p:nvPr/>
        </p:nvPicPr>
        <p:blipFill>
          <a:blip r:embed="rId4"/>
          <a:stretch>
            <a:fillRect/>
          </a:stretch>
        </p:blipFill>
        <p:spPr>
          <a:xfrm>
            <a:off x="548640" y="2880360"/>
            <a:ext cx="4800600" cy="2999232"/>
          </a:xfrm>
          <a:prstGeom prst="rect">
            <a:avLst/>
          </a:prstGeom>
          <a:ln w="9525">
            <a:solidFill>
              <a:srgbClr val="D9DCE3"/>
            </a:solidFill>
          </a:ln>
        </p:spPr>
      </p:pic>
      <p:sp>
        <p:nvSpPr>
          <p:cNvPr id="138" name="Caption landing"/>
          <p:cNvSpPr txBox="1"/>
          <p:nvPr/>
        </p:nvSpPr>
        <p:spPr>
          <a:xfrm>
            <a:off x="548640" y="5952744"/>
            <a:ext cx="4800600" cy="411480"/>
          </a:xfrm>
          <a:prstGeom prst="rect">
            <a:avLst/>
          </a:prstGeom>
          <a:noFill/>
        </p:spPr>
        <p:txBody>
          <a:bodyPr wrap="square" lIns="0" tIns="0" rIns="0" bIns="0" anchor="t">
            <a:spAutoFit/>
          </a:bodyPr>
          <a:lstStyle/>
          <a:p>
            <a:pPr algn="l"/>
            <a:r>
              <a:rPr sz="1300" b="0">
                <a:solidFill>
                  <a:srgbClr val="5A6170"/>
                </a:solidFill>
                <a:latin typeface="Calibri"/>
              </a:rPr>
              <a:t>Landing: the claim, today’s five rates and a working chooser in the first screen</a:t>
            </a:r>
          </a:p>
        </p:txBody>
      </p:sp>
      <p:pic>
        <p:nvPicPr>
          <p:cNvPr id="139" name="Screenshot choose" descr="choose.png"/>
          <p:cNvPicPr>
            <a:picLocks noChangeAspect="1"/>
          </p:cNvPicPr>
          <p:nvPr/>
        </p:nvPicPr>
        <p:blipFill>
          <a:blip r:embed="rId5"/>
          <a:stretch>
            <a:fillRect/>
          </a:stretch>
        </p:blipFill>
        <p:spPr>
          <a:xfrm>
            <a:off x="5669279" y="2880360"/>
            <a:ext cx="4800600" cy="2999232"/>
          </a:xfrm>
          <a:prstGeom prst="rect">
            <a:avLst/>
          </a:prstGeom>
          <a:ln w="9525">
            <a:solidFill>
              <a:srgbClr val="D9DCE3"/>
            </a:solidFill>
          </a:ln>
        </p:spPr>
      </p:pic>
      <p:sp>
        <p:nvSpPr>
          <p:cNvPr id="140" name="Caption choose"/>
          <p:cNvSpPr txBox="1"/>
          <p:nvPr/>
        </p:nvSpPr>
        <p:spPr>
          <a:xfrm>
            <a:off x="5669279" y="5952744"/>
            <a:ext cx="4800600" cy="411480"/>
          </a:xfrm>
          <a:prstGeom prst="rect">
            <a:avLst/>
          </a:prstGeom>
          <a:noFill/>
        </p:spPr>
        <p:txBody>
          <a:bodyPr wrap="square" lIns="0" tIns="0" rIns="0" bIns="0" anchor="t">
            <a:spAutoFit/>
          </a:bodyPr>
          <a:lstStyle/>
          <a:p>
            <a:pPr algn="l"/>
            <a:r>
              <a:rPr sz="1300" b="0">
                <a:solidFill>
                  <a:srgbClr val="5A6170"/>
                </a:solidFill>
                <a:latin typeface="Calibri"/>
              </a:rPr>
              <a:t>Chooser: every contract ranked by all-in ₹/g, with the date to exit by</a:t>
            </a:r>
          </a:p>
        </p:txBody>
      </p:sp>
      <p:pic>
        <p:nvPicPr>
          <p:cNvPr id="141" name="Screenshot basis" descr="basis.png"/>
          <p:cNvPicPr>
            <a:picLocks noChangeAspect="1"/>
          </p:cNvPicPr>
          <p:nvPr/>
        </p:nvPicPr>
        <p:blipFill>
          <a:blip r:embed="rId6"/>
          <a:stretch>
            <a:fillRect/>
          </a:stretch>
        </p:blipFill>
        <p:spPr>
          <a:xfrm>
            <a:off x="548640" y="6446520"/>
            <a:ext cx="4800600" cy="2999232"/>
          </a:xfrm>
          <a:prstGeom prst="rect">
            <a:avLst/>
          </a:prstGeom>
          <a:ln w="9525">
            <a:solidFill>
              <a:srgbClr val="D9DCE3"/>
            </a:solidFill>
          </a:ln>
        </p:spPr>
      </p:pic>
      <p:sp>
        <p:nvSpPr>
          <p:cNvPr id="142" name="Caption basis"/>
          <p:cNvSpPr txBox="1"/>
          <p:nvPr/>
        </p:nvSpPr>
        <p:spPr>
          <a:xfrm>
            <a:off x="548640" y="9518904"/>
            <a:ext cx="4800600" cy="411480"/>
          </a:xfrm>
          <a:prstGeom prst="rect">
            <a:avLst/>
          </a:prstGeom>
          <a:noFill/>
        </p:spPr>
        <p:txBody>
          <a:bodyPr wrap="square" lIns="0" tIns="0" rIns="0" bIns="0" anchor="t">
            <a:spAutoFit/>
          </a:bodyPr>
          <a:lstStyle/>
          <a:p>
            <a:pPr algn="l"/>
            <a:r>
              <a:rPr sz="1300" b="0">
                <a:solidFill>
                  <a:srgbClr val="5A6170"/>
                </a:solidFill>
                <a:latin typeface="Calibri"/>
              </a:rPr>
              <a:t>Why prices differ: each price split into timing, carry, reference and premium</a:t>
            </a:r>
          </a:p>
        </p:txBody>
      </p:sp>
      <p:pic>
        <p:nvPicPr>
          <p:cNvPr id="143" name="Screenshot convergence" descr="convergence.png"/>
          <p:cNvPicPr>
            <a:picLocks noChangeAspect="1"/>
          </p:cNvPicPr>
          <p:nvPr/>
        </p:nvPicPr>
        <p:blipFill>
          <a:blip r:embed="rId7"/>
          <a:stretch>
            <a:fillRect/>
          </a:stretch>
        </p:blipFill>
        <p:spPr>
          <a:xfrm>
            <a:off x="5669279" y="6446520"/>
            <a:ext cx="4800600" cy="2999232"/>
          </a:xfrm>
          <a:prstGeom prst="rect">
            <a:avLst/>
          </a:prstGeom>
          <a:ln w="9525">
            <a:solidFill>
              <a:srgbClr val="D9DCE3"/>
            </a:solidFill>
          </a:ln>
        </p:spPr>
      </p:pic>
      <p:sp>
        <p:nvSpPr>
          <p:cNvPr id="144" name="Caption convergence"/>
          <p:cNvSpPr txBox="1"/>
          <p:nvPr/>
        </p:nvSpPr>
        <p:spPr>
          <a:xfrm>
            <a:off x="5669279" y="9518904"/>
            <a:ext cx="4800600" cy="411480"/>
          </a:xfrm>
          <a:prstGeom prst="rect">
            <a:avLst/>
          </a:prstGeom>
          <a:noFill/>
        </p:spPr>
        <p:txBody>
          <a:bodyPr wrap="square" lIns="0" tIns="0" rIns="0" bIns="0" anchor="t">
            <a:spAutoFit/>
          </a:bodyPr>
          <a:lstStyle/>
          <a:p>
            <a:pPr algn="l"/>
            <a:r>
              <a:rPr sz="1300" b="0">
                <a:solidFill>
                  <a:srgbClr val="5A6170"/>
                </a:solidFill>
                <a:latin typeface="Calibri"/>
              </a:rPr>
              <a:t>Convergence: today’s premium ranked against 18 expired cycles</a:t>
            </a:r>
          </a:p>
        </p:txBody>
      </p:sp>
      <p:sp>
        <p:nvSpPr>
          <p:cNvPr id="145" name="Try it panel"/>
          <p:cNvSpPr/>
          <p:nvPr/>
        </p:nvSpPr>
        <p:spPr>
          <a:xfrm>
            <a:off x="10927080" y="2880360"/>
            <a:ext cx="6812279" cy="6583680"/>
          </a:xfrm>
          <a:prstGeom prst="roundRect">
            <a:avLst>
              <a:gd name="adj" fmla="val 6000"/>
            </a:avLst>
          </a:prstGeom>
          <a:solidFill>
            <a:srgbClr val="F6E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ry it"/>
          <p:cNvSpPr txBox="1"/>
          <p:nvPr/>
        </p:nvSpPr>
        <p:spPr>
          <a:xfrm>
            <a:off x="11292840" y="3154680"/>
            <a:ext cx="6080759" cy="743793"/>
          </a:xfrm>
          <a:prstGeom prst="rect">
            <a:avLst/>
          </a:prstGeom>
          <a:noFill/>
        </p:spPr>
        <p:txBody>
          <a:bodyPr wrap="square" lIns="0" tIns="0" rIns="0" bIns="0" anchor="t">
            <a:spAutoFit/>
          </a:bodyPr>
          <a:lstStyle/>
          <a:p>
            <a:pPr algn="l"/>
            <a:r>
              <a:rPr sz="2300" b="1" dirty="0">
                <a:solidFill>
                  <a:srgbClr val="1D1D1F"/>
                </a:solidFill>
                <a:latin typeface="Montserrat"/>
              </a:rPr>
              <a:t>Try it</a:t>
            </a:r>
          </a:p>
          <a:p>
            <a:pPr algn="l">
              <a:spcBef>
                <a:spcPts val="400"/>
              </a:spcBef>
            </a:pPr>
            <a:r>
              <a:rPr sz="2200" b="1" dirty="0">
                <a:solidFill>
                  <a:schemeClr val="accent6">
                    <a:lumMod val="50000"/>
                  </a:schemeClr>
                </a:solidFill>
                <a:latin typeface="Montserrat"/>
                <a:hlinkClick r:id="rId8" action="ppaction://hlinkfile">
                  <a:extLst>
                    <a:ext uri="{A12FA001-AC4F-418D-AE19-62706E023703}">
                      <ahyp:hlinkClr xmlns:ahyp="http://schemas.microsoft.com/office/drawing/2018/hyperlinkcolor" val="tx"/>
                    </a:ext>
                  </a:extLst>
                </a:hlinkClick>
              </a:rPr>
              <a:t>tola-</a:t>
            </a:r>
            <a:r>
              <a:rPr sz="2200" b="1" dirty="0" err="1">
                <a:solidFill>
                  <a:schemeClr val="accent6">
                    <a:lumMod val="50000"/>
                  </a:schemeClr>
                </a:solidFill>
                <a:latin typeface="Montserrat"/>
                <a:hlinkClick r:id="rId8" action="ppaction://hlinkfile">
                  <a:extLst>
                    <a:ext uri="{A12FA001-AC4F-418D-AE19-62706E023703}">
                      <ahyp:hlinkClr xmlns:ahyp="http://schemas.microsoft.com/office/drawing/2018/hyperlinkcolor" val="tx"/>
                    </a:ext>
                  </a:extLst>
                </a:hlinkClick>
              </a:rPr>
              <a:t>gold.vercel.app</a:t>
            </a:r>
            <a:endParaRPr sz="2200" b="1" dirty="0">
              <a:solidFill>
                <a:schemeClr val="accent6">
                  <a:lumMod val="50000"/>
                </a:schemeClr>
              </a:solidFill>
              <a:latin typeface="Montserrat"/>
            </a:endParaRPr>
          </a:p>
        </p:txBody>
      </p:sp>
      <p:sp>
        <p:nvSpPr>
          <p:cNvPr id="147" name="Step 1"/>
          <p:cNvSpPr/>
          <p:nvPr/>
        </p:nvSpPr>
        <p:spPr>
          <a:xfrm>
            <a:off x="11292840" y="4617720"/>
            <a:ext cx="457200" cy="45720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Montserrat"/>
              </a:rPr>
              <a:t>1</a:t>
            </a:r>
          </a:p>
        </p:txBody>
      </p:sp>
      <p:sp>
        <p:nvSpPr>
          <p:cNvPr id="148" name="Step 1 text"/>
          <p:cNvSpPr txBox="1"/>
          <p:nvPr/>
        </p:nvSpPr>
        <p:spPr>
          <a:xfrm>
            <a:off x="11932919" y="4599432"/>
            <a:ext cx="5440679" cy="822960"/>
          </a:xfrm>
          <a:prstGeom prst="rect">
            <a:avLst/>
          </a:prstGeom>
          <a:noFill/>
        </p:spPr>
        <p:txBody>
          <a:bodyPr wrap="square" lIns="0" tIns="0" rIns="0" bIns="0" anchor="t">
            <a:spAutoFit/>
          </a:bodyPr>
          <a:lstStyle/>
          <a:p>
            <a:pPr algn="l"/>
            <a:r>
              <a:rPr sz="1700" b="1">
                <a:solidFill>
                  <a:srgbClr val="1D1D1F"/>
                </a:solidFill>
                <a:latin typeface="Calibri"/>
              </a:rPr>
              <a:t>Read the claim</a:t>
            </a:r>
          </a:p>
          <a:p>
            <a:pPr algn="l">
              <a:spcBef>
                <a:spcPts val="100"/>
              </a:spcBef>
            </a:pPr>
            <a:r>
              <a:rPr sz="1500" b="0">
                <a:solidFill>
                  <a:srgbClr val="5A6170"/>
                </a:solidFill>
                <a:latin typeface="Calibri"/>
              </a:rPr>
              <a:t>one gram, five prices, and today’s premium</a:t>
            </a:r>
          </a:p>
        </p:txBody>
      </p:sp>
      <p:sp>
        <p:nvSpPr>
          <p:cNvPr id="149" name="Step 2"/>
          <p:cNvSpPr/>
          <p:nvPr/>
        </p:nvSpPr>
        <p:spPr>
          <a:xfrm>
            <a:off x="11292840" y="5550408"/>
            <a:ext cx="457200" cy="45720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Montserrat"/>
              </a:rPr>
              <a:t>2</a:t>
            </a:r>
          </a:p>
        </p:txBody>
      </p:sp>
      <p:sp>
        <p:nvSpPr>
          <p:cNvPr id="150" name="Step 2 text"/>
          <p:cNvSpPr txBox="1"/>
          <p:nvPr/>
        </p:nvSpPr>
        <p:spPr>
          <a:xfrm>
            <a:off x="11932919" y="5532120"/>
            <a:ext cx="5440679" cy="822960"/>
          </a:xfrm>
          <a:prstGeom prst="rect">
            <a:avLst/>
          </a:prstGeom>
          <a:noFill/>
        </p:spPr>
        <p:txBody>
          <a:bodyPr wrap="square" lIns="0" tIns="0" rIns="0" bIns="0" anchor="t">
            <a:spAutoFit/>
          </a:bodyPr>
          <a:lstStyle/>
          <a:p>
            <a:pPr algn="l"/>
            <a:r>
              <a:rPr sz="1700" b="1">
                <a:solidFill>
                  <a:srgbClr val="1D1D1F"/>
                </a:solidFill>
                <a:latin typeface="Calibri"/>
              </a:rPr>
              <a:t>Ask the chooser</a:t>
            </a:r>
          </a:p>
          <a:p>
            <a:pPr algn="l">
              <a:spcBef>
                <a:spcPts val="100"/>
              </a:spcBef>
            </a:pPr>
            <a:r>
              <a:rPr sz="1500" b="0">
                <a:solidFill>
                  <a:srgbClr val="5A6170"/>
                </a:solidFill>
                <a:latin typeface="Calibri"/>
              </a:rPr>
              <a:t>your grams and holding period, ranked in ₹/g</a:t>
            </a:r>
          </a:p>
        </p:txBody>
      </p:sp>
      <p:sp>
        <p:nvSpPr>
          <p:cNvPr id="151" name="Step 3"/>
          <p:cNvSpPr/>
          <p:nvPr/>
        </p:nvSpPr>
        <p:spPr>
          <a:xfrm>
            <a:off x="11292840" y="6483096"/>
            <a:ext cx="457200" cy="45720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Montserrat"/>
              </a:rPr>
              <a:t>3</a:t>
            </a:r>
          </a:p>
        </p:txBody>
      </p:sp>
      <p:sp>
        <p:nvSpPr>
          <p:cNvPr id="152" name="Step 3 text"/>
          <p:cNvSpPr txBox="1"/>
          <p:nvPr/>
        </p:nvSpPr>
        <p:spPr>
          <a:xfrm>
            <a:off x="11932919" y="6464808"/>
            <a:ext cx="5440679" cy="822960"/>
          </a:xfrm>
          <a:prstGeom prst="rect">
            <a:avLst/>
          </a:prstGeom>
          <a:noFill/>
        </p:spPr>
        <p:txBody>
          <a:bodyPr wrap="square" lIns="0" tIns="0" rIns="0" bIns="0" anchor="t">
            <a:spAutoFit/>
          </a:bodyPr>
          <a:lstStyle/>
          <a:p>
            <a:pPr algn="l"/>
            <a:r>
              <a:rPr sz="1700" b="1">
                <a:solidFill>
                  <a:srgbClr val="1D1D1F"/>
                </a:solidFill>
                <a:latin typeface="Calibri"/>
              </a:rPr>
              <a:t>Check the evidence</a:t>
            </a:r>
          </a:p>
          <a:p>
            <a:pPr algn="l">
              <a:spcBef>
                <a:spcPts val="100"/>
              </a:spcBef>
            </a:pPr>
            <a:r>
              <a:rPr sz="1500" b="0">
                <a:solidFill>
                  <a:srgbClr val="5A6170"/>
                </a:solidFill>
                <a:latin typeface="Calibri"/>
              </a:rPr>
              <a:t>basis, convergence and verdict pages</a:t>
            </a:r>
          </a:p>
        </p:txBody>
      </p:sp>
      <p:sp>
        <p:nvSpPr>
          <p:cNvPr id="153" name="Step 4"/>
          <p:cNvSpPr/>
          <p:nvPr/>
        </p:nvSpPr>
        <p:spPr>
          <a:xfrm>
            <a:off x="11292840" y="7415783"/>
            <a:ext cx="457200" cy="45720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Montserrat"/>
              </a:rPr>
              <a:t>4</a:t>
            </a:r>
          </a:p>
        </p:txBody>
      </p:sp>
      <p:sp>
        <p:nvSpPr>
          <p:cNvPr id="154" name="Step 4 text"/>
          <p:cNvSpPr txBox="1"/>
          <p:nvPr/>
        </p:nvSpPr>
        <p:spPr>
          <a:xfrm>
            <a:off x="11932919" y="7397496"/>
            <a:ext cx="5440679" cy="822960"/>
          </a:xfrm>
          <a:prstGeom prst="rect">
            <a:avLst/>
          </a:prstGeom>
          <a:noFill/>
        </p:spPr>
        <p:txBody>
          <a:bodyPr wrap="square" lIns="0" tIns="0" rIns="0" bIns="0" anchor="t">
            <a:spAutoFit/>
          </a:bodyPr>
          <a:lstStyle/>
          <a:p>
            <a:pPr algn="l"/>
            <a:r>
              <a:rPr sz="1700" b="1">
                <a:solidFill>
                  <a:srgbClr val="1D1D1F"/>
                </a:solidFill>
                <a:latin typeface="Calibri"/>
              </a:rPr>
              <a:t>See what changed</a:t>
            </a:r>
          </a:p>
          <a:p>
            <a:pPr algn="l">
              <a:spcBef>
                <a:spcPts val="100"/>
              </a:spcBef>
            </a:pPr>
            <a:r>
              <a:rPr sz="1500" b="0">
                <a:solidFill>
                  <a:srgbClr val="5A6170"/>
                </a:solidFill>
                <a:latin typeface="Calibri"/>
              </a:rPr>
              <a:t>a quiet notice log and contract calendar</a:t>
            </a:r>
          </a:p>
        </p:txBody>
      </p:sp>
      <p:sp>
        <p:nvSpPr>
          <p:cNvPr id="155" name="Prototype facts"/>
          <p:cNvSpPr txBox="1"/>
          <p:nvPr/>
        </p:nvSpPr>
        <p:spPr>
          <a:xfrm>
            <a:off x="11292840" y="8503920"/>
            <a:ext cx="6080759" cy="822960"/>
          </a:xfrm>
          <a:prstGeom prst="rect">
            <a:avLst/>
          </a:prstGeom>
          <a:noFill/>
        </p:spPr>
        <p:txBody>
          <a:bodyPr wrap="square" lIns="0" tIns="0" rIns="0" bIns="0" anchor="t">
            <a:spAutoFit/>
          </a:bodyPr>
          <a:lstStyle/>
          <a:p>
            <a:pPr algn="l"/>
            <a:r>
              <a:rPr sz="1300" b="0">
                <a:solidFill>
                  <a:srgbClr val="5A6170"/>
                </a:solidFill>
                <a:latin typeface="Calibri"/>
              </a:rPr>
              <a:t>Static React site, no server. 8 pages, data to 23 Oct 2026. The chooser runs in the browser and matches the Python model in 9 tests.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pic>
        <p:nvPicPr>
          <p:cNvPr id="116" name="Google Shape;116;p16"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117" name="Section label"/>
          <p:cNvSpPr txBox="1"/>
          <p:nvPr/>
        </p:nvSpPr>
        <p:spPr>
          <a:xfrm>
            <a:off x="548640" y="1444752"/>
            <a:ext cx="17190720" cy="365760"/>
          </a:xfrm>
          <a:prstGeom prst="rect">
            <a:avLst/>
          </a:prstGeom>
          <a:noFill/>
        </p:spPr>
        <p:txBody>
          <a:bodyPr wrap="square" lIns="0" tIns="0" rIns="0" bIns="0" anchor="t">
            <a:spAutoFit/>
          </a:bodyPr>
          <a:lstStyle/>
          <a:p>
            <a:pPr algn="l"/>
            <a:r>
              <a:rPr sz="1700" b="1">
                <a:solidFill>
                  <a:srgbClr val="9A6A00"/>
                </a:solidFill>
                <a:latin typeface="Montserrat"/>
              </a:rPr>
              <a:t>ARCHITECTURE</a:t>
            </a:r>
          </a:p>
        </p:txBody>
      </p:sp>
      <p:sp>
        <p:nvSpPr>
          <p:cNvPr id="118" name="Title"/>
          <p:cNvSpPr txBox="1"/>
          <p:nvPr/>
        </p:nvSpPr>
        <p:spPr>
          <a:xfrm>
            <a:off x="548640" y="1847088"/>
            <a:ext cx="17190720" cy="731520"/>
          </a:xfrm>
          <a:prstGeom prst="rect">
            <a:avLst/>
          </a:prstGeom>
          <a:noFill/>
        </p:spPr>
        <p:txBody>
          <a:bodyPr wrap="square" lIns="0" tIns="0" rIns="0" bIns="0" anchor="t">
            <a:spAutoFit/>
          </a:bodyPr>
          <a:lstStyle/>
          <a:p>
            <a:pPr algn="l"/>
            <a:r>
              <a:rPr sz="3600" b="1">
                <a:solidFill>
                  <a:srgbClr val="000000"/>
                </a:solidFill>
                <a:latin typeface="Montserrat"/>
              </a:rPr>
              <a:t>Exchange data in, verified verdicts out</a:t>
            </a:r>
          </a:p>
        </p:txBody>
      </p:sp>
      <p:sp>
        <p:nvSpPr>
          <p:cNvPr id="119" name="Stage Fetch"/>
          <p:cNvSpPr/>
          <p:nvPr/>
        </p:nvSpPr>
        <p:spPr>
          <a:xfrm>
            <a:off x="548640" y="2926080"/>
            <a:ext cx="2621280" cy="2743200"/>
          </a:xfrm>
          <a:prstGeom prst="roundRect">
            <a:avLst>
              <a:gd name="adj" fmla="val 6000"/>
            </a:avLst>
          </a:prstGeom>
          <a:solidFill>
            <a:srgbClr val="F6E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val 119"/>
          <p:cNvSpPr/>
          <p:nvPr/>
        </p:nvSpPr>
        <p:spPr>
          <a:xfrm>
            <a:off x="777240" y="3154680"/>
            <a:ext cx="502920" cy="50292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IBM Plex Sans"/>
              </a:rPr>
              <a:t>1</a:t>
            </a:r>
          </a:p>
        </p:txBody>
      </p:sp>
      <p:sp>
        <p:nvSpPr>
          <p:cNvPr id="121" name="TextBox 120"/>
          <p:cNvSpPr txBox="1"/>
          <p:nvPr/>
        </p:nvSpPr>
        <p:spPr>
          <a:xfrm>
            <a:off x="777240" y="3840480"/>
            <a:ext cx="2164080" cy="411480"/>
          </a:xfrm>
          <a:prstGeom prst="rect">
            <a:avLst/>
          </a:prstGeom>
          <a:noFill/>
        </p:spPr>
        <p:txBody>
          <a:bodyPr wrap="square" lIns="0" tIns="0" rIns="0" bIns="0" anchor="t">
            <a:spAutoFit/>
          </a:bodyPr>
          <a:lstStyle/>
          <a:p>
            <a:pPr algn="l"/>
            <a:r>
              <a:rPr sz="2100" b="1">
                <a:solidFill>
                  <a:srgbClr val="1D1D1F"/>
                </a:solidFill>
                <a:latin typeface="Montserrat"/>
              </a:rPr>
              <a:t>Fetch</a:t>
            </a:r>
          </a:p>
        </p:txBody>
      </p:sp>
      <p:sp>
        <p:nvSpPr>
          <p:cNvPr id="122" name="TextBox 121"/>
          <p:cNvSpPr txBox="1"/>
          <p:nvPr/>
        </p:nvSpPr>
        <p:spPr>
          <a:xfrm>
            <a:off x="777240" y="4297680"/>
            <a:ext cx="2164080" cy="548640"/>
          </a:xfrm>
          <a:prstGeom prst="rect">
            <a:avLst/>
          </a:prstGeom>
          <a:noFill/>
        </p:spPr>
        <p:txBody>
          <a:bodyPr wrap="square" lIns="0" tIns="0" rIns="0" bIns="0" anchor="t">
            <a:spAutoFit/>
          </a:bodyPr>
          <a:lstStyle/>
          <a:p>
            <a:pPr algn="l"/>
            <a:r>
              <a:rPr sz="1500" b="1">
                <a:solidFill>
                  <a:srgbClr val="9A6A00"/>
                </a:solidFill>
                <a:latin typeface="IBM Plex Sans"/>
              </a:rPr>
              <a:t>curl_cffi</a:t>
            </a:r>
          </a:p>
        </p:txBody>
      </p:sp>
      <p:sp>
        <p:nvSpPr>
          <p:cNvPr id="123" name="TextBox 122"/>
          <p:cNvSpPr txBox="1"/>
          <p:nvPr/>
        </p:nvSpPr>
        <p:spPr>
          <a:xfrm>
            <a:off x="777240" y="4846320"/>
            <a:ext cx="2164080" cy="777240"/>
          </a:xfrm>
          <a:prstGeom prst="rect">
            <a:avLst/>
          </a:prstGeom>
          <a:noFill/>
        </p:spPr>
        <p:txBody>
          <a:bodyPr wrap="square" lIns="0" tIns="0" rIns="0" bIns="0" anchor="t">
            <a:spAutoFit/>
          </a:bodyPr>
          <a:lstStyle/>
          <a:p>
            <a:pPr algn="l"/>
            <a:r>
              <a:rPr sz="1400" b="0">
                <a:solidFill>
                  <a:srgbClr val="5A6170"/>
                </a:solidFill>
                <a:latin typeface="Calibri"/>
              </a:rPr>
              <a:t>bhavcopy, contract histories, polled spot; raw cache</a:t>
            </a:r>
          </a:p>
        </p:txBody>
      </p:sp>
      <p:sp>
        <p:nvSpPr>
          <p:cNvPr id="124" name="Right Arrow 123"/>
          <p:cNvSpPr/>
          <p:nvPr/>
        </p:nvSpPr>
        <p:spPr>
          <a:xfrm>
            <a:off x="3206496" y="4114800"/>
            <a:ext cx="219456" cy="310896"/>
          </a:xfrm>
          <a:prstGeom prst="rightArrow">
            <a:avLst/>
          </a:prstGeom>
          <a:solidFill>
            <a:srgbClr val="D9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Stage Store"/>
          <p:cNvSpPr/>
          <p:nvPr/>
        </p:nvSpPr>
        <p:spPr>
          <a:xfrm>
            <a:off x="3462528" y="2926080"/>
            <a:ext cx="2621280" cy="274320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val 125"/>
          <p:cNvSpPr/>
          <p:nvPr/>
        </p:nvSpPr>
        <p:spPr>
          <a:xfrm>
            <a:off x="3691128" y="3154680"/>
            <a:ext cx="502920" cy="50292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IBM Plex Sans"/>
              </a:rPr>
              <a:t>2</a:t>
            </a:r>
          </a:p>
        </p:txBody>
      </p:sp>
      <p:sp>
        <p:nvSpPr>
          <p:cNvPr id="127" name="TextBox 126"/>
          <p:cNvSpPr txBox="1"/>
          <p:nvPr/>
        </p:nvSpPr>
        <p:spPr>
          <a:xfrm>
            <a:off x="3691128" y="3840480"/>
            <a:ext cx="2164080" cy="411480"/>
          </a:xfrm>
          <a:prstGeom prst="rect">
            <a:avLst/>
          </a:prstGeom>
          <a:noFill/>
        </p:spPr>
        <p:txBody>
          <a:bodyPr wrap="square" lIns="0" tIns="0" rIns="0" bIns="0" anchor="t">
            <a:spAutoFit/>
          </a:bodyPr>
          <a:lstStyle/>
          <a:p>
            <a:pPr algn="l"/>
            <a:r>
              <a:rPr sz="2100" b="1">
                <a:solidFill>
                  <a:srgbClr val="1D1D1F"/>
                </a:solidFill>
                <a:latin typeface="Montserrat"/>
              </a:rPr>
              <a:t>Store</a:t>
            </a:r>
          </a:p>
        </p:txBody>
      </p:sp>
      <p:sp>
        <p:nvSpPr>
          <p:cNvPr id="128" name="TextBox 127"/>
          <p:cNvSpPr txBox="1"/>
          <p:nvPr/>
        </p:nvSpPr>
        <p:spPr>
          <a:xfrm>
            <a:off x="3691128" y="4297680"/>
            <a:ext cx="2164080" cy="548640"/>
          </a:xfrm>
          <a:prstGeom prst="rect">
            <a:avLst/>
          </a:prstGeom>
          <a:noFill/>
        </p:spPr>
        <p:txBody>
          <a:bodyPr wrap="square" lIns="0" tIns="0" rIns="0" bIns="0" anchor="t">
            <a:spAutoFit/>
          </a:bodyPr>
          <a:lstStyle/>
          <a:p>
            <a:pPr algn="l"/>
            <a:r>
              <a:rPr sz="1500" b="1">
                <a:solidFill>
                  <a:srgbClr val="9A6A00"/>
                </a:solidFill>
                <a:latin typeface="IBM Plex Sans"/>
              </a:rPr>
              <a:t>Parquet snapshot</a:t>
            </a:r>
          </a:p>
        </p:txBody>
      </p:sp>
      <p:sp>
        <p:nvSpPr>
          <p:cNvPr id="129" name="TextBox 128"/>
          <p:cNvSpPr txBox="1"/>
          <p:nvPr/>
        </p:nvSpPr>
        <p:spPr>
          <a:xfrm>
            <a:off x="3691128" y="4846320"/>
            <a:ext cx="2164080" cy="777240"/>
          </a:xfrm>
          <a:prstGeom prst="rect">
            <a:avLst/>
          </a:prstGeom>
          <a:noFill/>
        </p:spPr>
        <p:txBody>
          <a:bodyPr wrap="square" lIns="0" tIns="0" rIns="0" bIns="0" anchor="t">
            <a:spAutoFit/>
          </a:bodyPr>
          <a:lstStyle/>
          <a:p>
            <a:pPr algn="l"/>
            <a:r>
              <a:rPr sz="1400" b="0">
                <a:solidFill>
                  <a:srgbClr val="5A6170"/>
                </a:solidFill>
                <a:latin typeface="Calibri"/>
              </a:rPr>
              <a:t>keyed by symbol × expiry × date; 15 spec versions</a:t>
            </a:r>
          </a:p>
        </p:txBody>
      </p:sp>
      <p:sp>
        <p:nvSpPr>
          <p:cNvPr id="130" name="Right Arrow 129"/>
          <p:cNvSpPr/>
          <p:nvPr/>
        </p:nvSpPr>
        <p:spPr>
          <a:xfrm>
            <a:off x="6120384" y="4114800"/>
            <a:ext cx="219456" cy="310896"/>
          </a:xfrm>
          <a:prstGeom prst="rightArrow">
            <a:avLst/>
          </a:prstGeom>
          <a:solidFill>
            <a:srgbClr val="D9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Stage Model"/>
          <p:cNvSpPr/>
          <p:nvPr/>
        </p:nvSpPr>
        <p:spPr>
          <a:xfrm>
            <a:off x="6376415" y="2926080"/>
            <a:ext cx="2621280" cy="274320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val 131"/>
          <p:cNvSpPr/>
          <p:nvPr/>
        </p:nvSpPr>
        <p:spPr>
          <a:xfrm>
            <a:off x="6605015" y="3154680"/>
            <a:ext cx="502920" cy="50292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IBM Plex Sans"/>
              </a:rPr>
              <a:t>3</a:t>
            </a:r>
          </a:p>
        </p:txBody>
      </p:sp>
      <p:sp>
        <p:nvSpPr>
          <p:cNvPr id="133" name="TextBox 132"/>
          <p:cNvSpPr txBox="1"/>
          <p:nvPr/>
        </p:nvSpPr>
        <p:spPr>
          <a:xfrm>
            <a:off x="6605015" y="3840480"/>
            <a:ext cx="2164080" cy="411480"/>
          </a:xfrm>
          <a:prstGeom prst="rect">
            <a:avLst/>
          </a:prstGeom>
          <a:noFill/>
        </p:spPr>
        <p:txBody>
          <a:bodyPr wrap="square" lIns="0" tIns="0" rIns="0" bIns="0" anchor="t">
            <a:spAutoFit/>
          </a:bodyPr>
          <a:lstStyle/>
          <a:p>
            <a:pPr algn="l"/>
            <a:r>
              <a:rPr sz="2100" b="1">
                <a:solidFill>
                  <a:srgbClr val="1D1D1F"/>
                </a:solidFill>
                <a:latin typeface="Montserrat"/>
              </a:rPr>
              <a:t>Model</a:t>
            </a:r>
          </a:p>
        </p:txBody>
      </p:sp>
      <p:sp>
        <p:nvSpPr>
          <p:cNvPr id="134" name="TextBox 133"/>
          <p:cNvSpPr txBox="1"/>
          <p:nvPr/>
        </p:nvSpPr>
        <p:spPr>
          <a:xfrm>
            <a:off x="6605015" y="4297680"/>
            <a:ext cx="2164080" cy="548640"/>
          </a:xfrm>
          <a:prstGeom prst="rect">
            <a:avLst/>
          </a:prstGeom>
          <a:noFill/>
        </p:spPr>
        <p:txBody>
          <a:bodyPr wrap="square" lIns="0" tIns="0" rIns="0" bIns="0" anchor="t">
            <a:spAutoFit/>
          </a:bodyPr>
          <a:lstStyle/>
          <a:p>
            <a:pPr algn="l"/>
            <a:r>
              <a:rPr sz="1500" b="1">
                <a:solidFill>
                  <a:srgbClr val="9A6A00"/>
                </a:solidFill>
                <a:latin typeface="IBM Plex Sans"/>
              </a:rPr>
              <a:t>pandas · SciPy · bidask</a:t>
            </a:r>
          </a:p>
        </p:txBody>
      </p:sp>
      <p:sp>
        <p:nvSpPr>
          <p:cNvPr id="135" name="TextBox 134"/>
          <p:cNvSpPr txBox="1"/>
          <p:nvPr/>
        </p:nvSpPr>
        <p:spPr>
          <a:xfrm>
            <a:off x="6605015" y="4846320"/>
            <a:ext cx="2164080" cy="777240"/>
          </a:xfrm>
          <a:prstGeom prst="rect">
            <a:avLst/>
          </a:prstGeom>
          <a:noFill/>
        </p:spPr>
        <p:txBody>
          <a:bodyPr wrap="square" lIns="0" tIns="0" rIns="0" bIns="0" anchor="t">
            <a:spAutoFit/>
          </a:bodyPr>
          <a:lstStyle/>
          <a:p>
            <a:pPr algn="l"/>
            <a:r>
              <a:rPr sz="1400" b="0">
                <a:solidFill>
                  <a:srgbClr val="5A6170"/>
                </a:solidFill>
                <a:latin typeface="Calibri"/>
              </a:rPr>
              <a:t>anatomy, carry, convergence, costs, delivery</a:t>
            </a:r>
          </a:p>
        </p:txBody>
      </p:sp>
      <p:sp>
        <p:nvSpPr>
          <p:cNvPr id="136" name="Right Arrow 135"/>
          <p:cNvSpPr/>
          <p:nvPr/>
        </p:nvSpPr>
        <p:spPr>
          <a:xfrm>
            <a:off x="9034272" y="4114800"/>
            <a:ext cx="219456" cy="310896"/>
          </a:xfrm>
          <a:prstGeom prst="rightArrow">
            <a:avLst/>
          </a:prstGeom>
          <a:solidFill>
            <a:srgbClr val="D9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Stage Validate"/>
          <p:cNvSpPr/>
          <p:nvPr/>
        </p:nvSpPr>
        <p:spPr>
          <a:xfrm>
            <a:off x="9290303" y="2926080"/>
            <a:ext cx="2621280" cy="2743200"/>
          </a:xfrm>
          <a:prstGeom prst="roundRect">
            <a:avLst>
              <a:gd name="adj" fmla="val 6000"/>
            </a:avLst>
          </a:prstGeom>
          <a:solidFill>
            <a:srgbClr val="F6E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p:cNvSpPr/>
          <p:nvPr/>
        </p:nvSpPr>
        <p:spPr>
          <a:xfrm>
            <a:off x="9518903" y="3154680"/>
            <a:ext cx="502920" cy="50292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IBM Plex Sans"/>
              </a:rPr>
              <a:t>4</a:t>
            </a:r>
          </a:p>
        </p:txBody>
      </p:sp>
      <p:sp>
        <p:nvSpPr>
          <p:cNvPr id="139" name="TextBox 138"/>
          <p:cNvSpPr txBox="1"/>
          <p:nvPr/>
        </p:nvSpPr>
        <p:spPr>
          <a:xfrm>
            <a:off x="9518903" y="3840480"/>
            <a:ext cx="2164080" cy="411480"/>
          </a:xfrm>
          <a:prstGeom prst="rect">
            <a:avLst/>
          </a:prstGeom>
          <a:noFill/>
        </p:spPr>
        <p:txBody>
          <a:bodyPr wrap="square" lIns="0" tIns="0" rIns="0" bIns="0" anchor="t">
            <a:spAutoFit/>
          </a:bodyPr>
          <a:lstStyle/>
          <a:p>
            <a:pPr algn="l"/>
            <a:r>
              <a:rPr sz="2100" b="1">
                <a:solidFill>
                  <a:srgbClr val="1D1D1F"/>
                </a:solidFill>
                <a:latin typeface="Montserrat"/>
              </a:rPr>
              <a:t>Validate</a:t>
            </a:r>
          </a:p>
        </p:txBody>
      </p:sp>
      <p:sp>
        <p:nvSpPr>
          <p:cNvPr id="140" name="TextBox 139"/>
          <p:cNvSpPr txBox="1"/>
          <p:nvPr/>
        </p:nvSpPr>
        <p:spPr>
          <a:xfrm>
            <a:off x="9518903" y="4297680"/>
            <a:ext cx="2164080" cy="548640"/>
          </a:xfrm>
          <a:prstGeom prst="rect">
            <a:avLst/>
          </a:prstGeom>
          <a:noFill/>
        </p:spPr>
        <p:txBody>
          <a:bodyPr wrap="square" lIns="0" tIns="0" rIns="0" bIns="0" anchor="t">
            <a:spAutoFit/>
          </a:bodyPr>
          <a:lstStyle/>
          <a:p>
            <a:pPr algn="l"/>
            <a:r>
              <a:rPr sz="1500" b="1">
                <a:solidFill>
                  <a:srgbClr val="9A6A00"/>
                </a:solidFill>
                <a:latin typeface="IBM Plex Sans"/>
              </a:rPr>
              <a:t>45 tests + 7 data checks</a:t>
            </a:r>
          </a:p>
        </p:txBody>
      </p:sp>
      <p:sp>
        <p:nvSpPr>
          <p:cNvPr id="141" name="TextBox 140"/>
          <p:cNvSpPr txBox="1"/>
          <p:nvPr/>
        </p:nvSpPr>
        <p:spPr>
          <a:xfrm>
            <a:off x="9518903" y="4846320"/>
            <a:ext cx="2164080" cy="777240"/>
          </a:xfrm>
          <a:prstGeom prst="rect">
            <a:avLst/>
          </a:prstGeom>
          <a:noFill/>
        </p:spPr>
        <p:txBody>
          <a:bodyPr wrap="square" lIns="0" tIns="0" rIns="0" bIns="0" anchor="t">
            <a:spAutoFit/>
          </a:bodyPr>
          <a:lstStyle/>
          <a:p>
            <a:pPr algn="l"/>
            <a:r>
              <a:rPr sz="1400" b="0">
                <a:solidFill>
                  <a:srgbClr val="5A6170"/>
                </a:solidFill>
                <a:latin typeface="Calibri"/>
              </a:rPr>
              <a:t>walk-forward, look-ahead test; nothing ships if a check fails</a:t>
            </a:r>
          </a:p>
        </p:txBody>
      </p:sp>
      <p:sp>
        <p:nvSpPr>
          <p:cNvPr id="142" name="Right Arrow 141"/>
          <p:cNvSpPr/>
          <p:nvPr/>
        </p:nvSpPr>
        <p:spPr>
          <a:xfrm>
            <a:off x="11948159" y="4114800"/>
            <a:ext cx="219456" cy="310896"/>
          </a:xfrm>
          <a:prstGeom prst="rightArrow">
            <a:avLst/>
          </a:prstGeom>
          <a:solidFill>
            <a:srgbClr val="D9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Stage Publish"/>
          <p:cNvSpPr/>
          <p:nvPr/>
        </p:nvSpPr>
        <p:spPr>
          <a:xfrm>
            <a:off x="12204192" y="2926080"/>
            <a:ext cx="2621280" cy="274320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val 143"/>
          <p:cNvSpPr/>
          <p:nvPr/>
        </p:nvSpPr>
        <p:spPr>
          <a:xfrm>
            <a:off x="12432792" y="3154680"/>
            <a:ext cx="502920" cy="50292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IBM Plex Sans"/>
              </a:rPr>
              <a:t>5</a:t>
            </a:r>
          </a:p>
        </p:txBody>
      </p:sp>
      <p:sp>
        <p:nvSpPr>
          <p:cNvPr id="145" name="TextBox 144"/>
          <p:cNvSpPr txBox="1"/>
          <p:nvPr/>
        </p:nvSpPr>
        <p:spPr>
          <a:xfrm>
            <a:off x="12432792" y="3840480"/>
            <a:ext cx="2164080" cy="411480"/>
          </a:xfrm>
          <a:prstGeom prst="rect">
            <a:avLst/>
          </a:prstGeom>
          <a:noFill/>
        </p:spPr>
        <p:txBody>
          <a:bodyPr wrap="square" lIns="0" tIns="0" rIns="0" bIns="0" anchor="t">
            <a:spAutoFit/>
          </a:bodyPr>
          <a:lstStyle/>
          <a:p>
            <a:pPr algn="l"/>
            <a:r>
              <a:rPr sz="2100" b="1">
                <a:solidFill>
                  <a:srgbClr val="1D1D1F"/>
                </a:solidFill>
                <a:latin typeface="Montserrat"/>
              </a:rPr>
              <a:t>Publish</a:t>
            </a:r>
          </a:p>
        </p:txBody>
      </p:sp>
      <p:sp>
        <p:nvSpPr>
          <p:cNvPr id="146" name="TextBox 145"/>
          <p:cNvSpPr txBox="1"/>
          <p:nvPr/>
        </p:nvSpPr>
        <p:spPr>
          <a:xfrm>
            <a:off x="12432792" y="4297680"/>
            <a:ext cx="2164080" cy="548640"/>
          </a:xfrm>
          <a:prstGeom prst="rect">
            <a:avLst/>
          </a:prstGeom>
          <a:noFill/>
        </p:spPr>
        <p:txBody>
          <a:bodyPr wrap="square" lIns="0" tIns="0" rIns="0" bIns="0" anchor="t">
            <a:spAutoFit/>
          </a:bodyPr>
          <a:lstStyle/>
          <a:p>
            <a:pPr algn="l"/>
            <a:r>
              <a:rPr sz="1500" b="1">
                <a:solidFill>
                  <a:srgbClr val="9A6A00"/>
                </a:solidFill>
                <a:latin typeface="IBM Plex Sans"/>
              </a:rPr>
              <a:t>React + Vite, Vercel</a:t>
            </a:r>
          </a:p>
        </p:txBody>
      </p:sp>
      <p:sp>
        <p:nvSpPr>
          <p:cNvPr id="147" name="TextBox 146"/>
          <p:cNvSpPr txBox="1"/>
          <p:nvPr/>
        </p:nvSpPr>
        <p:spPr>
          <a:xfrm>
            <a:off x="12432792" y="4846320"/>
            <a:ext cx="2164080" cy="777240"/>
          </a:xfrm>
          <a:prstGeom prst="rect">
            <a:avLst/>
          </a:prstGeom>
          <a:noFill/>
        </p:spPr>
        <p:txBody>
          <a:bodyPr wrap="square" lIns="0" tIns="0" rIns="0" bIns="0" anchor="t">
            <a:spAutoFit/>
          </a:bodyPr>
          <a:lstStyle/>
          <a:p>
            <a:pPr algn="l"/>
            <a:r>
              <a:rPr sz="1400" b="0">
                <a:solidFill>
                  <a:srgbClr val="5A6170"/>
                </a:solidFill>
                <a:latin typeface="Calibri"/>
              </a:rPr>
              <a:t>JSON export to a static site; the chooser runs in the browser</a:t>
            </a:r>
          </a:p>
        </p:txBody>
      </p:sp>
      <p:sp>
        <p:nvSpPr>
          <p:cNvPr id="148" name="Right Arrow 147"/>
          <p:cNvSpPr/>
          <p:nvPr/>
        </p:nvSpPr>
        <p:spPr>
          <a:xfrm>
            <a:off x="14862047" y="4114800"/>
            <a:ext cx="219456" cy="310896"/>
          </a:xfrm>
          <a:prstGeom prst="rightArrow">
            <a:avLst/>
          </a:prstGeom>
          <a:solidFill>
            <a:srgbClr val="D9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Stage Refresh"/>
          <p:cNvSpPr/>
          <p:nvPr/>
        </p:nvSpPr>
        <p:spPr>
          <a:xfrm>
            <a:off x="15118080" y="2926080"/>
            <a:ext cx="2621280" cy="274320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Oval 149"/>
          <p:cNvSpPr/>
          <p:nvPr/>
        </p:nvSpPr>
        <p:spPr>
          <a:xfrm>
            <a:off x="15346680" y="3154680"/>
            <a:ext cx="502920" cy="50292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IBM Plex Sans"/>
              </a:rPr>
              <a:t>6</a:t>
            </a:r>
          </a:p>
        </p:txBody>
      </p:sp>
      <p:sp>
        <p:nvSpPr>
          <p:cNvPr id="151" name="TextBox 150"/>
          <p:cNvSpPr txBox="1"/>
          <p:nvPr/>
        </p:nvSpPr>
        <p:spPr>
          <a:xfrm>
            <a:off x="15346680" y="3840480"/>
            <a:ext cx="2164080" cy="411480"/>
          </a:xfrm>
          <a:prstGeom prst="rect">
            <a:avLst/>
          </a:prstGeom>
          <a:noFill/>
        </p:spPr>
        <p:txBody>
          <a:bodyPr wrap="square" lIns="0" tIns="0" rIns="0" bIns="0" anchor="t">
            <a:spAutoFit/>
          </a:bodyPr>
          <a:lstStyle/>
          <a:p>
            <a:pPr algn="l"/>
            <a:r>
              <a:rPr sz="2100" b="1">
                <a:solidFill>
                  <a:srgbClr val="1D1D1F"/>
                </a:solidFill>
                <a:latin typeface="Montserrat"/>
              </a:rPr>
              <a:t>Refresh</a:t>
            </a:r>
          </a:p>
        </p:txBody>
      </p:sp>
      <p:sp>
        <p:nvSpPr>
          <p:cNvPr id="152" name="TextBox 151"/>
          <p:cNvSpPr txBox="1"/>
          <p:nvPr/>
        </p:nvSpPr>
        <p:spPr>
          <a:xfrm>
            <a:off x="15346680" y="4297680"/>
            <a:ext cx="2164080" cy="548640"/>
          </a:xfrm>
          <a:prstGeom prst="rect">
            <a:avLst/>
          </a:prstGeom>
          <a:noFill/>
        </p:spPr>
        <p:txBody>
          <a:bodyPr wrap="square" lIns="0" tIns="0" rIns="0" bIns="0" anchor="t">
            <a:spAutoFit/>
          </a:bodyPr>
          <a:lstStyle/>
          <a:p>
            <a:pPr algn="l"/>
            <a:r>
              <a:rPr sz="1500" b="1">
                <a:solidFill>
                  <a:srgbClr val="9A6A00"/>
                </a:solidFill>
                <a:latin typeface="IBM Plex Sans"/>
              </a:rPr>
              <a:t>python -m tola.refresh</a:t>
            </a:r>
          </a:p>
        </p:txBody>
      </p:sp>
      <p:sp>
        <p:nvSpPr>
          <p:cNvPr id="153" name="TextBox 152"/>
          <p:cNvSpPr txBox="1"/>
          <p:nvPr/>
        </p:nvSpPr>
        <p:spPr>
          <a:xfrm>
            <a:off x="15346680" y="4846320"/>
            <a:ext cx="2164080" cy="777240"/>
          </a:xfrm>
          <a:prstGeom prst="rect">
            <a:avLst/>
          </a:prstGeom>
          <a:noFill/>
        </p:spPr>
        <p:txBody>
          <a:bodyPr wrap="square" lIns="0" tIns="0" rIns="0" bIns="0" anchor="t">
            <a:spAutoFit/>
          </a:bodyPr>
          <a:lstStyle/>
          <a:p>
            <a:pPr algn="l"/>
            <a:r>
              <a:rPr sz="1400" b="0">
                <a:solidFill>
                  <a:srgbClr val="5A6170"/>
                </a:solidFill>
                <a:latin typeface="Calibri"/>
              </a:rPr>
              <a:t>about 37 MCX calls a day; rebuilds and re-exports</a:t>
            </a:r>
          </a:p>
        </p:txBody>
      </p:sp>
      <p:sp>
        <p:nvSpPr>
          <p:cNvPr id="154" name="APIs"/>
          <p:cNvSpPr/>
          <p:nvPr/>
        </p:nvSpPr>
        <p:spPr>
          <a:xfrm>
            <a:off x="548640" y="6035040"/>
            <a:ext cx="10332720" cy="342900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Box 154"/>
          <p:cNvSpPr txBox="1"/>
          <p:nvPr/>
        </p:nvSpPr>
        <p:spPr>
          <a:xfrm>
            <a:off x="822960" y="6263640"/>
            <a:ext cx="9784080" cy="411480"/>
          </a:xfrm>
          <a:prstGeom prst="rect">
            <a:avLst/>
          </a:prstGeom>
          <a:noFill/>
        </p:spPr>
        <p:txBody>
          <a:bodyPr wrap="square" lIns="0" tIns="0" rIns="0" bIns="0" anchor="t">
            <a:spAutoFit/>
          </a:bodyPr>
          <a:lstStyle/>
          <a:p>
            <a:pPr algn="l"/>
            <a:r>
              <a:rPr sz="2000" b="1">
                <a:solidFill>
                  <a:srgbClr val="9A6A00"/>
                </a:solidFill>
                <a:latin typeface="Montserrat"/>
              </a:rPr>
              <a:t>MCX APIs used (public, no key)</a:t>
            </a:r>
          </a:p>
        </p:txBody>
      </p:sp>
      <p:sp>
        <p:nvSpPr>
          <p:cNvPr id="156" name="TextBox 155"/>
          <p:cNvSpPr txBox="1"/>
          <p:nvPr/>
        </p:nvSpPr>
        <p:spPr>
          <a:xfrm>
            <a:off x="822960" y="6858000"/>
            <a:ext cx="9784080" cy="731520"/>
          </a:xfrm>
          <a:prstGeom prst="rect">
            <a:avLst/>
          </a:prstGeom>
          <a:noFill/>
        </p:spPr>
        <p:txBody>
          <a:bodyPr wrap="square" lIns="0" tIns="0" rIns="0" bIns="0" anchor="t">
            <a:spAutoFit/>
          </a:bodyPr>
          <a:lstStyle/>
          <a:p>
            <a:pPr algn="l"/>
            <a:r>
              <a:rPr sz="1700" b="1">
                <a:solidFill>
                  <a:srgbClr val="1D1D1F"/>
                </a:solidFill>
                <a:latin typeface="IBM Plex Sans"/>
              </a:rPr>
              <a:t>Date-wise bhavcopy</a:t>
            </a:r>
          </a:p>
          <a:p>
            <a:pPr algn="l"/>
            <a:r>
              <a:rPr sz="1400" b="0">
                <a:solidFill>
                  <a:srgbClr val="5A6170"/>
                </a:solidFill>
                <a:latin typeface="Calibri"/>
              </a:rPr>
              <a:t>GET /market-data/bhavcopy/GetDateWiseBhavCopy</a:t>
            </a:r>
          </a:p>
        </p:txBody>
      </p:sp>
      <p:sp>
        <p:nvSpPr>
          <p:cNvPr id="157" name="TextBox 156"/>
          <p:cNvSpPr txBox="1"/>
          <p:nvPr/>
        </p:nvSpPr>
        <p:spPr>
          <a:xfrm>
            <a:off x="822960" y="7680960"/>
            <a:ext cx="9784080" cy="731520"/>
          </a:xfrm>
          <a:prstGeom prst="rect">
            <a:avLst/>
          </a:prstGeom>
          <a:noFill/>
        </p:spPr>
        <p:txBody>
          <a:bodyPr wrap="square" lIns="0" tIns="0" rIns="0" bIns="0" anchor="t">
            <a:spAutoFit/>
          </a:bodyPr>
          <a:lstStyle/>
          <a:p>
            <a:pPr algn="l"/>
            <a:r>
              <a:rPr sz="1700" b="1">
                <a:solidFill>
                  <a:srgbClr val="1D1D1F"/>
                </a:solidFill>
                <a:latin typeface="IBM Plex Sans"/>
              </a:rPr>
              <a:t>Contract-wise bhavcopy</a:t>
            </a:r>
          </a:p>
          <a:p>
            <a:pPr algn="l"/>
            <a:r>
              <a:rPr sz="1400" b="0">
                <a:solidFill>
                  <a:srgbClr val="5A6170"/>
                </a:solidFill>
                <a:latin typeface="Calibri"/>
              </a:rPr>
              <a:t>GET /market-data/bhavcopy/GetCommoditywiseBhavCopy</a:t>
            </a:r>
          </a:p>
        </p:txBody>
      </p:sp>
      <p:sp>
        <p:nvSpPr>
          <p:cNvPr id="158" name="TextBox 157"/>
          <p:cNvSpPr txBox="1"/>
          <p:nvPr/>
        </p:nvSpPr>
        <p:spPr>
          <a:xfrm>
            <a:off x="822960" y="8503920"/>
            <a:ext cx="9784080" cy="731520"/>
          </a:xfrm>
          <a:prstGeom prst="rect">
            <a:avLst/>
          </a:prstGeom>
          <a:noFill/>
        </p:spPr>
        <p:txBody>
          <a:bodyPr wrap="square" lIns="0" tIns="0" rIns="0" bIns="0" anchor="t">
            <a:spAutoFit/>
          </a:bodyPr>
          <a:lstStyle/>
          <a:p>
            <a:pPr algn="l"/>
            <a:r>
              <a:rPr sz="1700" b="1">
                <a:solidFill>
                  <a:srgbClr val="1D1D1F"/>
                </a:solidFill>
                <a:latin typeface="IBM Plex Sans"/>
              </a:rPr>
              <a:t>Polled spot archive</a:t>
            </a:r>
          </a:p>
          <a:p>
            <a:pPr algn="l"/>
            <a:r>
              <a:rPr sz="1400" b="0">
                <a:solidFill>
                  <a:srgbClr val="5A6170"/>
                </a:solidFill>
                <a:latin typeface="Calibri"/>
              </a:rPr>
              <a:t>GET /GetSpotMarketArchive  (the settlement reference)</a:t>
            </a:r>
          </a:p>
        </p:txBody>
      </p:sp>
      <p:sp>
        <p:nvSpPr>
          <p:cNvPr id="159" name="Engineering note"/>
          <p:cNvSpPr/>
          <p:nvPr/>
        </p:nvSpPr>
        <p:spPr>
          <a:xfrm>
            <a:off x="11155680" y="6035040"/>
            <a:ext cx="6583680" cy="3429000"/>
          </a:xfrm>
          <a:prstGeom prst="roundRect">
            <a:avLst>
              <a:gd name="adj" fmla="val 6000"/>
            </a:avLst>
          </a:prstGeom>
          <a:solidFill>
            <a:srgbClr val="F6E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159"/>
          <p:cNvSpPr txBox="1"/>
          <p:nvPr/>
        </p:nvSpPr>
        <p:spPr>
          <a:xfrm>
            <a:off x="11430000" y="6263640"/>
            <a:ext cx="6035040" cy="411480"/>
          </a:xfrm>
          <a:prstGeom prst="rect">
            <a:avLst/>
          </a:prstGeom>
          <a:noFill/>
        </p:spPr>
        <p:txBody>
          <a:bodyPr wrap="square" lIns="0" tIns="0" rIns="0" bIns="0" anchor="t">
            <a:spAutoFit/>
          </a:bodyPr>
          <a:lstStyle/>
          <a:p>
            <a:pPr algn="l"/>
            <a:r>
              <a:rPr sz="2000" b="1">
                <a:solidFill>
                  <a:srgbClr val="9A6A00"/>
                </a:solidFill>
                <a:latin typeface="Montserrat"/>
              </a:rPr>
              <a:t>Getting past the bot wall</a:t>
            </a:r>
          </a:p>
        </p:txBody>
      </p:sp>
      <p:sp>
        <p:nvSpPr>
          <p:cNvPr id="161" name="TextBox 160"/>
          <p:cNvSpPr txBox="1"/>
          <p:nvPr/>
        </p:nvSpPr>
        <p:spPr>
          <a:xfrm>
            <a:off x="11430000" y="6812280"/>
            <a:ext cx="6035040" cy="2560320"/>
          </a:xfrm>
          <a:prstGeom prst="rect">
            <a:avLst/>
          </a:prstGeom>
          <a:noFill/>
        </p:spPr>
        <p:txBody>
          <a:bodyPr wrap="square" lIns="0" tIns="0" rIns="0" bIns="0" anchor="t">
            <a:spAutoFit/>
          </a:bodyPr>
          <a:lstStyle/>
          <a:p>
            <a:pPr algn="l">
              <a:spcAft>
                <a:spcPts val="600"/>
              </a:spcAft>
            </a:pPr>
            <a:r>
              <a:rPr sz="1600" b="0">
                <a:solidFill>
                  <a:srgbClr val="1D1D1F"/>
                </a:solidFill>
                <a:latin typeface="Calibri"/>
              </a:rPr>
              <a:t>Akamai returns HTTP 403 to scripted clients. A Chrome-TLS client (curl_cffi) gets through, and every response is cached.</a:t>
            </a:r>
          </a:p>
          <a:p>
            <a:pPr algn="l">
              <a:spcAft>
                <a:spcPts val="600"/>
              </a:spcAft>
            </a:pPr>
            <a:r>
              <a:rPr sz="1600" b="0">
                <a:solidFill>
                  <a:srgbClr val="1D1D1F"/>
                </a:solidFill>
                <a:latin typeface="Calibri"/>
              </a:rPr>
              <a:t>The endpoints older libraries use are dead; we traced the live ones from MCX’s own page scripts.</a:t>
            </a:r>
          </a:p>
          <a:p>
            <a:pPr algn="l">
              <a:spcAft>
                <a:spcPts val="600"/>
              </a:spcAft>
            </a:pPr>
            <a:r>
              <a:rPr sz="1600" b="1">
                <a:solidFill>
                  <a:srgbClr val="1D1D1F"/>
                </a:solidFill>
                <a:latin typeface="Calibri"/>
              </a:rPr>
              <a:t>Full 2020–2026 backfill: 260 requests.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143" name="Google Shape;143;p19"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144" name="Section label"/>
          <p:cNvSpPr txBox="1"/>
          <p:nvPr/>
        </p:nvSpPr>
        <p:spPr>
          <a:xfrm>
            <a:off x="548640" y="1444752"/>
            <a:ext cx="17190720" cy="365760"/>
          </a:xfrm>
          <a:prstGeom prst="rect">
            <a:avLst/>
          </a:prstGeom>
          <a:noFill/>
        </p:spPr>
        <p:txBody>
          <a:bodyPr wrap="square" lIns="0" tIns="0" rIns="0" bIns="0" anchor="t">
            <a:spAutoFit/>
          </a:bodyPr>
          <a:lstStyle/>
          <a:p>
            <a:pPr algn="l"/>
            <a:r>
              <a:rPr sz="1700" b="1">
                <a:solidFill>
                  <a:srgbClr val="9A6A00"/>
                </a:solidFill>
                <a:latin typeface="Montserrat"/>
              </a:rPr>
              <a:t>EVIDENCE &amp; VALIDATION</a:t>
            </a:r>
          </a:p>
        </p:txBody>
      </p:sp>
      <p:sp>
        <p:nvSpPr>
          <p:cNvPr id="145" name="Title"/>
          <p:cNvSpPr txBox="1"/>
          <p:nvPr/>
        </p:nvSpPr>
        <p:spPr>
          <a:xfrm>
            <a:off x="548640" y="1847088"/>
            <a:ext cx="17190720" cy="731520"/>
          </a:xfrm>
          <a:prstGeom prst="rect">
            <a:avLst/>
          </a:prstGeom>
          <a:noFill/>
        </p:spPr>
        <p:txBody>
          <a:bodyPr wrap="square" lIns="0" tIns="0" rIns="0" bIns="0" anchor="t">
            <a:spAutoFit/>
          </a:bodyPr>
          <a:lstStyle/>
          <a:p>
            <a:pPr algn="l"/>
            <a:r>
              <a:rPr sz="3600" b="1">
                <a:solidFill>
                  <a:srgbClr val="000000"/>
                </a:solidFill>
                <a:latin typeface="Montserrat"/>
              </a:rPr>
              <a:t>A test we could have failed, and didn’t</a:t>
            </a:r>
          </a:p>
        </p:txBody>
      </p:sp>
      <p:graphicFrame>
        <p:nvGraphicFramePr>
          <p:cNvPr id="146" name="G0 table"/>
          <p:cNvGraphicFramePr>
            <a:graphicFrameLocks noGrp="1"/>
          </p:cNvGraphicFramePr>
          <p:nvPr/>
        </p:nvGraphicFramePr>
        <p:xfrm>
          <a:off x="548640" y="2926080"/>
          <a:ext cx="10607040" cy="365760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731520">
                <a:tc>
                  <a:txBody>
                    <a:bodyPr/>
                    <a:lstStyle/>
                    <a:p>
                      <a:pPr algn="l"/>
                      <a:r>
                        <a:rPr sz="1600" b="1">
                          <a:solidFill>
                            <a:srgbClr val="1D1D1F"/>
                          </a:solidFill>
                          <a:latin typeface="IBM Plex Sans"/>
                        </a:rPr>
                        <a:t>Price mark</a:t>
                      </a:r>
                    </a:p>
                  </a:txBody>
                  <a:tcPr marL="137160" marR="137160" anchor="ctr">
                    <a:solidFill>
                      <a:srgbClr val="F6EDD9"/>
                    </a:solidFill>
                  </a:tcPr>
                </a:tc>
                <a:tc>
                  <a:txBody>
                    <a:bodyPr/>
                    <a:lstStyle/>
                    <a:p>
                      <a:pPr algn="r"/>
                      <a:r>
                        <a:rPr sz="1600" b="1">
                          <a:solidFill>
                            <a:srgbClr val="1D1D1F"/>
                          </a:solidFill>
                          <a:latin typeface="IBM Plex Sans"/>
                        </a:rPr>
                        <a:t>GOLDGUINEA bp</a:t>
                      </a:r>
                    </a:p>
                  </a:txBody>
                  <a:tcPr marL="137160" marR="137160" anchor="ctr">
                    <a:solidFill>
                      <a:srgbClr val="F6EDD9"/>
                    </a:solidFill>
                  </a:tcPr>
                </a:tc>
                <a:tc>
                  <a:txBody>
                    <a:bodyPr/>
                    <a:lstStyle/>
                    <a:p>
                      <a:pPr algn="r"/>
                      <a:r>
                        <a:rPr sz="1600" b="1">
                          <a:solidFill>
                            <a:srgbClr val="1D1D1F"/>
                          </a:solidFill>
                          <a:latin typeface="IBM Plex Sans"/>
                        </a:rPr>
                        <a:t>95% CI</a:t>
                      </a:r>
                    </a:p>
                  </a:txBody>
                  <a:tcPr marL="137160" marR="137160" anchor="ctr">
                    <a:solidFill>
                      <a:srgbClr val="F6EDD9"/>
                    </a:solidFill>
                  </a:tcPr>
                </a:tc>
                <a:tc>
                  <a:txBody>
                    <a:bodyPr/>
                    <a:lstStyle/>
                    <a:p>
                      <a:pPr algn="r"/>
                      <a:r>
                        <a:rPr sz="1600" b="1">
                          <a:solidFill>
                            <a:srgbClr val="1D1D1F"/>
                          </a:solidFill>
                          <a:latin typeface="IBM Plex Sans"/>
                        </a:rPr>
                        <a:t>GOLDPETAL bp</a:t>
                      </a:r>
                    </a:p>
                  </a:txBody>
                  <a:tcPr marL="137160" marR="137160" anchor="ctr">
                    <a:solidFill>
                      <a:srgbClr val="F6EDD9"/>
                    </a:solidFill>
                  </a:tcPr>
                </a:tc>
                <a:tc>
                  <a:txBody>
                    <a:bodyPr/>
                    <a:lstStyle/>
                    <a:p>
                      <a:pPr algn="r"/>
                      <a:r>
                        <a:rPr sz="1600" b="1">
                          <a:solidFill>
                            <a:srgbClr val="1D1D1F"/>
                          </a:solidFill>
                          <a:latin typeface="IBM Plex Sans"/>
                        </a:rPr>
                        <a:t>95% CI</a:t>
                      </a:r>
                    </a:p>
                  </a:txBody>
                  <a:tcPr marL="137160" marR="137160" anchor="ctr">
                    <a:solidFill>
                      <a:srgbClr val="F6EDD9"/>
                    </a:solidFill>
                  </a:tcPr>
                </a:tc>
                <a:extLst>
                  <a:ext uri="{0D108BD9-81ED-4DB2-BD59-A6C34878D82A}">
                    <a16:rowId xmlns:a16="http://schemas.microsoft.com/office/drawing/2014/main" val="10000"/>
                  </a:ext>
                </a:extLst>
              </a:tr>
              <a:tr h="731520">
                <a:tc>
                  <a:txBody>
                    <a:bodyPr/>
                    <a:lstStyle/>
                    <a:p>
                      <a:pPr algn="l"/>
                      <a:r>
                        <a:rPr sz="1800" b="0">
                          <a:solidFill>
                            <a:srgbClr val="1D1D1F"/>
                          </a:solidFill>
                          <a:latin typeface="Calibri"/>
                        </a:rPr>
                        <a:t>Close</a:t>
                      </a:r>
                    </a:p>
                  </a:txBody>
                  <a:tcPr marL="137160" marR="137160" anchor="ctr">
                    <a:solidFill>
                      <a:srgbClr val="F3F4F7"/>
                    </a:solidFill>
                  </a:tcPr>
                </a:tc>
                <a:tc>
                  <a:txBody>
                    <a:bodyPr/>
                    <a:lstStyle/>
                    <a:p>
                      <a:pPr algn="r"/>
                      <a:r>
                        <a:rPr sz="1800" b="1">
                          <a:solidFill>
                            <a:srgbClr val="1D1D1F"/>
                          </a:solidFill>
                          <a:latin typeface="IBM Plex Sans"/>
                        </a:rPr>
                        <a:t>+78.9</a:t>
                      </a:r>
                    </a:p>
                  </a:txBody>
                  <a:tcPr marL="137160" marR="137160" anchor="ctr">
                    <a:solidFill>
                      <a:srgbClr val="F3F4F7"/>
                    </a:solidFill>
                  </a:tcPr>
                </a:tc>
                <a:tc>
                  <a:txBody>
                    <a:bodyPr/>
                    <a:lstStyle/>
                    <a:p>
                      <a:pPr algn="r"/>
                      <a:r>
                        <a:rPr sz="1800" b="0">
                          <a:solidFill>
                            <a:srgbClr val="1D1D1F"/>
                          </a:solidFill>
                          <a:latin typeface="Calibri"/>
                        </a:rPr>
                        <a:t>61.6 – 98.0</a:t>
                      </a:r>
                    </a:p>
                  </a:txBody>
                  <a:tcPr marL="137160" marR="137160" anchor="ctr">
                    <a:solidFill>
                      <a:srgbClr val="F3F4F7"/>
                    </a:solidFill>
                  </a:tcPr>
                </a:tc>
                <a:tc>
                  <a:txBody>
                    <a:bodyPr/>
                    <a:lstStyle/>
                    <a:p>
                      <a:pPr algn="r"/>
                      <a:r>
                        <a:rPr sz="1800" b="1">
                          <a:solidFill>
                            <a:srgbClr val="1D1D1F"/>
                          </a:solidFill>
                          <a:latin typeface="IBM Plex Sans"/>
                        </a:rPr>
                        <a:t>+94.6</a:t>
                      </a:r>
                    </a:p>
                  </a:txBody>
                  <a:tcPr marL="137160" marR="137160" anchor="ctr">
                    <a:solidFill>
                      <a:srgbClr val="F3F4F7"/>
                    </a:solidFill>
                  </a:tcPr>
                </a:tc>
                <a:tc>
                  <a:txBody>
                    <a:bodyPr/>
                    <a:lstStyle/>
                    <a:p>
                      <a:pPr algn="r"/>
                      <a:r>
                        <a:rPr sz="1800" b="0">
                          <a:solidFill>
                            <a:srgbClr val="1D1D1F"/>
                          </a:solidFill>
                          <a:latin typeface="Calibri"/>
                        </a:rPr>
                        <a:t>80.6 – 109.8</a:t>
                      </a:r>
                    </a:p>
                  </a:txBody>
                  <a:tcPr marL="137160" marR="137160" anchor="ctr">
                    <a:solidFill>
                      <a:srgbClr val="F3F4F7"/>
                    </a:solidFill>
                  </a:tcPr>
                </a:tc>
                <a:extLst>
                  <a:ext uri="{0D108BD9-81ED-4DB2-BD59-A6C34878D82A}">
                    <a16:rowId xmlns:a16="http://schemas.microsoft.com/office/drawing/2014/main" val="10001"/>
                  </a:ext>
                </a:extLst>
              </a:tr>
              <a:tr h="731520">
                <a:tc>
                  <a:txBody>
                    <a:bodyPr/>
                    <a:lstStyle/>
                    <a:p>
                      <a:pPr algn="l"/>
                      <a:r>
                        <a:rPr sz="1800" b="0">
                          <a:solidFill>
                            <a:srgbClr val="1D1D1F"/>
                          </a:solidFill>
                          <a:latin typeface="Calibri"/>
                        </a:rPr>
                        <a:t>Open</a:t>
                      </a:r>
                    </a:p>
                  </a:txBody>
                  <a:tcPr marL="137160" marR="137160" anchor="ctr">
                    <a:solidFill>
                      <a:srgbClr val="FFFFFF"/>
                    </a:solidFill>
                  </a:tcPr>
                </a:tc>
                <a:tc>
                  <a:txBody>
                    <a:bodyPr/>
                    <a:lstStyle/>
                    <a:p>
                      <a:pPr algn="r"/>
                      <a:r>
                        <a:rPr sz="1800" b="1">
                          <a:solidFill>
                            <a:srgbClr val="1D1D1F"/>
                          </a:solidFill>
                          <a:latin typeface="IBM Plex Sans"/>
                        </a:rPr>
                        <a:t>+81.8</a:t>
                      </a:r>
                    </a:p>
                  </a:txBody>
                  <a:tcPr marL="137160" marR="137160" anchor="ctr">
                    <a:solidFill>
                      <a:srgbClr val="FFFFFF"/>
                    </a:solidFill>
                  </a:tcPr>
                </a:tc>
                <a:tc>
                  <a:txBody>
                    <a:bodyPr/>
                    <a:lstStyle/>
                    <a:p>
                      <a:pPr algn="r"/>
                      <a:r>
                        <a:rPr sz="1800" b="0">
                          <a:solidFill>
                            <a:srgbClr val="1D1D1F"/>
                          </a:solidFill>
                          <a:latin typeface="Calibri"/>
                        </a:rPr>
                        <a:t>65.6 – 99.3</a:t>
                      </a:r>
                    </a:p>
                  </a:txBody>
                  <a:tcPr marL="137160" marR="137160" anchor="ctr">
                    <a:solidFill>
                      <a:srgbClr val="FFFFFF"/>
                    </a:solidFill>
                  </a:tcPr>
                </a:tc>
                <a:tc>
                  <a:txBody>
                    <a:bodyPr/>
                    <a:lstStyle/>
                    <a:p>
                      <a:pPr algn="r"/>
                      <a:r>
                        <a:rPr sz="1800" b="1">
                          <a:solidFill>
                            <a:srgbClr val="1D1D1F"/>
                          </a:solidFill>
                          <a:latin typeface="IBM Plex Sans"/>
                        </a:rPr>
                        <a:t>+92.9</a:t>
                      </a:r>
                    </a:p>
                  </a:txBody>
                  <a:tcPr marL="137160" marR="137160" anchor="ctr">
                    <a:solidFill>
                      <a:srgbClr val="FFFFFF"/>
                    </a:solidFill>
                  </a:tcPr>
                </a:tc>
                <a:tc>
                  <a:txBody>
                    <a:bodyPr/>
                    <a:lstStyle/>
                    <a:p>
                      <a:pPr algn="r"/>
                      <a:r>
                        <a:rPr sz="1800" b="0">
                          <a:solidFill>
                            <a:srgbClr val="1D1D1F"/>
                          </a:solidFill>
                          <a:latin typeface="Calibri"/>
                        </a:rPr>
                        <a:t>80.3 – 106.5</a:t>
                      </a:r>
                    </a:p>
                  </a:txBody>
                  <a:tcPr marL="137160" marR="137160" anchor="ctr">
                    <a:solidFill>
                      <a:srgbClr val="FFFFFF"/>
                    </a:solidFill>
                  </a:tcPr>
                </a:tc>
                <a:extLst>
                  <a:ext uri="{0D108BD9-81ED-4DB2-BD59-A6C34878D82A}">
                    <a16:rowId xmlns:a16="http://schemas.microsoft.com/office/drawing/2014/main" val="10002"/>
                  </a:ext>
                </a:extLst>
              </a:tr>
              <a:tr h="731520">
                <a:tc>
                  <a:txBody>
                    <a:bodyPr/>
                    <a:lstStyle/>
                    <a:p>
                      <a:pPr algn="l"/>
                      <a:r>
                        <a:rPr sz="1800" b="0">
                          <a:solidFill>
                            <a:srgbClr val="1D1D1F"/>
                          </a:solidFill>
                          <a:latin typeface="Calibri"/>
                        </a:rPr>
                        <a:t>(High+Low)/2</a:t>
                      </a:r>
                    </a:p>
                  </a:txBody>
                  <a:tcPr marL="137160" marR="137160" anchor="ctr">
                    <a:solidFill>
                      <a:srgbClr val="F3F4F7"/>
                    </a:solidFill>
                  </a:tcPr>
                </a:tc>
                <a:tc>
                  <a:txBody>
                    <a:bodyPr/>
                    <a:lstStyle/>
                    <a:p>
                      <a:pPr algn="r"/>
                      <a:r>
                        <a:rPr sz="1800" b="1">
                          <a:solidFill>
                            <a:srgbClr val="1D1D1F"/>
                          </a:solidFill>
                          <a:latin typeface="IBM Plex Sans"/>
                        </a:rPr>
                        <a:t>+78.7</a:t>
                      </a:r>
                    </a:p>
                  </a:txBody>
                  <a:tcPr marL="137160" marR="137160" anchor="ctr">
                    <a:solidFill>
                      <a:srgbClr val="F3F4F7"/>
                    </a:solidFill>
                  </a:tcPr>
                </a:tc>
                <a:tc>
                  <a:txBody>
                    <a:bodyPr/>
                    <a:lstStyle/>
                    <a:p>
                      <a:pPr algn="r"/>
                      <a:r>
                        <a:rPr sz="1800" b="0">
                          <a:solidFill>
                            <a:srgbClr val="1D1D1F"/>
                          </a:solidFill>
                          <a:latin typeface="Calibri"/>
                        </a:rPr>
                        <a:t>60.6 – 97.4</a:t>
                      </a:r>
                    </a:p>
                  </a:txBody>
                  <a:tcPr marL="137160" marR="137160" anchor="ctr">
                    <a:solidFill>
                      <a:srgbClr val="F3F4F7"/>
                    </a:solidFill>
                  </a:tcPr>
                </a:tc>
                <a:tc>
                  <a:txBody>
                    <a:bodyPr/>
                    <a:lstStyle/>
                    <a:p>
                      <a:pPr algn="r"/>
                      <a:r>
                        <a:rPr sz="1800" b="1">
                          <a:solidFill>
                            <a:srgbClr val="1D1D1F"/>
                          </a:solidFill>
                          <a:latin typeface="IBM Plex Sans"/>
                        </a:rPr>
                        <a:t>+93.2</a:t>
                      </a:r>
                    </a:p>
                  </a:txBody>
                  <a:tcPr marL="137160" marR="137160" anchor="ctr">
                    <a:solidFill>
                      <a:srgbClr val="F3F4F7"/>
                    </a:solidFill>
                  </a:tcPr>
                </a:tc>
                <a:tc>
                  <a:txBody>
                    <a:bodyPr/>
                    <a:lstStyle/>
                    <a:p>
                      <a:pPr algn="r"/>
                      <a:r>
                        <a:rPr sz="1800" b="0">
                          <a:solidFill>
                            <a:srgbClr val="1D1D1F"/>
                          </a:solidFill>
                          <a:latin typeface="Calibri"/>
                        </a:rPr>
                        <a:t>79.5 – 107.8</a:t>
                      </a:r>
                    </a:p>
                  </a:txBody>
                  <a:tcPr marL="137160" marR="137160" anchor="ctr">
                    <a:solidFill>
                      <a:srgbClr val="F3F4F7"/>
                    </a:solidFill>
                  </a:tcPr>
                </a:tc>
                <a:extLst>
                  <a:ext uri="{0D108BD9-81ED-4DB2-BD59-A6C34878D82A}">
                    <a16:rowId xmlns:a16="http://schemas.microsoft.com/office/drawing/2014/main" val="10003"/>
                  </a:ext>
                </a:extLst>
              </a:tr>
              <a:tr h="731520">
                <a:tc>
                  <a:txBody>
                    <a:bodyPr/>
                    <a:lstStyle/>
                    <a:p>
                      <a:pPr algn="l"/>
                      <a:r>
                        <a:rPr sz="1800" b="1">
                          <a:solidFill>
                            <a:srgbClr val="1D1D1F"/>
                          </a:solidFill>
                          <a:latin typeface="IBM Plex Sans"/>
                        </a:rPr>
                        <a:t>VWAP</a:t>
                      </a:r>
                    </a:p>
                  </a:txBody>
                  <a:tcPr marL="137160" marR="137160" anchor="ctr">
                    <a:solidFill>
                      <a:srgbClr val="FFFFFF"/>
                    </a:solidFill>
                  </a:tcPr>
                </a:tc>
                <a:tc>
                  <a:txBody>
                    <a:bodyPr/>
                    <a:lstStyle/>
                    <a:p>
                      <a:pPr algn="r"/>
                      <a:r>
                        <a:rPr sz="1800" b="1">
                          <a:solidFill>
                            <a:srgbClr val="1D1D1F"/>
                          </a:solidFill>
                          <a:latin typeface="IBM Plex Sans"/>
                        </a:rPr>
                        <a:t>+78.7</a:t>
                      </a:r>
                    </a:p>
                  </a:txBody>
                  <a:tcPr marL="137160" marR="137160" anchor="ctr">
                    <a:solidFill>
                      <a:srgbClr val="FFFFFF"/>
                    </a:solidFill>
                  </a:tcPr>
                </a:tc>
                <a:tc>
                  <a:txBody>
                    <a:bodyPr/>
                    <a:lstStyle/>
                    <a:p>
                      <a:pPr algn="r"/>
                      <a:r>
                        <a:rPr sz="1800" b="1">
                          <a:solidFill>
                            <a:srgbClr val="1D1D1F"/>
                          </a:solidFill>
                          <a:latin typeface="Calibri"/>
                        </a:rPr>
                        <a:t>61.0 – 97.4</a:t>
                      </a:r>
                    </a:p>
                  </a:txBody>
                  <a:tcPr marL="137160" marR="137160" anchor="ctr">
                    <a:solidFill>
                      <a:srgbClr val="FFFFFF"/>
                    </a:solidFill>
                  </a:tcPr>
                </a:tc>
                <a:tc>
                  <a:txBody>
                    <a:bodyPr/>
                    <a:lstStyle/>
                    <a:p>
                      <a:pPr algn="r"/>
                      <a:r>
                        <a:rPr sz="1800" b="1">
                          <a:solidFill>
                            <a:srgbClr val="1D1D1F"/>
                          </a:solidFill>
                          <a:latin typeface="IBM Plex Sans"/>
                        </a:rPr>
                        <a:t>+94.1</a:t>
                      </a:r>
                    </a:p>
                  </a:txBody>
                  <a:tcPr marL="137160" marR="137160" anchor="ctr">
                    <a:solidFill>
                      <a:srgbClr val="FFFFFF"/>
                    </a:solidFill>
                  </a:tcPr>
                </a:tc>
                <a:tc>
                  <a:txBody>
                    <a:bodyPr/>
                    <a:lstStyle/>
                    <a:p>
                      <a:pPr algn="r"/>
                      <a:r>
                        <a:rPr sz="1800" b="1">
                          <a:solidFill>
                            <a:srgbClr val="1D1D1F"/>
                          </a:solidFill>
                          <a:latin typeface="Calibri"/>
                        </a:rPr>
                        <a:t>80.4 – 108.8</a:t>
                      </a:r>
                    </a:p>
                  </a:txBody>
                  <a:tcPr marL="137160" marR="137160" anchor="ctr">
                    <a:solidFill>
                      <a:srgbClr val="FFFFFF"/>
                    </a:solidFill>
                  </a:tcPr>
                </a:tc>
                <a:extLst>
                  <a:ext uri="{0D108BD9-81ED-4DB2-BD59-A6C34878D82A}">
                    <a16:rowId xmlns:a16="http://schemas.microsoft.com/office/drawing/2014/main" val="10004"/>
                  </a:ext>
                </a:extLst>
              </a:tr>
            </a:tbl>
          </a:graphicData>
        </a:graphic>
      </p:graphicFrame>
      <p:sp>
        <p:nvSpPr>
          <p:cNvPr id="147" name="TextBox 146"/>
          <p:cNvSpPr txBox="1"/>
          <p:nvPr/>
        </p:nvSpPr>
        <p:spPr>
          <a:xfrm>
            <a:off x="548640" y="6720840"/>
            <a:ext cx="10607040" cy="411480"/>
          </a:xfrm>
          <a:prstGeom prst="rect">
            <a:avLst/>
          </a:prstGeom>
          <a:noFill/>
        </p:spPr>
        <p:txBody>
          <a:bodyPr wrap="square" lIns="0" tIns="0" rIns="0" bIns="0" anchor="t">
            <a:spAutoFit/>
          </a:bodyPr>
          <a:lstStyle/>
          <a:p>
            <a:pPr algn="l"/>
            <a:r>
              <a:rPr sz="1500" b="0">
                <a:solidFill>
                  <a:srgbClr val="5A6170"/>
                </a:solidFill>
                <a:latin typeface="Calibri"/>
              </a:rPr>
              <a:t>18 of 18 cycles positive on every mark. Bootstrap over whole cycles; pre-tender days; ≥ ₹1 Cr per leg.</a:t>
            </a:r>
          </a:p>
        </p:txBody>
      </p:sp>
      <p:sp>
        <p:nvSpPr>
          <p:cNvPr id="148" name="Sensitivity"/>
          <p:cNvSpPr/>
          <p:nvPr/>
        </p:nvSpPr>
        <p:spPr>
          <a:xfrm>
            <a:off x="548640" y="7269480"/>
            <a:ext cx="10607040" cy="219456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TextBox 148"/>
          <p:cNvSpPr txBox="1"/>
          <p:nvPr/>
        </p:nvSpPr>
        <p:spPr>
          <a:xfrm>
            <a:off x="822960" y="7452360"/>
            <a:ext cx="10058400" cy="365760"/>
          </a:xfrm>
          <a:prstGeom prst="rect">
            <a:avLst/>
          </a:prstGeom>
          <a:noFill/>
        </p:spPr>
        <p:txBody>
          <a:bodyPr wrap="square" lIns="0" tIns="0" rIns="0" bIns="0" anchor="t">
            <a:spAutoFit/>
          </a:bodyPr>
          <a:lstStyle/>
          <a:p>
            <a:pPr algn="l"/>
            <a:r>
              <a:rPr sz="1900" b="1">
                <a:solidFill>
                  <a:srgbClr val="9A6A00"/>
                </a:solidFill>
                <a:latin typeface="Montserrat"/>
              </a:rPr>
              <a:t>Holds under every sensitivity run (VWAP)</a:t>
            </a:r>
          </a:p>
        </p:txBody>
      </p:sp>
      <p:sp>
        <p:nvSpPr>
          <p:cNvPr id="150" name="TextBox 149"/>
          <p:cNvSpPr txBox="1"/>
          <p:nvPr/>
        </p:nvSpPr>
        <p:spPr>
          <a:xfrm>
            <a:off x="822960" y="7955279"/>
            <a:ext cx="10058400" cy="1463040"/>
          </a:xfrm>
          <a:prstGeom prst="rect">
            <a:avLst/>
          </a:prstGeom>
          <a:noFill/>
        </p:spPr>
        <p:txBody>
          <a:bodyPr wrap="square" lIns="0" tIns="0" rIns="0" bIns="0" anchor="t">
            <a:spAutoFit/>
          </a:bodyPr>
          <a:lstStyle/>
          <a:p>
            <a:pPr algn="l">
              <a:spcAft>
                <a:spcPts val="600"/>
              </a:spcAft>
            </a:pPr>
            <a:r>
              <a:rPr sz="1600" b="0">
                <a:solidFill>
                  <a:srgbClr val="1D1D1F"/>
                </a:solidFill>
                <a:latin typeface="Calibri"/>
              </a:rPr>
              <a:t>Turnover floor ₹0.25 Cr / ₹5 Cr:  GOLDGUINEA +79.4 / +76.7,  GOLDPETAL +94.0 / +93.7</a:t>
            </a:r>
          </a:p>
          <a:p>
            <a:pPr algn="l">
              <a:spcAft>
                <a:spcPts val="600"/>
              </a:spcAft>
            </a:pPr>
            <a:r>
              <a:rPr sz="1600" b="0">
                <a:solidFill>
                  <a:srgbClr val="1D1D1F"/>
                </a:solidFill>
                <a:latin typeface="Calibri"/>
              </a:rPr>
              <a:t>3-day tender exclusion:  +78.9 / +94.4      Without the Jan–Mar 2026 crash cycles:  +69.4 / +88.4</a:t>
            </a:r>
          </a:p>
        </p:txBody>
      </p:sp>
      <p:sp>
        <p:nvSpPr>
          <p:cNvPr id="151" name="Pre-registered"/>
          <p:cNvSpPr/>
          <p:nvPr/>
        </p:nvSpPr>
        <p:spPr>
          <a:xfrm>
            <a:off x="11521440" y="2926080"/>
            <a:ext cx="6217920" cy="1965960"/>
          </a:xfrm>
          <a:prstGeom prst="roundRect">
            <a:avLst>
              <a:gd name="adj" fmla="val 6000"/>
            </a:avLst>
          </a:prstGeom>
          <a:solidFill>
            <a:srgbClr val="F6E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151"/>
          <p:cNvSpPr txBox="1"/>
          <p:nvPr/>
        </p:nvSpPr>
        <p:spPr>
          <a:xfrm>
            <a:off x="11795760" y="3108960"/>
            <a:ext cx="5669280" cy="1691640"/>
          </a:xfrm>
          <a:prstGeom prst="rect">
            <a:avLst/>
          </a:prstGeom>
          <a:noFill/>
        </p:spPr>
        <p:txBody>
          <a:bodyPr wrap="square" lIns="0" tIns="0" rIns="0" bIns="0" anchor="t">
            <a:spAutoFit/>
          </a:bodyPr>
          <a:lstStyle/>
          <a:p>
            <a:pPr algn="l">
              <a:spcAft>
                <a:spcPts val="600"/>
              </a:spcAft>
            </a:pPr>
            <a:r>
              <a:rPr sz="1600" b="1">
                <a:solidFill>
                  <a:srgbClr val="1D1D1F"/>
                </a:solidFill>
                <a:latin typeface="IBM Plex Sans"/>
              </a:rPr>
              <a:t>Rule fixed before the data was pulled</a:t>
            </a:r>
          </a:p>
          <a:p>
            <a:pPr algn="l">
              <a:spcAft>
                <a:spcPts val="600"/>
              </a:spcAft>
            </a:pPr>
            <a:r>
              <a:rPr sz="1600" b="0">
                <a:solidFill>
                  <a:srgbClr val="1D1D1F"/>
                </a:solidFill>
                <a:latin typeface="Calibri"/>
              </a:rPr>
              <a:t>GO needed ≥ 8 cycles, and every mark ≥ +15 bp with its CI above 0 and ≥ 75% of cycles positive. Every condition passed.</a:t>
            </a:r>
          </a:p>
        </p:txBody>
      </p:sp>
      <p:sp>
        <p:nvSpPr>
          <p:cNvPr id="153" name="Settlement check"/>
          <p:cNvSpPr/>
          <p:nvPr/>
        </p:nvSpPr>
        <p:spPr>
          <a:xfrm>
            <a:off x="11521440" y="5029200"/>
            <a:ext cx="6217920" cy="196596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153"/>
          <p:cNvSpPr txBox="1"/>
          <p:nvPr/>
        </p:nvSpPr>
        <p:spPr>
          <a:xfrm>
            <a:off x="11795760" y="5212080"/>
            <a:ext cx="5669280" cy="1691640"/>
          </a:xfrm>
          <a:prstGeom prst="rect">
            <a:avLst/>
          </a:prstGeom>
          <a:noFill/>
        </p:spPr>
        <p:txBody>
          <a:bodyPr wrap="square" lIns="0" tIns="0" rIns="0" bIns="0" anchor="t">
            <a:spAutoFit/>
          </a:bodyPr>
          <a:lstStyle/>
          <a:p>
            <a:pPr algn="l">
              <a:spcAft>
                <a:spcPts val="600"/>
              </a:spcAft>
            </a:pPr>
            <a:r>
              <a:rPr sz="1600" b="1">
                <a:solidFill>
                  <a:srgbClr val="1D1D1F"/>
                </a:solidFill>
                <a:latin typeface="IBM Plex Sans"/>
              </a:rPr>
              <a:t>Same target, verified</a:t>
            </a:r>
          </a:p>
          <a:p>
            <a:pPr algn="l">
              <a:spcAft>
                <a:spcPts val="600"/>
              </a:spcAft>
            </a:pPr>
            <a:r>
              <a:rPr sz="1600" b="0">
                <a:solidFill>
                  <a:srgbClr val="1D1D1F"/>
                </a:solidFill>
                <a:latin typeface="Calibri"/>
              </a:rPr>
              <a:t>GOLDTEN = GOLDGUINEA settlement price per gram in 18/18 cycles (≤ 0.11 bp); 999/995 applied in every spec version.</a:t>
            </a:r>
          </a:p>
        </p:txBody>
      </p:sp>
      <p:sp>
        <p:nvSpPr>
          <p:cNvPr id="155" name="M4 in build"/>
          <p:cNvSpPr/>
          <p:nvPr/>
        </p:nvSpPr>
        <p:spPr>
          <a:xfrm>
            <a:off x="11521440" y="7132320"/>
            <a:ext cx="6217920" cy="2331720"/>
          </a:xfrm>
          <a:prstGeom prst="roundRect">
            <a:avLst>
              <a:gd name="adj" fmla="val 6000"/>
            </a:avLst>
          </a:prstGeom>
          <a:solidFill>
            <a:srgbClr val="F3F4F7"/>
          </a:solidFill>
          <a:ln w="19050">
            <a:solidFill>
              <a:srgbClr val="D9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11795760" y="7315200"/>
            <a:ext cx="5669280" cy="2057400"/>
          </a:xfrm>
          <a:prstGeom prst="rect">
            <a:avLst/>
          </a:prstGeom>
          <a:noFill/>
        </p:spPr>
        <p:txBody>
          <a:bodyPr wrap="square" lIns="0" tIns="0" rIns="0" bIns="0" anchor="t">
            <a:spAutoFit/>
          </a:bodyPr>
          <a:lstStyle/>
          <a:p>
            <a:pPr algn="l">
              <a:spcAft>
                <a:spcPts val="500"/>
              </a:spcAft>
            </a:pPr>
            <a:r>
              <a:rPr sz="1600" b="1">
                <a:solidFill>
                  <a:srgbClr val="1D1D1F"/>
                </a:solidFill>
                <a:latin typeface="IBM Plex Sans"/>
              </a:rPr>
              <a:t>Walk-forward verdict (M4): done</a:t>
            </a:r>
          </a:p>
          <a:p>
            <a:pPr algn="l">
              <a:spcAft>
                <a:spcPts val="500"/>
              </a:spcAft>
            </a:pPr>
            <a:r>
              <a:rPr sz="1600" b="0">
                <a:solidFill>
                  <a:srgbClr val="1D1D1F"/>
                </a:solidFill>
                <a:latin typeface="Calibri"/>
              </a:rPr>
              <a:t>Next-day fills, real charges, scored only on trades it never trained on. Holding the premium earns nothing reliable; trading its swings earned +5 to +15 bp a trade, about 90% of it in Jan–Mar 2026.</a:t>
            </a:r>
          </a:p>
          <a:p>
            <a:pPr algn="l">
              <a:spcAft>
                <a:spcPts val="500"/>
              </a:spcAft>
            </a:pPr>
            <a:r>
              <a:rPr sz="1400" b="0">
                <a:solidFill>
                  <a:srgbClr val="5A6170"/>
                </a:solidFill>
                <a:latin typeface="Calibri"/>
              </a:rPr>
              <a:t>Look-ahead truncation test passes · Deflated Sharpe · EDGE-measured costs · settlement rebuilt 145/145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4" name="Google Shape;134;p18"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135" name="Section label"/>
          <p:cNvSpPr txBox="1"/>
          <p:nvPr/>
        </p:nvSpPr>
        <p:spPr>
          <a:xfrm>
            <a:off x="548640" y="1444752"/>
            <a:ext cx="17190720" cy="365760"/>
          </a:xfrm>
          <a:prstGeom prst="rect">
            <a:avLst/>
          </a:prstGeom>
          <a:noFill/>
        </p:spPr>
        <p:txBody>
          <a:bodyPr wrap="square" lIns="0" tIns="0" rIns="0" bIns="0" anchor="t">
            <a:spAutoFit/>
          </a:bodyPr>
          <a:lstStyle/>
          <a:p>
            <a:pPr algn="l"/>
            <a:r>
              <a:rPr sz="1700" b="1">
                <a:solidFill>
                  <a:srgbClr val="9A6A00"/>
                </a:solidFill>
                <a:latin typeface="Montserrat"/>
              </a:rPr>
              <a:t>THE VERDICT (M4)</a:t>
            </a:r>
          </a:p>
        </p:txBody>
      </p:sp>
      <p:sp>
        <p:nvSpPr>
          <p:cNvPr id="136" name="Title"/>
          <p:cNvSpPr txBox="1"/>
          <p:nvPr/>
        </p:nvSpPr>
        <p:spPr>
          <a:xfrm>
            <a:off x="548640" y="1847088"/>
            <a:ext cx="17190720" cy="731520"/>
          </a:xfrm>
          <a:prstGeom prst="rect">
            <a:avLst/>
          </a:prstGeom>
          <a:noFill/>
        </p:spPr>
        <p:txBody>
          <a:bodyPr wrap="square" lIns="0" tIns="0" rIns="0" bIns="0" anchor="t">
            <a:spAutoFit/>
          </a:bodyPr>
          <a:lstStyle/>
          <a:p>
            <a:pPr algn="l"/>
            <a:r>
              <a:rPr sz="3600" b="1">
                <a:solidFill>
                  <a:srgbClr val="000000"/>
                </a:solidFill>
                <a:latin typeface="Montserrat"/>
              </a:rPr>
              <a:t>Only a coin maker can collect the premium</a:t>
            </a:r>
          </a:p>
        </p:txBody>
      </p:sp>
      <p:graphicFrame>
        <p:nvGraphicFramePr>
          <p:cNvPr id="137" name="Coin premium chart"/>
          <p:cNvGraphicFramePr>
            <a:graphicFrameLocks noGrp="1"/>
          </p:cNvGraphicFramePr>
          <p:nvPr/>
        </p:nvGraphicFramePr>
        <p:xfrm>
          <a:off x="548640" y="2880360"/>
          <a:ext cx="10241280" cy="6035040"/>
        </p:xfrm>
        <a:graphic>
          <a:graphicData uri="http://schemas.openxmlformats.org/drawingml/2006/chart">
            <c:chart xmlns:c="http://schemas.openxmlformats.org/drawingml/2006/chart" xmlns:r="http://schemas.openxmlformats.org/officeDocument/2006/relationships" r:id="rId4"/>
          </a:graphicData>
        </a:graphic>
      </p:graphicFrame>
      <p:sp>
        <p:nvSpPr>
          <p:cNvPr id="138" name="Chart source"/>
          <p:cNvSpPr txBox="1"/>
          <p:nvPr/>
        </p:nvSpPr>
        <p:spPr>
          <a:xfrm>
            <a:off x="548640" y="9098280"/>
            <a:ext cx="10241280" cy="411480"/>
          </a:xfrm>
          <a:prstGeom prst="rect">
            <a:avLst/>
          </a:prstGeom>
          <a:noFill/>
        </p:spPr>
        <p:txBody>
          <a:bodyPr wrap="square" lIns="0" tIns="0" rIns="0" bIns="0" anchor="t">
            <a:spAutoFit/>
          </a:bodyPr>
          <a:lstStyle/>
          <a:p>
            <a:pPr algn="l"/>
            <a:r>
              <a:rPr sz="1200" b="0">
                <a:solidFill>
                  <a:srgbClr val="5A6170"/>
                </a:solidFill>
                <a:latin typeface="Calibri"/>
              </a:rPr>
              <a:t>Short the small contract, buy GOLDTEN, hold both into settlement, deliver coins. Mean of 18 expired cycles; retail coin prices observed 13 Oct and 10 Jun 2026.</a:t>
            </a:r>
          </a:p>
        </p:txBody>
      </p:sp>
      <p:sp>
        <p:nvSpPr>
          <p:cNvPr id="139" name="Verdict card 1"/>
          <p:cNvSpPr/>
          <p:nvPr/>
        </p:nvSpPr>
        <p:spPr>
          <a:xfrm>
            <a:off x="11247120" y="2880360"/>
            <a:ext cx="6492240" cy="1783080"/>
          </a:xfrm>
          <a:prstGeom prst="roundRect">
            <a:avLst>
              <a:gd name="adj" fmla="val 6000"/>
            </a:avLst>
          </a:prstGeom>
          <a:solidFill>
            <a:srgbClr val="F6E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Verdict card 1 text"/>
          <p:cNvSpPr txBox="1"/>
          <p:nvPr/>
        </p:nvSpPr>
        <p:spPr>
          <a:xfrm>
            <a:off x="11567160" y="3108960"/>
            <a:ext cx="5852160" cy="1371600"/>
          </a:xfrm>
          <a:prstGeom prst="rect">
            <a:avLst/>
          </a:prstGeom>
          <a:noFill/>
        </p:spPr>
        <p:txBody>
          <a:bodyPr wrap="square" lIns="0" tIns="0" rIns="0" bIns="0" anchor="t">
            <a:spAutoFit/>
          </a:bodyPr>
          <a:lstStyle/>
          <a:p>
            <a:pPr algn="l"/>
            <a:r>
              <a:rPr sz="3000" b="1">
                <a:solidFill>
                  <a:srgbClr val="9A6A00"/>
                </a:solidFill>
                <a:latin typeface="Montserrat"/>
              </a:rPr>
              <a:t>0 of 18</a:t>
            </a:r>
          </a:p>
          <a:p>
            <a:pPr algn="l">
              <a:spcBef>
                <a:spcPts val="400"/>
              </a:spcBef>
            </a:pPr>
            <a:r>
              <a:rPr sz="1500" b="0">
                <a:solidFill>
                  <a:srgbClr val="5A6170"/>
                </a:solidFill>
                <a:latin typeface="Calibri"/>
              </a:rPr>
              <a:t>cycles in which delivering coins against the premium paid, for either contract</a:t>
            </a:r>
          </a:p>
        </p:txBody>
      </p:sp>
      <p:sp>
        <p:nvSpPr>
          <p:cNvPr id="141" name="Verdict card 2"/>
          <p:cNvSpPr/>
          <p:nvPr/>
        </p:nvSpPr>
        <p:spPr>
          <a:xfrm>
            <a:off x="11247120" y="4846320"/>
            <a:ext cx="6492240" cy="178308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Verdict card 2 text"/>
          <p:cNvSpPr txBox="1"/>
          <p:nvPr/>
        </p:nvSpPr>
        <p:spPr>
          <a:xfrm>
            <a:off x="11567160" y="5074920"/>
            <a:ext cx="5852160" cy="1371600"/>
          </a:xfrm>
          <a:prstGeom prst="rect">
            <a:avLst/>
          </a:prstGeom>
          <a:noFill/>
        </p:spPr>
        <p:txBody>
          <a:bodyPr wrap="square" lIns="0" tIns="0" rIns="0" bIns="0" anchor="t">
            <a:spAutoFit/>
          </a:bodyPr>
          <a:lstStyle/>
          <a:p>
            <a:pPr algn="l"/>
            <a:r>
              <a:rPr sz="3000" b="1">
                <a:solidFill>
                  <a:srgbClr val="1D1D1F"/>
                </a:solidFill>
                <a:latin typeface="Montserrat"/>
              </a:rPr>
              <a:t>+5 to +15 bp</a:t>
            </a:r>
          </a:p>
          <a:p>
            <a:pPr algn="l">
              <a:spcBef>
                <a:spcPts val="400"/>
              </a:spcBef>
            </a:pPr>
            <a:r>
              <a:rPr sz="1500" b="0">
                <a:solidFill>
                  <a:srgbClr val="5A6170"/>
                </a:solidFill>
                <a:latin typeface="Calibri"/>
              </a:rPr>
              <a:t>a trade from the premium’s swings, out of sample; about 90% of it in the Jan–Mar 2026 crisis</a:t>
            </a:r>
          </a:p>
        </p:txBody>
      </p:sp>
      <p:sp>
        <p:nvSpPr>
          <p:cNvPr id="143" name="Verdict card 3"/>
          <p:cNvSpPr/>
          <p:nvPr/>
        </p:nvSpPr>
        <p:spPr>
          <a:xfrm>
            <a:off x="11247120" y="6812279"/>
            <a:ext cx="6492240" cy="178308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Verdict card 3 text"/>
          <p:cNvSpPr txBox="1"/>
          <p:nvPr/>
        </p:nvSpPr>
        <p:spPr>
          <a:xfrm>
            <a:off x="11567160" y="7040879"/>
            <a:ext cx="5852160" cy="1371600"/>
          </a:xfrm>
          <a:prstGeom prst="rect">
            <a:avLst/>
          </a:prstGeom>
          <a:noFill/>
        </p:spPr>
        <p:txBody>
          <a:bodyPr wrap="square" lIns="0" tIns="0" rIns="0" bIns="0" anchor="t">
            <a:spAutoFit/>
          </a:bodyPr>
          <a:lstStyle/>
          <a:p>
            <a:pPr algn="l"/>
            <a:r>
              <a:rPr sz="3000" b="1">
                <a:solidFill>
                  <a:srgbClr val="1D1D1F"/>
                </a:solidFill>
                <a:latin typeface="Montserrat"/>
              </a:rPr>
              <a:t>20 Nov</a:t>
            </a:r>
          </a:p>
          <a:p>
            <a:pPr algn="l">
              <a:spcBef>
                <a:spcPts val="400"/>
              </a:spcBef>
            </a:pPr>
            <a:r>
              <a:rPr sz="1500" b="0">
                <a:solidFill>
                  <a:srgbClr val="5A6170"/>
                </a:solidFill>
                <a:latin typeface="Calibri"/>
              </a:rPr>
              <a:t>a forward test, rules frozen and pre-registered, keeps scoring until the finale</a:t>
            </a:r>
          </a:p>
        </p:txBody>
      </p:sp>
      <p:sp>
        <p:nvSpPr>
          <p:cNvPr id="145" name="Takeaway"/>
          <p:cNvSpPr txBox="1"/>
          <p:nvPr/>
        </p:nvSpPr>
        <p:spPr>
          <a:xfrm>
            <a:off x="11247120" y="8823960"/>
            <a:ext cx="6492240" cy="731520"/>
          </a:xfrm>
          <a:prstGeom prst="rect">
            <a:avLst/>
          </a:prstGeom>
          <a:noFill/>
        </p:spPr>
        <p:txBody>
          <a:bodyPr wrap="square" lIns="0" tIns="0" rIns="0" bIns="0" anchor="t">
            <a:spAutoFit/>
          </a:bodyPr>
          <a:lstStyle/>
          <a:p>
            <a:pPr algn="l"/>
            <a:r>
              <a:rPr sz="1500" b="1">
                <a:solidFill>
                  <a:srgbClr val="9A6A00"/>
                </a:solidFill>
                <a:latin typeface="Calibri"/>
              </a:rPr>
              <a:t>For a trader: </a:t>
            </a:r>
            <a:r>
              <a:rPr sz="1500" b="0">
                <a:solidFill>
                  <a:srgbClr val="1D1D1F"/>
                </a:solidFill>
                <a:latin typeface="Calibri"/>
              </a:rPr>
              <a:t>hold GOLDTEN or GOLDM unless you need under 10 g. The chooser applies this to any quantity.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pic>
        <p:nvPicPr>
          <p:cNvPr id="125" name="Google Shape;125;p17"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126" name="Section label"/>
          <p:cNvSpPr txBox="1"/>
          <p:nvPr/>
        </p:nvSpPr>
        <p:spPr>
          <a:xfrm>
            <a:off x="548640" y="1444752"/>
            <a:ext cx="17190720" cy="365760"/>
          </a:xfrm>
          <a:prstGeom prst="rect">
            <a:avLst/>
          </a:prstGeom>
          <a:noFill/>
        </p:spPr>
        <p:txBody>
          <a:bodyPr wrap="square" lIns="0" tIns="0" rIns="0" bIns="0" anchor="t">
            <a:spAutoFit/>
          </a:bodyPr>
          <a:lstStyle/>
          <a:p>
            <a:pPr algn="l"/>
            <a:r>
              <a:rPr sz="1700" b="1">
                <a:solidFill>
                  <a:srgbClr val="9A6A00"/>
                </a:solidFill>
                <a:latin typeface="Montserrat"/>
              </a:rPr>
              <a:t>MARKET RESEARCH / ANALYSIS</a:t>
            </a:r>
          </a:p>
        </p:txBody>
      </p:sp>
      <p:sp>
        <p:nvSpPr>
          <p:cNvPr id="127" name="Title"/>
          <p:cNvSpPr txBox="1"/>
          <p:nvPr/>
        </p:nvSpPr>
        <p:spPr>
          <a:xfrm>
            <a:off x="548640" y="1847088"/>
            <a:ext cx="17190720" cy="731520"/>
          </a:xfrm>
          <a:prstGeom prst="rect">
            <a:avLst/>
          </a:prstGeom>
          <a:noFill/>
        </p:spPr>
        <p:txBody>
          <a:bodyPr wrap="square" lIns="0" tIns="0" rIns="0" bIns="0" anchor="t">
            <a:spAutoFit/>
          </a:bodyPr>
          <a:lstStyle/>
          <a:p>
            <a:pPr algn="l"/>
            <a:r>
              <a:rPr sz="3600" b="1">
                <a:solidFill>
                  <a:srgbClr val="000000"/>
                </a:solidFill>
                <a:latin typeface="Montserrat"/>
              </a:rPr>
              <a:t>₹10 crore a year rides into delivery</a:t>
            </a:r>
          </a:p>
        </p:txBody>
      </p:sp>
      <p:graphicFrame>
        <p:nvGraphicFramePr>
          <p:cNvPr id="128" name="Premium into delivery chart"/>
          <p:cNvGraphicFramePr>
            <a:graphicFrameLocks noGrp="1"/>
          </p:cNvGraphicFramePr>
          <p:nvPr/>
        </p:nvGraphicFramePr>
        <p:xfrm>
          <a:off x="548640" y="2880360"/>
          <a:ext cx="10424160" cy="6309360"/>
        </p:xfrm>
        <a:graphic>
          <a:graphicData uri="http://schemas.openxmlformats.org/drawingml/2006/chart">
            <c:chart xmlns:c="http://schemas.openxmlformats.org/drawingml/2006/chart" xmlns:r="http://schemas.openxmlformats.org/officeDocument/2006/relationships" r:id="rId4"/>
          </a:graphicData>
        </a:graphic>
      </p:graphicFrame>
      <p:sp>
        <p:nvSpPr>
          <p:cNvPr id="129" name="Block Target users"/>
          <p:cNvSpPr/>
          <p:nvPr/>
        </p:nvSpPr>
        <p:spPr>
          <a:xfrm>
            <a:off x="11338560" y="2880360"/>
            <a:ext cx="6400800" cy="205740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11612880" y="3063240"/>
            <a:ext cx="5852160" cy="365760"/>
          </a:xfrm>
          <a:prstGeom prst="rect">
            <a:avLst/>
          </a:prstGeom>
          <a:noFill/>
        </p:spPr>
        <p:txBody>
          <a:bodyPr wrap="square" lIns="0" tIns="0" rIns="0" bIns="0" anchor="t">
            <a:spAutoFit/>
          </a:bodyPr>
          <a:lstStyle/>
          <a:p>
            <a:pPr algn="l"/>
            <a:r>
              <a:rPr sz="1900" b="1">
                <a:solidFill>
                  <a:srgbClr val="9A6A00"/>
                </a:solidFill>
                <a:latin typeface="Montserrat"/>
              </a:rPr>
              <a:t>Target users</a:t>
            </a:r>
          </a:p>
        </p:txBody>
      </p:sp>
      <p:sp>
        <p:nvSpPr>
          <p:cNvPr id="131" name="TextBox 130"/>
          <p:cNvSpPr txBox="1"/>
          <p:nvPr/>
        </p:nvSpPr>
        <p:spPr>
          <a:xfrm>
            <a:off x="11612880" y="3520439"/>
            <a:ext cx="5852160" cy="1371600"/>
          </a:xfrm>
          <a:prstGeom prst="rect">
            <a:avLst/>
          </a:prstGeom>
          <a:noFill/>
        </p:spPr>
        <p:txBody>
          <a:bodyPr wrap="square" lIns="0" tIns="0" rIns="0" bIns="0" anchor="t">
            <a:spAutoFit/>
          </a:bodyPr>
          <a:lstStyle/>
          <a:p>
            <a:pPr algn="l">
              <a:spcAft>
                <a:spcPts val="300"/>
              </a:spcAft>
            </a:pPr>
            <a:r>
              <a:rPr sz="1600" b="0">
                <a:solidFill>
                  <a:srgbClr val="1D1D1F"/>
                </a:solidFill>
                <a:latin typeface="Calibri"/>
              </a:rPr>
              <a:t>·  Retail and HNI gold traders (primary)</a:t>
            </a:r>
          </a:p>
          <a:p>
            <a:pPr algn="l">
              <a:spcAft>
                <a:spcPts val="300"/>
              </a:spcAft>
            </a:pPr>
            <a:r>
              <a:rPr sz="1600" b="0">
                <a:solidFill>
                  <a:srgbClr val="1D1D1F"/>
                </a:solidFill>
                <a:latin typeface="Calibri"/>
              </a:rPr>
              <a:t>·  Prop desks (secondary)</a:t>
            </a:r>
          </a:p>
          <a:p>
            <a:pPr algn="l">
              <a:spcAft>
                <a:spcPts val="300"/>
              </a:spcAft>
            </a:pPr>
            <a:r>
              <a:rPr sz="1600" b="0">
                <a:solidFill>
                  <a:srgbClr val="1D1D1F"/>
                </a:solidFill>
                <a:latin typeface="Calibri"/>
              </a:rPr>
              <a:t>·  MCX and SEBI: the fairness angle</a:t>
            </a:r>
          </a:p>
        </p:txBody>
      </p:sp>
      <p:sp>
        <p:nvSpPr>
          <p:cNvPr id="132" name="Block Revenue model"/>
          <p:cNvSpPr/>
          <p:nvPr/>
        </p:nvSpPr>
        <p:spPr>
          <a:xfrm>
            <a:off x="11338560" y="5074920"/>
            <a:ext cx="6400800" cy="205740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11612880" y="5257800"/>
            <a:ext cx="5852160" cy="365760"/>
          </a:xfrm>
          <a:prstGeom prst="rect">
            <a:avLst/>
          </a:prstGeom>
          <a:noFill/>
        </p:spPr>
        <p:txBody>
          <a:bodyPr wrap="square" lIns="0" tIns="0" rIns="0" bIns="0" anchor="t">
            <a:spAutoFit/>
          </a:bodyPr>
          <a:lstStyle/>
          <a:p>
            <a:pPr algn="l"/>
            <a:r>
              <a:rPr sz="1900" b="1">
                <a:solidFill>
                  <a:srgbClr val="9A6A00"/>
                </a:solidFill>
                <a:latin typeface="Montserrat"/>
              </a:rPr>
              <a:t>Revenue model</a:t>
            </a:r>
          </a:p>
        </p:txBody>
      </p:sp>
      <p:sp>
        <p:nvSpPr>
          <p:cNvPr id="134" name="TextBox 133"/>
          <p:cNvSpPr txBox="1"/>
          <p:nvPr/>
        </p:nvSpPr>
        <p:spPr>
          <a:xfrm>
            <a:off x="11612880" y="5715000"/>
            <a:ext cx="5852160" cy="1371600"/>
          </a:xfrm>
          <a:prstGeom prst="rect">
            <a:avLst/>
          </a:prstGeom>
          <a:noFill/>
        </p:spPr>
        <p:txBody>
          <a:bodyPr wrap="square" lIns="0" tIns="0" rIns="0" bIns="0" anchor="t">
            <a:spAutoFit/>
          </a:bodyPr>
          <a:lstStyle/>
          <a:p>
            <a:pPr algn="l">
              <a:spcAft>
                <a:spcPts val="300"/>
              </a:spcAft>
            </a:pPr>
            <a:r>
              <a:rPr sz="1600" b="0">
                <a:solidFill>
                  <a:srgbClr val="1D1D1F"/>
                </a:solidFill>
                <a:latin typeface="Calibri"/>
              </a:rPr>
              <a:t>·  Free chooser</a:t>
            </a:r>
          </a:p>
          <a:p>
            <a:pPr algn="l">
              <a:spcAft>
                <a:spcPts val="300"/>
              </a:spcAft>
            </a:pPr>
            <a:r>
              <a:rPr sz="1600" b="0">
                <a:solidFill>
                  <a:srgbClr val="1D1D1F"/>
                </a:solidFill>
                <a:latin typeface="Calibri"/>
              </a:rPr>
              <a:t>·  Paid desk tier: alerts and history</a:t>
            </a:r>
          </a:p>
          <a:p>
            <a:pPr algn="l">
              <a:spcAft>
                <a:spcPts val="300"/>
              </a:spcAft>
            </a:pPr>
            <a:r>
              <a:rPr sz="1600" b="0">
                <a:solidFill>
                  <a:srgbClr val="1D1D1F"/>
                </a:solidFill>
                <a:latin typeface="Calibri"/>
              </a:rPr>
              <a:t>·  B2B licence to brokers, beside the order ticket</a:t>
            </a:r>
          </a:p>
        </p:txBody>
      </p:sp>
      <p:sp>
        <p:nvSpPr>
          <p:cNvPr id="135" name="Growth"/>
          <p:cNvSpPr/>
          <p:nvPr/>
        </p:nvSpPr>
        <p:spPr>
          <a:xfrm>
            <a:off x="11338560" y="7269479"/>
            <a:ext cx="6400800" cy="2057400"/>
          </a:xfrm>
          <a:prstGeom prst="roundRect">
            <a:avLst>
              <a:gd name="adj" fmla="val 6000"/>
            </a:avLst>
          </a:prstGeom>
          <a:solidFill>
            <a:srgbClr val="F6E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11612880" y="7452359"/>
            <a:ext cx="5852160" cy="365760"/>
          </a:xfrm>
          <a:prstGeom prst="rect">
            <a:avLst/>
          </a:prstGeom>
          <a:noFill/>
        </p:spPr>
        <p:txBody>
          <a:bodyPr wrap="square" lIns="0" tIns="0" rIns="0" bIns="0" anchor="t">
            <a:spAutoFit/>
          </a:bodyPr>
          <a:lstStyle/>
          <a:p>
            <a:pPr algn="l"/>
            <a:r>
              <a:rPr sz="1900" b="1">
                <a:solidFill>
                  <a:srgbClr val="9A6A00"/>
                </a:solidFill>
                <a:latin typeface="Montserrat"/>
              </a:rPr>
              <a:t>Growth</a:t>
            </a:r>
          </a:p>
        </p:txBody>
      </p:sp>
      <p:sp>
        <p:nvSpPr>
          <p:cNvPr id="137" name="TextBox 136"/>
          <p:cNvSpPr txBox="1"/>
          <p:nvPr/>
        </p:nvSpPr>
        <p:spPr>
          <a:xfrm>
            <a:off x="11612880" y="7836407"/>
            <a:ext cx="2743200" cy="914400"/>
          </a:xfrm>
          <a:prstGeom prst="rect">
            <a:avLst/>
          </a:prstGeom>
          <a:noFill/>
        </p:spPr>
        <p:txBody>
          <a:bodyPr wrap="square" lIns="0" tIns="0" rIns="0" bIns="0" anchor="t">
            <a:spAutoFit/>
          </a:bodyPr>
          <a:lstStyle/>
          <a:p>
            <a:pPr algn="l"/>
            <a:r>
              <a:rPr sz="3400" b="1">
                <a:solidFill>
                  <a:srgbClr val="1D1D1F"/>
                </a:solidFill>
                <a:latin typeface="Montserrat"/>
              </a:rPr>
              <a:t>44% → 57%</a:t>
            </a:r>
          </a:p>
        </p:txBody>
      </p:sp>
      <p:sp>
        <p:nvSpPr>
          <p:cNvPr id="138" name="TextBox 137"/>
          <p:cNvSpPr txBox="1"/>
          <p:nvPr/>
        </p:nvSpPr>
        <p:spPr>
          <a:xfrm>
            <a:off x="14447520" y="7909559"/>
            <a:ext cx="3017520" cy="1280160"/>
          </a:xfrm>
          <a:prstGeom prst="rect">
            <a:avLst/>
          </a:prstGeom>
          <a:noFill/>
        </p:spPr>
        <p:txBody>
          <a:bodyPr wrap="square" lIns="0" tIns="0" rIns="0" bIns="0" anchor="t">
            <a:spAutoFit/>
          </a:bodyPr>
          <a:lstStyle/>
          <a:p>
            <a:pPr algn="l"/>
            <a:r>
              <a:rPr sz="1400" b="0">
                <a:solidFill>
                  <a:srgbClr val="5A6170"/>
                </a:solidFill>
                <a:latin typeface="Calibri"/>
              </a:rPr>
              <a:t>bullion’s share of MCX average daily turnover, Q2 FY26 vs Q2 FY25 (MCX results release)</a:t>
            </a:r>
          </a:p>
        </p:txBody>
      </p:sp>
      <p:sp>
        <p:nvSpPr>
          <p:cNvPr id="139" name="Source note"/>
          <p:cNvSpPr txBox="1"/>
          <p:nvPr/>
        </p:nvSpPr>
        <p:spPr>
          <a:xfrm>
            <a:off x="548640" y="9692640"/>
            <a:ext cx="17190720" cy="365760"/>
          </a:xfrm>
          <a:prstGeom prst="rect">
            <a:avLst/>
          </a:prstGeom>
          <a:noFill/>
        </p:spPr>
        <p:txBody>
          <a:bodyPr wrap="square" lIns="0" tIns="0" rIns="0" bIns="0" anchor="t">
            <a:spAutoFit/>
          </a:bodyPr>
          <a:lstStyle/>
          <a:p>
            <a:pPr algn="l"/>
            <a:r>
              <a:rPr sz="1200" b="0">
                <a:solidFill>
                  <a:srgbClr val="5A6170"/>
                </a:solidFill>
                <a:latin typeface="Calibri"/>
              </a:rPr>
              <a:t>Market size from our pipeline: GOLDGUINEA + GOLDPETAL open interest entering the final 3 trading days × cycle premium × settlement price. Last 12 cycles: ₹10.3 Cr (₹1.65 Cr on positions held to settlement). Cycle-mean premium used as a proxy.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4" name="Google Shape;134;p18"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135" name="Section label"/>
          <p:cNvSpPr txBox="1"/>
          <p:nvPr/>
        </p:nvSpPr>
        <p:spPr>
          <a:xfrm>
            <a:off x="548640" y="1444752"/>
            <a:ext cx="17190720" cy="365760"/>
          </a:xfrm>
          <a:prstGeom prst="rect">
            <a:avLst/>
          </a:prstGeom>
          <a:noFill/>
        </p:spPr>
        <p:txBody>
          <a:bodyPr wrap="square" lIns="0" tIns="0" rIns="0" bIns="0" anchor="t">
            <a:spAutoFit/>
          </a:bodyPr>
          <a:lstStyle/>
          <a:p>
            <a:pPr algn="l"/>
            <a:r>
              <a:rPr sz="1700" b="1">
                <a:solidFill>
                  <a:srgbClr val="9A6A00"/>
                </a:solidFill>
                <a:latin typeface="Montserrat"/>
              </a:rPr>
              <a:t>ROUND 2 PROGRESS</a:t>
            </a:r>
          </a:p>
        </p:txBody>
      </p:sp>
      <p:sp>
        <p:nvSpPr>
          <p:cNvPr id="136" name="Title"/>
          <p:cNvSpPr txBox="1"/>
          <p:nvPr/>
        </p:nvSpPr>
        <p:spPr>
          <a:xfrm>
            <a:off x="548640" y="1847088"/>
            <a:ext cx="17190720" cy="731520"/>
          </a:xfrm>
          <a:prstGeom prst="rect">
            <a:avLst/>
          </a:prstGeom>
          <a:noFill/>
        </p:spPr>
        <p:txBody>
          <a:bodyPr wrap="square" lIns="0" tIns="0" rIns="0" bIns="0" anchor="t">
            <a:spAutoFit/>
          </a:bodyPr>
          <a:lstStyle/>
          <a:p>
            <a:pPr algn="l"/>
            <a:r>
              <a:rPr sz="3600" b="1">
                <a:solidFill>
                  <a:srgbClr val="000000"/>
                </a:solidFill>
                <a:latin typeface="Montserrat"/>
              </a:rPr>
              <a:t>Five milestones built, one live product</a:t>
            </a:r>
          </a:p>
        </p:txBody>
      </p:sp>
      <p:sp>
        <p:nvSpPr>
          <p:cNvPr id="137" name="Milestone M1"/>
          <p:cNvSpPr/>
          <p:nvPr/>
        </p:nvSpPr>
        <p:spPr>
          <a:xfrm>
            <a:off x="548640" y="2880360"/>
            <a:ext cx="2674620" cy="297180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Milestone M1 tag"/>
          <p:cNvSpPr txBox="1"/>
          <p:nvPr/>
        </p:nvSpPr>
        <p:spPr>
          <a:xfrm>
            <a:off x="822959" y="3108960"/>
            <a:ext cx="2125980" cy="365760"/>
          </a:xfrm>
          <a:prstGeom prst="rect">
            <a:avLst/>
          </a:prstGeom>
          <a:noFill/>
        </p:spPr>
        <p:txBody>
          <a:bodyPr wrap="square" lIns="0" tIns="0" rIns="0" bIns="0" anchor="t">
            <a:spAutoFit/>
          </a:bodyPr>
          <a:lstStyle/>
          <a:p>
            <a:pPr algn="l"/>
            <a:r>
              <a:rPr sz="1400" b="1">
                <a:solidFill>
                  <a:srgbClr val="9A6A00"/>
                </a:solidFill>
                <a:latin typeface="Montserrat"/>
              </a:rPr>
              <a:t>M1</a:t>
            </a:r>
            <a:r>
              <a:rPr sz="1300" b="0">
                <a:solidFill>
                  <a:srgbClr val="5A6170"/>
                </a:solidFill>
                <a:latin typeface="Calibri"/>
              </a:rPr>
              <a:t>   ✓ built</a:t>
            </a:r>
          </a:p>
        </p:txBody>
      </p:sp>
      <p:sp>
        <p:nvSpPr>
          <p:cNvPr id="139" name="Milestone M1 name"/>
          <p:cNvSpPr txBox="1"/>
          <p:nvPr/>
        </p:nvSpPr>
        <p:spPr>
          <a:xfrm>
            <a:off x="822959" y="3520440"/>
            <a:ext cx="2125980" cy="457200"/>
          </a:xfrm>
          <a:prstGeom prst="rect">
            <a:avLst/>
          </a:prstGeom>
          <a:noFill/>
        </p:spPr>
        <p:txBody>
          <a:bodyPr wrap="square" lIns="0" tIns="0" rIns="0" bIns="0" anchor="t">
            <a:spAutoFit/>
          </a:bodyPr>
          <a:lstStyle/>
          <a:p>
            <a:pPr algn="l"/>
            <a:r>
              <a:rPr sz="1800" b="1">
                <a:solidFill>
                  <a:srgbClr val="1D1D1F"/>
                </a:solidFill>
                <a:latin typeface="Montserrat"/>
              </a:rPr>
              <a:t>Data layer</a:t>
            </a:r>
          </a:p>
        </p:txBody>
      </p:sp>
      <p:sp>
        <p:nvSpPr>
          <p:cNvPr id="140" name="Milestone M1 number"/>
          <p:cNvSpPr txBox="1"/>
          <p:nvPr/>
        </p:nvSpPr>
        <p:spPr>
          <a:xfrm>
            <a:off x="822959" y="4251960"/>
            <a:ext cx="2125980" cy="640080"/>
          </a:xfrm>
          <a:prstGeom prst="rect">
            <a:avLst/>
          </a:prstGeom>
          <a:noFill/>
        </p:spPr>
        <p:txBody>
          <a:bodyPr wrap="square" lIns="0" tIns="0" rIns="0" bIns="0" anchor="t">
            <a:spAutoFit/>
          </a:bodyPr>
          <a:lstStyle/>
          <a:p>
            <a:pPr algn="l"/>
            <a:r>
              <a:rPr sz="2600" b="1">
                <a:solidFill>
                  <a:srgbClr val="1D1D1F"/>
                </a:solidFill>
                <a:latin typeface="Montserrat"/>
              </a:rPr>
              <a:t>34,415</a:t>
            </a:r>
          </a:p>
        </p:txBody>
      </p:sp>
      <p:sp>
        <p:nvSpPr>
          <p:cNvPr id="141" name="Milestone M1 note"/>
          <p:cNvSpPr txBox="1"/>
          <p:nvPr/>
        </p:nvSpPr>
        <p:spPr>
          <a:xfrm>
            <a:off x="822959" y="4937760"/>
            <a:ext cx="2125980" cy="1005840"/>
          </a:xfrm>
          <a:prstGeom prst="rect">
            <a:avLst/>
          </a:prstGeom>
          <a:noFill/>
        </p:spPr>
        <p:txBody>
          <a:bodyPr wrap="square" lIns="0" tIns="0" rIns="0" bIns="0" anchor="t">
            <a:spAutoFit/>
          </a:bodyPr>
          <a:lstStyle/>
          <a:p>
            <a:pPr algn="l"/>
            <a:r>
              <a:rPr sz="1400" b="0">
                <a:solidFill>
                  <a:srgbClr val="5A6170"/>
                </a:solidFill>
                <a:latin typeface="Calibri"/>
              </a:rPr>
              <a:t>contract-days, 7 checks, 0 errors</a:t>
            </a:r>
          </a:p>
        </p:txBody>
      </p:sp>
      <p:sp>
        <p:nvSpPr>
          <p:cNvPr id="142" name="Milestone M2"/>
          <p:cNvSpPr/>
          <p:nvPr/>
        </p:nvSpPr>
        <p:spPr>
          <a:xfrm>
            <a:off x="3451860" y="2880360"/>
            <a:ext cx="2674620" cy="297180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Milestone M2 tag"/>
          <p:cNvSpPr txBox="1"/>
          <p:nvPr/>
        </p:nvSpPr>
        <p:spPr>
          <a:xfrm>
            <a:off x="3726180" y="3108960"/>
            <a:ext cx="2125980" cy="365760"/>
          </a:xfrm>
          <a:prstGeom prst="rect">
            <a:avLst/>
          </a:prstGeom>
          <a:noFill/>
        </p:spPr>
        <p:txBody>
          <a:bodyPr wrap="square" lIns="0" tIns="0" rIns="0" bIns="0" anchor="t">
            <a:spAutoFit/>
          </a:bodyPr>
          <a:lstStyle/>
          <a:p>
            <a:pPr algn="l"/>
            <a:r>
              <a:rPr sz="1400" b="1">
                <a:solidFill>
                  <a:srgbClr val="9A6A00"/>
                </a:solidFill>
                <a:latin typeface="Montserrat"/>
              </a:rPr>
              <a:t>M2</a:t>
            </a:r>
            <a:r>
              <a:rPr sz="1300" b="0">
                <a:solidFill>
                  <a:srgbClr val="5A6170"/>
                </a:solidFill>
                <a:latin typeface="Calibri"/>
              </a:rPr>
              <a:t>   ✓ built</a:t>
            </a:r>
          </a:p>
        </p:txBody>
      </p:sp>
      <p:sp>
        <p:nvSpPr>
          <p:cNvPr id="144" name="Milestone M2 name"/>
          <p:cNvSpPr txBox="1"/>
          <p:nvPr/>
        </p:nvSpPr>
        <p:spPr>
          <a:xfrm>
            <a:off x="3726180" y="3520440"/>
            <a:ext cx="2125980" cy="457200"/>
          </a:xfrm>
          <a:prstGeom prst="rect">
            <a:avLst/>
          </a:prstGeom>
          <a:noFill/>
        </p:spPr>
        <p:txBody>
          <a:bodyPr wrap="square" lIns="0" tIns="0" rIns="0" bIns="0" anchor="t">
            <a:spAutoFit/>
          </a:bodyPr>
          <a:lstStyle/>
          <a:p>
            <a:pPr algn="l"/>
            <a:r>
              <a:rPr sz="1800" b="1">
                <a:solidFill>
                  <a:srgbClr val="1D1D1F"/>
                </a:solidFill>
                <a:latin typeface="Montserrat"/>
              </a:rPr>
              <a:t>Basis anatomy</a:t>
            </a:r>
          </a:p>
        </p:txBody>
      </p:sp>
      <p:sp>
        <p:nvSpPr>
          <p:cNvPr id="145" name="Milestone M2 number"/>
          <p:cNvSpPr txBox="1"/>
          <p:nvPr/>
        </p:nvSpPr>
        <p:spPr>
          <a:xfrm>
            <a:off x="3726180" y="4251960"/>
            <a:ext cx="2125980" cy="640080"/>
          </a:xfrm>
          <a:prstGeom prst="rect">
            <a:avLst/>
          </a:prstGeom>
          <a:noFill/>
        </p:spPr>
        <p:txBody>
          <a:bodyPr wrap="square" lIns="0" tIns="0" rIns="0" bIns="0" anchor="t">
            <a:spAutoFit/>
          </a:bodyPr>
          <a:lstStyle/>
          <a:p>
            <a:pPr algn="l"/>
            <a:r>
              <a:rPr sz="2600" b="1">
                <a:solidFill>
                  <a:srgbClr val="1D1D1F"/>
                </a:solidFill>
                <a:latin typeface="Montserrat"/>
              </a:rPr>
              <a:t>4 parts</a:t>
            </a:r>
          </a:p>
        </p:txBody>
      </p:sp>
      <p:sp>
        <p:nvSpPr>
          <p:cNvPr id="146" name="Milestone M2 note"/>
          <p:cNvSpPr txBox="1"/>
          <p:nvPr/>
        </p:nvSpPr>
        <p:spPr>
          <a:xfrm>
            <a:off x="3726180" y="4937760"/>
            <a:ext cx="2125980" cy="1005840"/>
          </a:xfrm>
          <a:prstGeom prst="rect">
            <a:avLst/>
          </a:prstGeom>
          <a:noFill/>
        </p:spPr>
        <p:txBody>
          <a:bodyPr wrap="square" lIns="0" tIns="0" rIns="0" bIns="0" anchor="t">
            <a:spAutoFit/>
          </a:bodyPr>
          <a:lstStyle/>
          <a:p>
            <a:pPr algn="l"/>
            <a:r>
              <a:rPr sz="1400" b="0">
                <a:solidFill>
                  <a:srgbClr val="5A6170"/>
                </a:solidFill>
                <a:latin typeface="Calibri"/>
              </a:rPr>
              <a:t>timing, carry, reference, premium on every row</a:t>
            </a:r>
          </a:p>
        </p:txBody>
      </p:sp>
      <p:sp>
        <p:nvSpPr>
          <p:cNvPr id="147" name="Milestone M3"/>
          <p:cNvSpPr/>
          <p:nvPr/>
        </p:nvSpPr>
        <p:spPr>
          <a:xfrm>
            <a:off x="6355080" y="2880360"/>
            <a:ext cx="2674620" cy="297180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Milestone M3 tag"/>
          <p:cNvSpPr txBox="1"/>
          <p:nvPr/>
        </p:nvSpPr>
        <p:spPr>
          <a:xfrm>
            <a:off x="6629400" y="3108960"/>
            <a:ext cx="2125980" cy="365760"/>
          </a:xfrm>
          <a:prstGeom prst="rect">
            <a:avLst/>
          </a:prstGeom>
          <a:noFill/>
        </p:spPr>
        <p:txBody>
          <a:bodyPr wrap="square" lIns="0" tIns="0" rIns="0" bIns="0" anchor="t">
            <a:spAutoFit/>
          </a:bodyPr>
          <a:lstStyle/>
          <a:p>
            <a:pPr algn="l"/>
            <a:r>
              <a:rPr sz="1400" b="1">
                <a:solidFill>
                  <a:srgbClr val="9A6A00"/>
                </a:solidFill>
                <a:latin typeface="Montserrat"/>
              </a:rPr>
              <a:t>M3</a:t>
            </a:r>
            <a:r>
              <a:rPr sz="1300" b="0">
                <a:solidFill>
                  <a:srgbClr val="5A6170"/>
                </a:solidFill>
                <a:latin typeface="Calibri"/>
              </a:rPr>
              <a:t>   ✓ built</a:t>
            </a:r>
          </a:p>
        </p:txBody>
      </p:sp>
      <p:sp>
        <p:nvSpPr>
          <p:cNvPr id="149" name="Milestone M3 name"/>
          <p:cNvSpPr txBox="1"/>
          <p:nvPr/>
        </p:nvSpPr>
        <p:spPr>
          <a:xfrm>
            <a:off x="6629400" y="3520440"/>
            <a:ext cx="2125980" cy="457200"/>
          </a:xfrm>
          <a:prstGeom prst="rect">
            <a:avLst/>
          </a:prstGeom>
          <a:noFill/>
        </p:spPr>
        <p:txBody>
          <a:bodyPr wrap="square" lIns="0" tIns="0" rIns="0" bIns="0" anchor="t">
            <a:spAutoFit/>
          </a:bodyPr>
          <a:lstStyle/>
          <a:p>
            <a:pPr algn="l"/>
            <a:r>
              <a:rPr sz="1800" b="1">
                <a:solidFill>
                  <a:srgbClr val="1D1D1F"/>
                </a:solidFill>
                <a:latin typeface="Montserrat"/>
              </a:rPr>
              <a:t>Convergence</a:t>
            </a:r>
          </a:p>
        </p:txBody>
      </p:sp>
      <p:sp>
        <p:nvSpPr>
          <p:cNvPr id="150" name="Milestone M3 number"/>
          <p:cNvSpPr txBox="1"/>
          <p:nvPr/>
        </p:nvSpPr>
        <p:spPr>
          <a:xfrm>
            <a:off x="6629400" y="4251960"/>
            <a:ext cx="2125980" cy="640080"/>
          </a:xfrm>
          <a:prstGeom prst="rect">
            <a:avLst/>
          </a:prstGeom>
          <a:noFill/>
        </p:spPr>
        <p:txBody>
          <a:bodyPr wrap="square" lIns="0" tIns="0" rIns="0" bIns="0" anchor="t">
            <a:spAutoFit/>
          </a:bodyPr>
          <a:lstStyle/>
          <a:p>
            <a:pPr algn="l"/>
            <a:r>
              <a:rPr sz="2600" b="1">
                <a:solidFill>
                  <a:srgbClr val="1D1D1F"/>
                </a:solidFill>
                <a:latin typeface="Montserrat"/>
              </a:rPr>
              <a:t>18 / 18</a:t>
            </a:r>
          </a:p>
        </p:txBody>
      </p:sp>
      <p:sp>
        <p:nvSpPr>
          <p:cNvPr id="151" name="Milestone M3 note"/>
          <p:cNvSpPr txBox="1"/>
          <p:nvPr/>
        </p:nvSpPr>
        <p:spPr>
          <a:xfrm>
            <a:off x="6629400" y="4937760"/>
            <a:ext cx="2125980" cy="1005840"/>
          </a:xfrm>
          <a:prstGeom prst="rect">
            <a:avLst/>
          </a:prstGeom>
          <a:noFill/>
        </p:spPr>
        <p:txBody>
          <a:bodyPr wrap="square" lIns="0" tIns="0" rIns="0" bIns="0" anchor="t">
            <a:spAutoFit/>
          </a:bodyPr>
          <a:lstStyle/>
          <a:p>
            <a:pPr algn="l"/>
            <a:r>
              <a:rPr sz="1400" b="0">
                <a:solidFill>
                  <a:srgbClr val="5A6170"/>
                </a:solidFill>
                <a:latin typeface="Calibri"/>
              </a:rPr>
              <a:t>cycles positive; settles within 0.11 bp</a:t>
            </a:r>
          </a:p>
        </p:txBody>
      </p:sp>
      <p:sp>
        <p:nvSpPr>
          <p:cNvPr id="152" name="Milestone M4"/>
          <p:cNvSpPr/>
          <p:nvPr/>
        </p:nvSpPr>
        <p:spPr>
          <a:xfrm>
            <a:off x="9258300" y="2880360"/>
            <a:ext cx="2674620" cy="297180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Milestone M4 tag"/>
          <p:cNvSpPr txBox="1"/>
          <p:nvPr/>
        </p:nvSpPr>
        <p:spPr>
          <a:xfrm>
            <a:off x="9532620" y="3108960"/>
            <a:ext cx="2125980" cy="365760"/>
          </a:xfrm>
          <a:prstGeom prst="rect">
            <a:avLst/>
          </a:prstGeom>
          <a:noFill/>
        </p:spPr>
        <p:txBody>
          <a:bodyPr wrap="square" lIns="0" tIns="0" rIns="0" bIns="0" anchor="t">
            <a:spAutoFit/>
          </a:bodyPr>
          <a:lstStyle/>
          <a:p>
            <a:pPr algn="l"/>
            <a:r>
              <a:rPr sz="1400" b="1">
                <a:solidFill>
                  <a:srgbClr val="9A6A00"/>
                </a:solidFill>
                <a:latin typeface="Montserrat"/>
              </a:rPr>
              <a:t>M4</a:t>
            </a:r>
            <a:r>
              <a:rPr sz="1300" b="0">
                <a:solidFill>
                  <a:srgbClr val="5A6170"/>
                </a:solidFill>
                <a:latin typeface="Calibri"/>
              </a:rPr>
              <a:t>   ✓ built</a:t>
            </a:r>
          </a:p>
        </p:txBody>
      </p:sp>
      <p:sp>
        <p:nvSpPr>
          <p:cNvPr id="154" name="Milestone M4 name"/>
          <p:cNvSpPr txBox="1"/>
          <p:nvPr/>
        </p:nvSpPr>
        <p:spPr>
          <a:xfrm>
            <a:off x="9532620" y="3520440"/>
            <a:ext cx="2125980" cy="457200"/>
          </a:xfrm>
          <a:prstGeom prst="rect">
            <a:avLst/>
          </a:prstGeom>
          <a:noFill/>
        </p:spPr>
        <p:txBody>
          <a:bodyPr wrap="square" lIns="0" tIns="0" rIns="0" bIns="0" anchor="t">
            <a:spAutoFit/>
          </a:bodyPr>
          <a:lstStyle/>
          <a:p>
            <a:pPr algn="l"/>
            <a:r>
              <a:rPr sz="1800" b="1">
                <a:solidFill>
                  <a:srgbClr val="1D1D1F"/>
                </a:solidFill>
                <a:latin typeface="Montserrat"/>
              </a:rPr>
              <a:t>Verdict</a:t>
            </a:r>
          </a:p>
        </p:txBody>
      </p:sp>
      <p:sp>
        <p:nvSpPr>
          <p:cNvPr id="155" name="Milestone M4 number"/>
          <p:cNvSpPr txBox="1"/>
          <p:nvPr/>
        </p:nvSpPr>
        <p:spPr>
          <a:xfrm>
            <a:off x="9532620" y="4251960"/>
            <a:ext cx="2125980" cy="640080"/>
          </a:xfrm>
          <a:prstGeom prst="rect">
            <a:avLst/>
          </a:prstGeom>
          <a:noFill/>
        </p:spPr>
        <p:txBody>
          <a:bodyPr wrap="square" lIns="0" tIns="0" rIns="0" bIns="0" anchor="t">
            <a:spAutoFit/>
          </a:bodyPr>
          <a:lstStyle/>
          <a:p>
            <a:pPr algn="l"/>
            <a:r>
              <a:rPr sz="2600" b="1">
                <a:solidFill>
                  <a:srgbClr val="1D1D1F"/>
                </a:solidFill>
                <a:latin typeface="Montserrat"/>
              </a:rPr>
              <a:t>0 / 18</a:t>
            </a:r>
          </a:p>
        </p:txBody>
      </p:sp>
      <p:sp>
        <p:nvSpPr>
          <p:cNvPr id="156" name="Milestone M4 note"/>
          <p:cNvSpPr txBox="1"/>
          <p:nvPr/>
        </p:nvSpPr>
        <p:spPr>
          <a:xfrm>
            <a:off x="9532620" y="4937760"/>
            <a:ext cx="2125980" cy="1005840"/>
          </a:xfrm>
          <a:prstGeom prst="rect">
            <a:avLst/>
          </a:prstGeom>
          <a:noFill/>
        </p:spPr>
        <p:txBody>
          <a:bodyPr wrap="square" lIns="0" tIns="0" rIns="0" bIns="0" anchor="t">
            <a:spAutoFit/>
          </a:bodyPr>
          <a:lstStyle/>
          <a:p>
            <a:pPr algn="l"/>
            <a:r>
              <a:rPr sz="1400" b="0">
                <a:solidFill>
                  <a:srgbClr val="5A6170"/>
                </a:solidFill>
                <a:latin typeface="Calibri"/>
              </a:rPr>
              <a:t>cycles where delivery arbitrage paid</a:t>
            </a:r>
          </a:p>
        </p:txBody>
      </p:sp>
      <p:sp>
        <p:nvSpPr>
          <p:cNvPr id="157" name="Milestone M5"/>
          <p:cNvSpPr/>
          <p:nvPr/>
        </p:nvSpPr>
        <p:spPr>
          <a:xfrm>
            <a:off x="12161520" y="2880360"/>
            <a:ext cx="2674620" cy="297180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Milestone M5 tag"/>
          <p:cNvSpPr txBox="1"/>
          <p:nvPr/>
        </p:nvSpPr>
        <p:spPr>
          <a:xfrm>
            <a:off x="12435840" y="3108960"/>
            <a:ext cx="2125980" cy="365760"/>
          </a:xfrm>
          <a:prstGeom prst="rect">
            <a:avLst/>
          </a:prstGeom>
          <a:noFill/>
        </p:spPr>
        <p:txBody>
          <a:bodyPr wrap="square" lIns="0" tIns="0" rIns="0" bIns="0" anchor="t">
            <a:spAutoFit/>
          </a:bodyPr>
          <a:lstStyle/>
          <a:p>
            <a:pPr algn="l"/>
            <a:r>
              <a:rPr sz="1400" b="1">
                <a:solidFill>
                  <a:srgbClr val="9A6A00"/>
                </a:solidFill>
                <a:latin typeface="Montserrat"/>
              </a:rPr>
              <a:t>M5</a:t>
            </a:r>
            <a:r>
              <a:rPr sz="1300" b="0">
                <a:solidFill>
                  <a:srgbClr val="5A6170"/>
                </a:solidFill>
                <a:latin typeface="Calibri"/>
              </a:rPr>
              <a:t>   ✓ built</a:t>
            </a:r>
          </a:p>
        </p:txBody>
      </p:sp>
      <p:sp>
        <p:nvSpPr>
          <p:cNvPr id="159" name="Milestone M5 name"/>
          <p:cNvSpPr txBox="1"/>
          <p:nvPr/>
        </p:nvSpPr>
        <p:spPr>
          <a:xfrm>
            <a:off x="12435840" y="3520440"/>
            <a:ext cx="2125980" cy="457200"/>
          </a:xfrm>
          <a:prstGeom prst="rect">
            <a:avLst/>
          </a:prstGeom>
          <a:noFill/>
        </p:spPr>
        <p:txBody>
          <a:bodyPr wrap="square" lIns="0" tIns="0" rIns="0" bIns="0" anchor="t">
            <a:spAutoFit/>
          </a:bodyPr>
          <a:lstStyle/>
          <a:p>
            <a:pPr algn="l"/>
            <a:r>
              <a:rPr sz="1800" b="1">
                <a:solidFill>
                  <a:srgbClr val="1D1D1F"/>
                </a:solidFill>
                <a:latin typeface="Montserrat"/>
              </a:rPr>
              <a:t>Chooser + notices</a:t>
            </a:r>
          </a:p>
        </p:txBody>
      </p:sp>
      <p:sp>
        <p:nvSpPr>
          <p:cNvPr id="160" name="Milestone M5 number"/>
          <p:cNvSpPr txBox="1"/>
          <p:nvPr/>
        </p:nvSpPr>
        <p:spPr>
          <a:xfrm>
            <a:off x="12435840" y="4251960"/>
            <a:ext cx="2125980" cy="640080"/>
          </a:xfrm>
          <a:prstGeom prst="rect">
            <a:avLst/>
          </a:prstGeom>
          <a:noFill/>
        </p:spPr>
        <p:txBody>
          <a:bodyPr wrap="square" lIns="0" tIns="0" rIns="0" bIns="0" anchor="t">
            <a:spAutoFit/>
          </a:bodyPr>
          <a:lstStyle/>
          <a:p>
            <a:pPr algn="l"/>
            <a:r>
              <a:rPr sz="2600" b="1">
                <a:solidFill>
                  <a:srgbClr val="1D1D1F"/>
                </a:solidFill>
                <a:latin typeface="Montserrat"/>
              </a:rPr>
              <a:t>302 / 403</a:t>
            </a:r>
          </a:p>
        </p:txBody>
      </p:sp>
      <p:sp>
        <p:nvSpPr>
          <p:cNvPr id="161" name="Milestone M5 note"/>
          <p:cNvSpPr txBox="1"/>
          <p:nvPr/>
        </p:nvSpPr>
        <p:spPr>
          <a:xfrm>
            <a:off x="12435840" y="4937760"/>
            <a:ext cx="2125980" cy="1005840"/>
          </a:xfrm>
          <a:prstGeom prst="rect">
            <a:avLst/>
          </a:prstGeom>
          <a:noFill/>
        </p:spPr>
        <p:txBody>
          <a:bodyPr wrap="square" lIns="0" tIns="0" rIns="0" bIns="0" anchor="t">
            <a:spAutoFit/>
          </a:bodyPr>
          <a:lstStyle/>
          <a:p>
            <a:pPr algn="l"/>
            <a:r>
              <a:rPr sz="1400" b="0">
                <a:solidFill>
                  <a:srgbClr val="5A6170"/>
                </a:solidFill>
                <a:latin typeface="Calibri"/>
              </a:rPr>
              <a:t>trading days with no notice, by design</a:t>
            </a:r>
          </a:p>
        </p:txBody>
      </p:sp>
      <p:sp>
        <p:nvSpPr>
          <p:cNvPr id="162" name="Milestone Web"/>
          <p:cNvSpPr/>
          <p:nvPr/>
        </p:nvSpPr>
        <p:spPr>
          <a:xfrm>
            <a:off x="15064740" y="2880360"/>
            <a:ext cx="2674620" cy="2971800"/>
          </a:xfrm>
          <a:prstGeom prst="roundRect">
            <a:avLst>
              <a:gd name="adj" fmla="val 6000"/>
            </a:avLst>
          </a:prstGeom>
          <a:solidFill>
            <a:srgbClr val="F6E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Milestone Web tag"/>
          <p:cNvSpPr txBox="1"/>
          <p:nvPr/>
        </p:nvSpPr>
        <p:spPr>
          <a:xfrm>
            <a:off x="15339060" y="3108960"/>
            <a:ext cx="2125980" cy="365760"/>
          </a:xfrm>
          <a:prstGeom prst="rect">
            <a:avLst/>
          </a:prstGeom>
          <a:noFill/>
        </p:spPr>
        <p:txBody>
          <a:bodyPr wrap="square" lIns="0" tIns="0" rIns="0" bIns="0" anchor="t">
            <a:spAutoFit/>
          </a:bodyPr>
          <a:lstStyle/>
          <a:p>
            <a:pPr algn="l"/>
            <a:r>
              <a:rPr sz="1400" b="1">
                <a:solidFill>
                  <a:srgbClr val="9A6A00"/>
                </a:solidFill>
                <a:latin typeface="Montserrat"/>
              </a:rPr>
              <a:t>Web</a:t>
            </a:r>
            <a:r>
              <a:rPr sz="1300" b="0">
                <a:solidFill>
                  <a:srgbClr val="5A6170"/>
                </a:solidFill>
                <a:latin typeface="Calibri"/>
              </a:rPr>
              <a:t>   ✓ built</a:t>
            </a:r>
          </a:p>
        </p:txBody>
      </p:sp>
      <p:sp>
        <p:nvSpPr>
          <p:cNvPr id="164" name="Milestone Web name"/>
          <p:cNvSpPr txBox="1"/>
          <p:nvPr/>
        </p:nvSpPr>
        <p:spPr>
          <a:xfrm>
            <a:off x="15339060" y="3520440"/>
            <a:ext cx="2125980" cy="457200"/>
          </a:xfrm>
          <a:prstGeom prst="rect">
            <a:avLst/>
          </a:prstGeom>
          <a:noFill/>
        </p:spPr>
        <p:txBody>
          <a:bodyPr wrap="square" lIns="0" tIns="0" rIns="0" bIns="0" anchor="t">
            <a:spAutoFit/>
          </a:bodyPr>
          <a:lstStyle/>
          <a:p>
            <a:pPr algn="l"/>
            <a:r>
              <a:rPr sz="1800" b="1">
                <a:solidFill>
                  <a:srgbClr val="1D1D1F"/>
                </a:solidFill>
                <a:latin typeface="Montserrat"/>
              </a:rPr>
              <a:t>Live product</a:t>
            </a:r>
          </a:p>
        </p:txBody>
      </p:sp>
      <p:sp>
        <p:nvSpPr>
          <p:cNvPr id="165" name="Milestone Web number"/>
          <p:cNvSpPr txBox="1"/>
          <p:nvPr/>
        </p:nvSpPr>
        <p:spPr>
          <a:xfrm>
            <a:off x="15339060" y="4251960"/>
            <a:ext cx="2125980" cy="640080"/>
          </a:xfrm>
          <a:prstGeom prst="rect">
            <a:avLst/>
          </a:prstGeom>
          <a:noFill/>
        </p:spPr>
        <p:txBody>
          <a:bodyPr wrap="square" lIns="0" tIns="0" rIns="0" bIns="0" anchor="t">
            <a:spAutoFit/>
          </a:bodyPr>
          <a:lstStyle/>
          <a:p>
            <a:pPr algn="l"/>
            <a:r>
              <a:rPr sz="2600" b="1">
                <a:solidFill>
                  <a:srgbClr val="1D1D1F"/>
                </a:solidFill>
                <a:latin typeface="Montserrat"/>
              </a:rPr>
              <a:t>8 pages</a:t>
            </a:r>
          </a:p>
        </p:txBody>
      </p:sp>
      <p:sp>
        <p:nvSpPr>
          <p:cNvPr id="166" name="Milestone Web note"/>
          <p:cNvSpPr txBox="1"/>
          <p:nvPr/>
        </p:nvSpPr>
        <p:spPr>
          <a:xfrm>
            <a:off x="15339060" y="4937760"/>
            <a:ext cx="2125980" cy="1005840"/>
          </a:xfrm>
          <a:prstGeom prst="rect">
            <a:avLst/>
          </a:prstGeom>
          <a:noFill/>
        </p:spPr>
        <p:txBody>
          <a:bodyPr wrap="square" lIns="0" tIns="0" rIns="0" bIns="0" anchor="t">
            <a:spAutoFit/>
          </a:bodyPr>
          <a:lstStyle/>
          <a:p>
            <a:pPr algn="l"/>
            <a:r>
              <a:rPr sz="1400" b="0">
                <a:solidFill>
                  <a:srgbClr val="5A6170"/>
                </a:solidFill>
                <a:latin typeface="Calibri"/>
              </a:rPr>
              <a:t>on Vercel, data to 23 Oct 2026</a:t>
            </a:r>
          </a:p>
        </p:txBody>
      </p:sp>
      <p:sp>
        <p:nvSpPr>
          <p:cNvPr id="167" name="Next heading"/>
          <p:cNvSpPr txBox="1"/>
          <p:nvPr/>
        </p:nvSpPr>
        <p:spPr>
          <a:xfrm>
            <a:off x="548640" y="6263640"/>
            <a:ext cx="17190720" cy="457200"/>
          </a:xfrm>
          <a:prstGeom prst="rect">
            <a:avLst/>
          </a:prstGeom>
          <a:noFill/>
        </p:spPr>
        <p:txBody>
          <a:bodyPr wrap="square" lIns="0" tIns="0" rIns="0" bIns="0" anchor="t">
            <a:spAutoFit/>
          </a:bodyPr>
          <a:lstStyle/>
          <a:p>
            <a:pPr algn="l"/>
            <a:r>
              <a:rPr sz="2000" b="1">
                <a:solidFill>
                  <a:srgbClr val="1D1D1F"/>
                </a:solidFill>
                <a:latin typeface="Montserrat"/>
              </a:rPr>
              <a:t>Next, by the finale on 20 November</a:t>
            </a:r>
          </a:p>
        </p:txBody>
      </p:sp>
      <p:sp>
        <p:nvSpPr>
          <p:cNvPr id="168" name="Next 1"/>
          <p:cNvSpPr/>
          <p:nvPr/>
        </p:nvSpPr>
        <p:spPr>
          <a:xfrm>
            <a:off x="548640" y="6858000"/>
            <a:ext cx="4091940" cy="214884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Next 1 number"/>
          <p:cNvSpPr/>
          <p:nvPr/>
        </p:nvSpPr>
        <p:spPr>
          <a:xfrm>
            <a:off x="822959" y="7114032"/>
            <a:ext cx="411480" cy="41148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Montserrat"/>
              </a:rPr>
              <a:t>1</a:t>
            </a:r>
          </a:p>
        </p:txBody>
      </p:sp>
      <p:sp>
        <p:nvSpPr>
          <p:cNvPr id="170" name="Next 1 text"/>
          <p:cNvSpPr txBox="1"/>
          <p:nvPr/>
        </p:nvSpPr>
        <p:spPr>
          <a:xfrm>
            <a:off x="822959" y="7680960"/>
            <a:ext cx="3543300" cy="1188720"/>
          </a:xfrm>
          <a:prstGeom prst="rect">
            <a:avLst/>
          </a:prstGeom>
          <a:noFill/>
        </p:spPr>
        <p:txBody>
          <a:bodyPr wrap="square" lIns="0" tIns="0" rIns="0" bIns="0" anchor="t">
            <a:spAutoFit/>
          </a:bodyPr>
          <a:lstStyle/>
          <a:p>
            <a:pPr algn="l"/>
            <a:r>
              <a:rPr sz="1800" b="1">
                <a:solidFill>
                  <a:srgbClr val="1D1D1F"/>
                </a:solidFill>
                <a:latin typeface="Montserrat"/>
              </a:rPr>
              <a:t>Forward test results</a:t>
            </a:r>
          </a:p>
          <a:p>
            <a:pPr algn="l">
              <a:spcBef>
                <a:spcPts val="400"/>
              </a:spcBef>
            </a:pPr>
            <a:r>
              <a:rPr sz="1500" b="0">
                <a:solidFill>
                  <a:srgbClr val="5A6170"/>
                </a:solidFill>
                <a:latin typeface="Calibri"/>
              </a:rPr>
              <a:t>Pre-registered rules, scored on data that did not exist when they were frozen</a:t>
            </a:r>
          </a:p>
        </p:txBody>
      </p:sp>
      <p:sp>
        <p:nvSpPr>
          <p:cNvPr id="171" name="Next 2"/>
          <p:cNvSpPr/>
          <p:nvPr/>
        </p:nvSpPr>
        <p:spPr>
          <a:xfrm>
            <a:off x="4914900" y="6858000"/>
            <a:ext cx="4091940" cy="214884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Next 2 number"/>
          <p:cNvSpPr/>
          <p:nvPr/>
        </p:nvSpPr>
        <p:spPr>
          <a:xfrm>
            <a:off x="5189220" y="7114032"/>
            <a:ext cx="411480" cy="41148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Montserrat"/>
              </a:rPr>
              <a:t>2</a:t>
            </a:r>
          </a:p>
        </p:txBody>
      </p:sp>
      <p:sp>
        <p:nvSpPr>
          <p:cNvPr id="173" name="Next 2 text"/>
          <p:cNvSpPr txBox="1"/>
          <p:nvPr/>
        </p:nvSpPr>
        <p:spPr>
          <a:xfrm>
            <a:off x="5189220" y="7680960"/>
            <a:ext cx="3543300" cy="1188720"/>
          </a:xfrm>
          <a:prstGeom prst="rect">
            <a:avLst/>
          </a:prstGeom>
          <a:noFill/>
        </p:spPr>
        <p:txBody>
          <a:bodyPr wrap="square" lIns="0" tIns="0" rIns="0" bIns="0" anchor="t">
            <a:spAutoFit/>
          </a:bodyPr>
          <a:lstStyle/>
          <a:p>
            <a:pPr algn="l"/>
            <a:r>
              <a:rPr sz="1800" b="1">
                <a:solidFill>
                  <a:srgbClr val="1D1D1F"/>
                </a:solidFill>
                <a:latin typeface="Montserrat"/>
              </a:rPr>
              <a:t>Daily refresh in the cloud</a:t>
            </a:r>
          </a:p>
          <a:p>
            <a:pPr algn="l">
              <a:spcBef>
                <a:spcPts val="400"/>
              </a:spcBef>
            </a:pPr>
            <a:r>
              <a:rPr sz="1500" b="0">
                <a:solidFill>
                  <a:srgbClr val="5A6170"/>
                </a:solidFill>
                <a:latin typeface="Calibri"/>
              </a:rPr>
              <a:t>Scheduled pipeline and an unedited live notice track record</a:t>
            </a:r>
          </a:p>
        </p:txBody>
      </p:sp>
      <p:sp>
        <p:nvSpPr>
          <p:cNvPr id="174" name="Next 3"/>
          <p:cNvSpPr/>
          <p:nvPr/>
        </p:nvSpPr>
        <p:spPr>
          <a:xfrm>
            <a:off x="9281160" y="6858000"/>
            <a:ext cx="4091940" cy="214884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Next 3 number"/>
          <p:cNvSpPr/>
          <p:nvPr/>
        </p:nvSpPr>
        <p:spPr>
          <a:xfrm>
            <a:off x="9555480" y="7114032"/>
            <a:ext cx="411480" cy="41148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Montserrat"/>
              </a:rPr>
              <a:t>3</a:t>
            </a:r>
          </a:p>
        </p:txBody>
      </p:sp>
      <p:sp>
        <p:nvSpPr>
          <p:cNvPr id="176" name="Next 3 text"/>
          <p:cNvSpPr txBox="1"/>
          <p:nvPr/>
        </p:nvSpPr>
        <p:spPr>
          <a:xfrm>
            <a:off x="9555480" y="7680960"/>
            <a:ext cx="3543300" cy="1188720"/>
          </a:xfrm>
          <a:prstGeom prst="rect">
            <a:avLst/>
          </a:prstGeom>
          <a:noFill/>
        </p:spPr>
        <p:txBody>
          <a:bodyPr wrap="square" lIns="0" tIns="0" rIns="0" bIns="0" anchor="t">
            <a:spAutoFit/>
          </a:bodyPr>
          <a:lstStyle/>
          <a:p>
            <a:pPr algn="l"/>
            <a:r>
              <a:rPr sz="1800" b="1">
                <a:solidFill>
                  <a:srgbClr val="1D1D1F"/>
                </a:solidFill>
                <a:latin typeface="Montserrat"/>
              </a:rPr>
              <a:t>Silver family</a:t>
            </a:r>
          </a:p>
          <a:p>
            <a:pPr algn="l">
              <a:spcBef>
                <a:spcPts val="400"/>
              </a:spcBef>
            </a:pPr>
            <a:r>
              <a:rPr sz="1500" b="0">
                <a:solidFill>
                  <a:srgbClr val="5A6170"/>
                </a:solidFill>
                <a:latin typeface="Calibri"/>
              </a:rPr>
              <a:t>SILVER, SILVERM and SILVERMIC through the same engine</a:t>
            </a:r>
          </a:p>
        </p:txBody>
      </p:sp>
      <p:sp>
        <p:nvSpPr>
          <p:cNvPr id="177" name="Next 4"/>
          <p:cNvSpPr/>
          <p:nvPr/>
        </p:nvSpPr>
        <p:spPr>
          <a:xfrm>
            <a:off x="13647420" y="6858000"/>
            <a:ext cx="4091940" cy="214884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Next 4 number"/>
          <p:cNvSpPr/>
          <p:nvPr/>
        </p:nvSpPr>
        <p:spPr>
          <a:xfrm>
            <a:off x="13921740" y="7114032"/>
            <a:ext cx="411480" cy="41148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Montserrat"/>
              </a:rPr>
              <a:t>4</a:t>
            </a:r>
          </a:p>
        </p:txBody>
      </p:sp>
      <p:sp>
        <p:nvSpPr>
          <p:cNvPr id="179" name="Next 4 text"/>
          <p:cNvSpPr txBox="1"/>
          <p:nvPr/>
        </p:nvSpPr>
        <p:spPr>
          <a:xfrm>
            <a:off x="13921740" y="7680960"/>
            <a:ext cx="3543300" cy="1188720"/>
          </a:xfrm>
          <a:prstGeom prst="rect">
            <a:avLst/>
          </a:prstGeom>
          <a:noFill/>
        </p:spPr>
        <p:txBody>
          <a:bodyPr wrap="square" lIns="0" tIns="0" rIns="0" bIns="0" anchor="t">
            <a:spAutoFit/>
          </a:bodyPr>
          <a:lstStyle/>
          <a:p>
            <a:pPr algn="l"/>
            <a:r>
              <a:rPr sz="1800" b="1">
                <a:solidFill>
                  <a:srgbClr val="1D1D1F"/>
                </a:solidFill>
                <a:latin typeface="Montserrat"/>
              </a:rPr>
              <a:t>Chooser in the broker</a:t>
            </a:r>
          </a:p>
          <a:p>
            <a:pPr algn="l">
              <a:spcBef>
                <a:spcPts val="400"/>
              </a:spcBef>
            </a:pPr>
            <a:r>
              <a:rPr sz="1500" b="0">
                <a:solidFill>
                  <a:srgbClr val="5A6170"/>
                </a:solidFill>
                <a:latin typeface="Calibri"/>
              </a:rPr>
              <a:t>The ranked answer beside the order ticket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57" name="Google Shape;157;p20" title="download (2).jpg"/>
          <p:cNvPicPr preferRelativeResize="0"/>
          <p:nvPr/>
        </p:nvPicPr>
        <p:blipFill rotWithShape="1">
          <a:blip r:embed="rId3">
            <a:alphaModFix/>
          </a:blip>
          <a:srcRect l="38928" r="16455"/>
          <a:stretch/>
        </p:blipFill>
        <p:spPr>
          <a:xfrm rot="-5400000">
            <a:off x="7123100" y="-7111200"/>
            <a:ext cx="4088375" cy="18326624"/>
          </a:xfrm>
          <a:prstGeom prst="rect">
            <a:avLst/>
          </a:prstGeom>
          <a:noFill/>
          <a:ln>
            <a:noFill/>
          </a:ln>
        </p:spPr>
      </p:pic>
      <p:pic>
        <p:nvPicPr>
          <p:cNvPr id="158" name="Google Shape;158;p20" title="Group 48097831.png"/>
          <p:cNvPicPr preferRelativeResize="0"/>
          <p:nvPr/>
        </p:nvPicPr>
        <p:blipFill>
          <a:blip r:embed="rId4">
            <a:alphaModFix/>
          </a:blip>
          <a:stretch>
            <a:fillRect/>
          </a:stretch>
        </p:blipFill>
        <p:spPr>
          <a:xfrm>
            <a:off x="318675" y="296224"/>
            <a:ext cx="7240346" cy="791925"/>
          </a:xfrm>
          <a:prstGeom prst="rect">
            <a:avLst/>
          </a:prstGeom>
          <a:noFill/>
          <a:ln>
            <a:noFill/>
          </a:ln>
        </p:spPr>
      </p:pic>
      <p:pic>
        <p:nvPicPr>
          <p:cNvPr id="159" name="Google Shape;159;p20" title="Logo.png"/>
          <p:cNvPicPr preferRelativeResize="0"/>
          <p:nvPr/>
        </p:nvPicPr>
        <p:blipFill>
          <a:blip r:embed="rId5">
            <a:alphaModFix/>
          </a:blip>
          <a:stretch>
            <a:fillRect/>
          </a:stretch>
        </p:blipFill>
        <p:spPr>
          <a:xfrm>
            <a:off x="12520575" y="296231"/>
            <a:ext cx="5599601" cy="791925"/>
          </a:xfrm>
          <a:prstGeom prst="rect">
            <a:avLst/>
          </a:prstGeom>
          <a:noFill/>
          <a:ln>
            <a:noFill/>
          </a:ln>
        </p:spPr>
      </p:pic>
      <p:sp>
        <p:nvSpPr>
          <p:cNvPr id="160" name="Links"/>
          <p:cNvSpPr txBox="1"/>
          <p:nvPr/>
        </p:nvSpPr>
        <p:spPr>
          <a:xfrm>
            <a:off x="548640" y="9555480"/>
            <a:ext cx="17190720" cy="230832"/>
          </a:xfrm>
          <a:prstGeom prst="rect">
            <a:avLst/>
          </a:prstGeom>
          <a:noFill/>
        </p:spPr>
        <p:txBody>
          <a:bodyPr wrap="square" lIns="0" tIns="0" rIns="0" bIns="0" anchor="t">
            <a:spAutoFit/>
          </a:bodyPr>
          <a:lstStyle/>
          <a:p>
            <a:pPr algn="ctr"/>
            <a:r>
              <a:rPr sz="1500" b="1" dirty="0">
                <a:solidFill>
                  <a:srgbClr val="5A6170"/>
                </a:solidFill>
                <a:latin typeface="IBM Plex Sans"/>
              </a:rPr>
              <a:t>Tola · PS-03 · Team Numero Uno  ·  Repo: </a:t>
            </a:r>
            <a:r>
              <a:rPr sz="1500" b="1" dirty="0">
                <a:solidFill>
                  <a:srgbClr val="5A6170"/>
                </a:solidFill>
                <a:latin typeface="IBM Plex Sans"/>
                <a:hlinkClick r:id="rId6"/>
              </a:rPr>
              <a:t>https://github.com/Mrigank005/Tola</a:t>
            </a:r>
            <a:endParaRPr sz="1500" b="1" dirty="0">
              <a:solidFill>
                <a:srgbClr val="5A6170"/>
              </a:solidFill>
              <a:latin typeface="IBM Plex Sans"/>
            </a:endParaRPr>
          </a:p>
        </p:txBody>
      </p:sp>
      <p:sp>
        <p:nvSpPr>
          <p:cNvPr id="161" name="Thank you"/>
          <p:cNvSpPr txBox="1"/>
          <p:nvPr/>
        </p:nvSpPr>
        <p:spPr>
          <a:xfrm>
            <a:off x="548640" y="5074920"/>
            <a:ext cx="17190720" cy="2194560"/>
          </a:xfrm>
          <a:prstGeom prst="rect">
            <a:avLst/>
          </a:prstGeom>
          <a:noFill/>
        </p:spPr>
        <p:txBody>
          <a:bodyPr wrap="square" lIns="0" tIns="0" rIns="0" bIns="0" anchor="ctr">
            <a:spAutoFit/>
          </a:bodyPr>
          <a:lstStyle/>
          <a:p>
            <a:pPr algn="ctr"/>
            <a:r>
              <a:rPr sz="9600" b="1">
                <a:solidFill>
                  <a:srgbClr val="1D1D1F"/>
                </a:solidFill>
                <a:latin typeface="Montserrat"/>
              </a:rPr>
              <a:t>Thank you</a:t>
            </a:r>
          </a:p>
        </p:txBody>
      </p:sp>
      <p:sp>
        <p:nvSpPr>
          <p:cNvPr id="162" name="Live link"/>
          <p:cNvSpPr txBox="1"/>
          <p:nvPr/>
        </p:nvSpPr>
        <p:spPr>
          <a:xfrm>
            <a:off x="548640" y="7543800"/>
            <a:ext cx="17190720" cy="548640"/>
          </a:xfrm>
          <a:prstGeom prst="rect">
            <a:avLst/>
          </a:prstGeom>
          <a:noFill/>
        </p:spPr>
        <p:txBody>
          <a:bodyPr wrap="square" lIns="0" tIns="0" rIns="0" bIns="0" anchor="t">
            <a:spAutoFit/>
          </a:bodyPr>
          <a:lstStyle/>
          <a:p>
            <a:pPr algn="ctr"/>
            <a:r>
              <a:rPr sz="2600" b="1">
                <a:solidFill>
                  <a:srgbClr val="9A6A00"/>
                </a:solidFill>
                <a:latin typeface="Montserrat"/>
              </a:rPr>
              <a:t>Try it live:  tola-gold.vercel.app</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2433</Words>
  <Application>Microsoft Office PowerPoint</Application>
  <PresentationFormat>Custom</PresentationFormat>
  <Paragraphs>231</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Montserrat</vt:lpstr>
      <vt:lpstr>Arial</vt:lpstr>
      <vt:lpstr>Calibri</vt:lpstr>
      <vt:lpstr>IBM Plex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Mrigank Singh</cp:lastModifiedBy>
  <cp:revision>3</cp:revision>
  <dcterms:modified xsi:type="dcterms:W3CDTF">2026-10-27T09:36:22Z</dcterms:modified>
</cp:coreProperties>
</file>