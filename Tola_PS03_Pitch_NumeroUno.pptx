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Caveat" panose="020B0604020202020204" charset="0"/>
      <p:regular r:id="rId11"/>
      <p:bold r:id="rId12"/>
    </p:embeddedFont>
    <p:embeddedFont>
      <p:font typeface="IBM Plex Sans" panose="020B0503050203000203" pitchFamily="34" charset="0"/>
      <p:regular r:id="rId13"/>
      <p:bold r:id="rId14"/>
    </p:embeddedFont>
    <p:embeddedFont>
      <p:font typeface="Montserrat"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850" y="2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manualLayout>
          <c:layoutTarget val="inner"/>
          <c:xMode val="edge"/>
          <c:yMode val="edge"/>
          <c:x val="0.09"/>
          <c:y val="0.13"/>
          <c:w val="0.88500000000000001"/>
          <c:h val="0.7"/>
        </c:manualLayout>
      </c:layout>
      <c:lineChart>
        <c:grouping val="standard"/>
        <c:varyColors val="0"/>
        <c:ser>
          <c:idx val="0"/>
          <c:order val="0"/>
          <c:tx>
            <c:strRef>
              <c:f>Sheet1!$B$1</c:f>
              <c:strCache>
                <c:ptCount val="1"/>
                <c:pt idx="0">
                  <c:v>GOLDPETAL − GOLDTEN</c:v>
                </c:pt>
              </c:strCache>
            </c:strRef>
          </c:tx>
          <c:spPr>
            <a:ln w="38100">
              <a:solidFill>
                <a:srgbClr val="3E4FA8"/>
              </a:solidFill>
            </a:ln>
          </c:spPr>
          <c:marker>
            <c:symbol val="circle"/>
            <c:size val="9"/>
            <c:spPr>
              <a:solidFill>
                <a:srgbClr val="3E4FA8"/>
              </a:solidFill>
              <a:ln>
                <a:solidFill>
                  <a:srgbClr val="FFFFFF"/>
                </a:solidFill>
              </a:ln>
            </c:spPr>
          </c:marker>
          <c:cat>
            <c:strRef>
              <c:f>Sheet1!$A$2:$A$19</c:f>
              <c:strCache>
                <c:ptCount val="18"/>
                <c:pt idx="0">
                  <c:v>Apr 25</c:v>
                </c:pt>
                <c:pt idx="1">
                  <c:v>May 25</c:v>
                </c:pt>
                <c:pt idx="2">
                  <c:v>Jun 25</c:v>
                </c:pt>
                <c:pt idx="3">
                  <c:v>Jul 25</c:v>
                </c:pt>
                <c:pt idx="4">
                  <c:v>Aug 25</c:v>
                </c:pt>
                <c:pt idx="5">
                  <c:v>Sep 25</c:v>
                </c:pt>
                <c:pt idx="6">
                  <c:v>Oct 25</c:v>
                </c:pt>
                <c:pt idx="7">
                  <c:v>Nov 25</c:v>
                </c:pt>
                <c:pt idx="8">
                  <c:v>Dec 25</c:v>
                </c:pt>
                <c:pt idx="9">
                  <c:v>Jan 26</c:v>
                </c:pt>
                <c:pt idx="10">
                  <c:v>Feb 26</c:v>
                </c:pt>
                <c:pt idx="11">
                  <c:v>Mar 26</c:v>
                </c:pt>
                <c:pt idx="12">
                  <c:v>Apr 26</c:v>
                </c:pt>
                <c:pt idx="13">
                  <c:v>May 26</c:v>
                </c:pt>
                <c:pt idx="14">
                  <c:v>Jun 26</c:v>
                </c:pt>
                <c:pt idx="15">
                  <c:v>Jul 26</c:v>
                </c:pt>
                <c:pt idx="16">
                  <c:v>Aug 26</c:v>
                </c:pt>
                <c:pt idx="17">
                  <c:v>Sep 26</c:v>
                </c:pt>
              </c:strCache>
            </c:strRef>
          </c:cat>
          <c:val>
            <c:numRef>
              <c:f>Sheet1!$B$2:$B$19</c:f>
              <c:numCache>
                <c:formatCode>General</c:formatCode>
                <c:ptCount val="18"/>
                <c:pt idx="0">
                  <c:v>77.8</c:v>
                </c:pt>
                <c:pt idx="1">
                  <c:v>86</c:v>
                </c:pt>
                <c:pt idx="2">
                  <c:v>84.9</c:v>
                </c:pt>
                <c:pt idx="3">
                  <c:v>75.5</c:v>
                </c:pt>
                <c:pt idx="4">
                  <c:v>65.8</c:v>
                </c:pt>
                <c:pt idx="5">
                  <c:v>56.5</c:v>
                </c:pt>
                <c:pt idx="6">
                  <c:v>56.7</c:v>
                </c:pt>
                <c:pt idx="7">
                  <c:v>73.5</c:v>
                </c:pt>
                <c:pt idx="8">
                  <c:v>85.2</c:v>
                </c:pt>
                <c:pt idx="9">
                  <c:v>106.2</c:v>
                </c:pt>
                <c:pt idx="10">
                  <c:v>118.5</c:v>
                </c:pt>
                <c:pt idx="11">
                  <c:v>142.19999999999999</c:v>
                </c:pt>
                <c:pt idx="12">
                  <c:v>146.19999999999999</c:v>
                </c:pt>
                <c:pt idx="13">
                  <c:v>147</c:v>
                </c:pt>
                <c:pt idx="14">
                  <c:v>138.9</c:v>
                </c:pt>
                <c:pt idx="15">
                  <c:v>100.2</c:v>
                </c:pt>
                <c:pt idx="16">
                  <c:v>71.7</c:v>
                </c:pt>
                <c:pt idx="17">
                  <c:v>60.2</c:v>
                </c:pt>
              </c:numCache>
            </c:numRef>
          </c:val>
          <c:smooth val="0"/>
          <c:extLst>
            <c:ext xmlns:c16="http://schemas.microsoft.com/office/drawing/2014/chart" uri="{C3380CC4-5D6E-409C-BE32-E72D297353CC}">
              <c16:uniqueId val="{00000000-21C2-4EFC-92B8-6B0299CCB905}"/>
            </c:ext>
          </c:extLst>
        </c:ser>
        <c:ser>
          <c:idx val="1"/>
          <c:order val="1"/>
          <c:tx>
            <c:strRef>
              <c:f>Sheet1!$C$1</c:f>
              <c:strCache>
                <c:ptCount val="1"/>
                <c:pt idx="0">
                  <c:v>GOLDGUINEA − GOLDTEN</c:v>
                </c:pt>
              </c:strCache>
            </c:strRef>
          </c:tx>
          <c:spPr>
            <a:ln w="38100">
              <a:solidFill>
                <a:srgbClr val="9A6A00"/>
              </a:solidFill>
            </a:ln>
          </c:spPr>
          <c:marker>
            <c:symbol val="circle"/>
            <c:size val="9"/>
            <c:spPr>
              <a:solidFill>
                <a:srgbClr val="9A6A00"/>
              </a:solidFill>
              <a:ln>
                <a:solidFill>
                  <a:srgbClr val="FFFFFF"/>
                </a:solidFill>
              </a:ln>
            </c:spPr>
          </c:marker>
          <c:cat>
            <c:strRef>
              <c:f>Sheet1!$A$2:$A$19</c:f>
              <c:strCache>
                <c:ptCount val="18"/>
                <c:pt idx="0">
                  <c:v>Apr 25</c:v>
                </c:pt>
                <c:pt idx="1">
                  <c:v>May 25</c:v>
                </c:pt>
                <c:pt idx="2">
                  <c:v>Jun 25</c:v>
                </c:pt>
                <c:pt idx="3">
                  <c:v>Jul 25</c:v>
                </c:pt>
                <c:pt idx="4">
                  <c:v>Aug 25</c:v>
                </c:pt>
                <c:pt idx="5">
                  <c:v>Sep 25</c:v>
                </c:pt>
                <c:pt idx="6">
                  <c:v>Oct 25</c:v>
                </c:pt>
                <c:pt idx="7">
                  <c:v>Nov 25</c:v>
                </c:pt>
                <c:pt idx="8">
                  <c:v>Dec 25</c:v>
                </c:pt>
                <c:pt idx="9">
                  <c:v>Jan 26</c:v>
                </c:pt>
                <c:pt idx="10">
                  <c:v>Feb 26</c:v>
                </c:pt>
                <c:pt idx="11">
                  <c:v>Mar 26</c:v>
                </c:pt>
                <c:pt idx="12">
                  <c:v>Apr 26</c:v>
                </c:pt>
                <c:pt idx="13">
                  <c:v>May 26</c:v>
                </c:pt>
                <c:pt idx="14">
                  <c:v>Jun 26</c:v>
                </c:pt>
                <c:pt idx="15">
                  <c:v>Jul 26</c:v>
                </c:pt>
                <c:pt idx="16">
                  <c:v>Aug 26</c:v>
                </c:pt>
                <c:pt idx="17">
                  <c:v>Sep 26</c:v>
                </c:pt>
              </c:strCache>
            </c:strRef>
          </c:cat>
          <c:val>
            <c:numRef>
              <c:f>Sheet1!$C$2:$C$19</c:f>
              <c:numCache>
                <c:formatCode>General</c:formatCode>
                <c:ptCount val="18"/>
                <c:pt idx="0">
                  <c:v>38.200000000000003</c:v>
                </c:pt>
                <c:pt idx="1">
                  <c:v>48.8</c:v>
                </c:pt>
                <c:pt idx="2">
                  <c:v>54.3</c:v>
                </c:pt>
                <c:pt idx="3">
                  <c:v>40</c:v>
                </c:pt>
                <c:pt idx="4">
                  <c:v>34.200000000000003</c:v>
                </c:pt>
                <c:pt idx="5">
                  <c:v>34</c:v>
                </c:pt>
                <c:pt idx="6">
                  <c:v>48.1</c:v>
                </c:pt>
                <c:pt idx="7">
                  <c:v>65.400000000000006</c:v>
                </c:pt>
                <c:pt idx="8">
                  <c:v>77.599999999999994</c:v>
                </c:pt>
                <c:pt idx="9">
                  <c:v>108.9</c:v>
                </c:pt>
                <c:pt idx="10">
                  <c:v>124.1</c:v>
                </c:pt>
                <c:pt idx="11">
                  <c:v>142.5</c:v>
                </c:pt>
                <c:pt idx="12">
                  <c:v>143.80000000000001</c:v>
                </c:pt>
                <c:pt idx="13">
                  <c:v>141.6</c:v>
                </c:pt>
                <c:pt idx="14">
                  <c:v>122.3</c:v>
                </c:pt>
                <c:pt idx="15">
                  <c:v>82.3</c:v>
                </c:pt>
                <c:pt idx="16">
                  <c:v>61.4</c:v>
                </c:pt>
                <c:pt idx="17">
                  <c:v>48.6</c:v>
                </c:pt>
              </c:numCache>
            </c:numRef>
          </c:val>
          <c:smooth val="0"/>
          <c:extLst>
            <c:ext xmlns:c16="http://schemas.microsoft.com/office/drawing/2014/chart" uri="{C3380CC4-5D6E-409C-BE32-E72D297353CC}">
              <c16:uniqueId val="{00000001-21C2-4EFC-92B8-6B0299CCB905}"/>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D9DCE3"/>
            </a:solidFill>
          </a:ln>
        </c:spPr>
        <c:txPr>
          <a:bodyPr/>
          <a:lstStyle/>
          <a:p>
            <a:pPr>
              <a:defRPr sz="1200">
                <a:solidFill>
                  <a:srgbClr val="5A6170"/>
                </a:solidFill>
                <a:latin typeface="Calibri"/>
              </a:defRPr>
            </a:pPr>
            <a:endParaRPr lang="en-US"/>
          </a:p>
        </c:txPr>
        <c:crossAx val="2140495176"/>
        <c:crosses val="autoZero"/>
        <c:auto val="1"/>
        <c:lblAlgn val="ctr"/>
        <c:lblOffset val="100"/>
        <c:noMultiLvlLbl val="0"/>
      </c:catAx>
      <c:valAx>
        <c:axId val="2140495176"/>
        <c:scaling>
          <c:orientation val="minMax"/>
          <c:max val="160"/>
          <c:min val="0"/>
        </c:scaling>
        <c:delete val="0"/>
        <c:axPos val="l"/>
        <c:majorGridlines>
          <c:spPr>
            <a:ln>
              <a:solidFill>
                <a:srgbClr val="D9DCE3"/>
              </a:solidFill>
            </a:ln>
          </c:spPr>
        </c:majorGridlines>
        <c:title>
          <c:tx>
            <c:rich>
              <a:bodyPr/>
              <a:lstStyle/>
              <a:p>
                <a:r>
                  <a:rPr lang="en-IN" sz="1300" b="0">
                    <a:solidFill>
                      <a:srgbClr val="5A6170"/>
                    </a:solidFill>
                    <a:latin typeface="Calibri"/>
                  </a:rPr>
                  <a:t>bp per gram over GOLDTEN (VWAP, cycle mean)</a:t>
                </a:r>
              </a:p>
            </c:rich>
          </c:tx>
          <c:overlay val="0"/>
        </c:title>
        <c:numFmt formatCode="General" sourceLinked="1"/>
        <c:majorTickMark val="out"/>
        <c:minorTickMark val="none"/>
        <c:tickLblPos val="nextTo"/>
        <c:spPr>
          <a:ln>
            <a:solidFill>
              <a:srgbClr val="D9DCE3"/>
            </a:solidFill>
          </a:ln>
        </c:spPr>
        <c:txPr>
          <a:bodyPr/>
          <a:lstStyle/>
          <a:p>
            <a:pPr>
              <a:defRPr sz="1400">
                <a:solidFill>
                  <a:srgbClr val="5A6170"/>
                </a:solidFill>
                <a:latin typeface="Calibri"/>
              </a:defRPr>
            </a:pPr>
            <a:endParaRPr lang="en-US"/>
          </a:p>
        </c:txPr>
        <c:crossAx val="2118791784"/>
        <c:crosses val="autoZero"/>
        <c:crossBetween val="between"/>
        <c:majorUnit val="40"/>
      </c:valAx>
    </c:plotArea>
    <c:legend>
      <c:legendPos val="t"/>
      <c:overlay val="0"/>
      <c:txPr>
        <a:bodyPr/>
        <a:lstStyle/>
        <a:p>
          <a:pPr>
            <a:defRPr sz="1500">
              <a:solidFill>
                <a:srgbClr val="1D1D1F"/>
              </a:solidFill>
              <a:latin typeface="Calibri"/>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9"/>
          <c:y val="0.05"/>
          <c:w val="0.89"/>
          <c:h val="0.8"/>
        </c:manualLayout>
      </c:layout>
      <c:barChart>
        <c:barDir val="col"/>
        <c:grouping val="clustered"/>
        <c:varyColors val="1"/>
        <c:ser>
          <c:idx val="0"/>
          <c:order val="0"/>
          <c:tx>
            <c:strRef>
              <c:f>Sheet1!$B$1</c:f>
              <c:strCache>
                <c:ptCount val="1"/>
                <c:pt idx="0">
                  <c:v>Premium on positions entering delivery (₹ lakh)</c:v>
                </c:pt>
              </c:strCache>
            </c:strRef>
          </c:tx>
          <c:invertIfNegative val="1"/>
          <c:dPt>
            <c:idx val="0"/>
            <c:invertIfNegative val="1"/>
            <c:bubble3D val="0"/>
            <c:spPr>
              <a:solidFill>
                <a:srgbClr val="9A6A00"/>
              </a:solidFill>
            </c:spPr>
            <c:extLst>
              <c:ext xmlns:c16="http://schemas.microsoft.com/office/drawing/2014/chart" uri="{C3380CC4-5D6E-409C-BE32-E72D297353CC}">
                <c16:uniqueId val="{00000001-07FD-4EB1-81F8-534B329853A7}"/>
              </c:ext>
            </c:extLst>
          </c:dPt>
          <c:dPt>
            <c:idx val="1"/>
            <c:invertIfNegative val="1"/>
            <c:bubble3D val="0"/>
            <c:spPr>
              <a:solidFill>
                <a:srgbClr val="9A6A00"/>
              </a:solidFill>
            </c:spPr>
            <c:extLst>
              <c:ext xmlns:c16="http://schemas.microsoft.com/office/drawing/2014/chart" uri="{C3380CC4-5D6E-409C-BE32-E72D297353CC}">
                <c16:uniqueId val="{00000003-07FD-4EB1-81F8-534B329853A7}"/>
              </c:ext>
            </c:extLst>
          </c:dPt>
          <c:dPt>
            <c:idx val="2"/>
            <c:invertIfNegative val="1"/>
            <c:bubble3D val="0"/>
            <c:spPr>
              <a:solidFill>
                <a:srgbClr val="9A6A00"/>
              </a:solidFill>
            </c:spPr>
            <c:extLst>
              <c:ext xmlns:c16="http://schemas.microsoft.com/office/drawing/2014/chart" uri="{C3380CC4-5D6E-409C-BE32-E72D297353CC}">
                <c16:uniqueId val="{00000005-07FD-4EB1-81F8-534B329853A7}"/>
              </c:ext>
            </c:extLst>
          </c:dPt>
          <c:dPt>
            <c:idx val="3"/>
            <c:invertIfNegative val="1"/>
            <c:bubble3D val="0"/>
            <c:spPr>
              <a:solidFill>
                <a:srgbClr val="9A6A00"/>
              </a:solidFill>
            </c:spPr>
            <c:extLst>
              <c:ext xmlns:c16="http://schemas.microsoft.com/office/drawing/2014/chart" uri="{C3380CC4-5D6E-409C-BE32-E72D297353CC}">
                <c16:uniqueId val="{00000007-07FD-4EB1-81F8-534B329853A7}"/>
              </c:ext>
            </c:extLst>
          </c:dPt>
          <c:dPt>
            <c:idx val="4"/>
            <c:invertIfNegative val="1"/>
            <c:bubble3D val="0"/>
            <c:spPr>
              <a:solidFill>
                <a:srgbClr val="9A6A00"/>
              </a:solidFill>
            </c:spPr>
            <c:extLst>
              <c:ext xmlns:c16="http://schemas.microsoft.com/office/drawing/2014/chart" uri="{C3380CC4-5D6E-409C-BE32-E72D297353CC}">
                <c16:uniqueId val="{00000009-07FD-4EB1-81F8-534B329853A7}"/>
              </c:ext>
            </c:extLst>
          </c:dPt>
          <c:dPt>
            <c:idx val="5"/>
            <c:invertIfNegative val="1"/>
            <c:bubble3D val="0"/>
            <c:spPr>
              <a:solidFill>
                <a:srgbClr val="9A6A00"/>
              </a:solidFill>
            </c:spPr>
            <c:extLst>
              <c:ext xmlns:c16="http://schemas.microsoft.com/office/drawing/2014/chart" uri="{C3380CC4-5D6E-409C-BE32-E72D297353CC}">
                <c16:uniqueId val="{0000000B-07FD-4EB1-81F8-534B329853A7}"/>
              </c:ext>
            </c:extLst>
          </c:dPt>
          <c:dPt>
            <c:idx val="6"/>
            <c:invertIfNegative val="1"/>
            <c:bubble3D val="0"/>
            <c:spPr>
              <a:solidFill>
                <a:srgbClr val="9A6A00"/>
              </a:solidFill>
            </c:spPr>
            <c:extLst>
              <c:ext xmlns:c16="http://schemas.microsoft.com/office/drawing/2014/chart" uri="{C3380CC4-5D6E-409C-BE32-E72D297353CC}">
                <c16:uniqueId val="{0000000D-07FD-4EB1-81F8-534B329853A7}"/>
              </c:ext>
            </c:extLst>
          </c:dPt>
          <c:dPt>
            <c:idx val="7"/>
            <c:invertIfNegative val="1"/>
            <c:bubble3D val="0"/>
            <c:spPr>
              <a:solidFill>
                <a:srgbClr val="9A6A00"/>
              </a:solidFill>
            </c:spPr>
            <c:extLst>
              <c:ext xmlns:c16="http://schemas.microsoft.com/office/drawing/2014/chart" uri="{C3380CC4-5D6E-409C-BE32-E72D297353CC}">
                <c16:uniqueId val="{0000000F-07FD-4EB1-81F8-534B329853A7}"/>
              </c:ext>
            </c:extLst>
          </c:dPt>
          <c:dPt>
            <c:idx val="8"/>
            <c:invertIfNegative val="1"/>
            <c:bubble3D val="0"/>
            <c:spPr>
              <a:solidFill>
                <a:srgbClr val="9A6A00"/>
              </a:solidFill>
            </c:spPr>
            <c:extLst>
              <c:ext xmlns:c16="http://schemas.microsoft.com/office/drawing/2014/chart" uri="{C3380CC4-5D6E-409C-BE32-E72D297353CC}">
                <c16:uniqueId val="{00000011-07FD-4EB1-81F8-534B329853A7}"/>
              </c:ext>
            </c:extLst>
          </c:dPt>
          <c:dPt>
            <c:idx val="9"/>
            <c:invertIfNegative val="1"/>
            <c:bubble3D val="0"/>
            <c:spPr>
              <a:solidFill>
                <a:srgbClr val="9A6A00"/>
              </a:solidFill>
            </c:spPr>
            <c:extLst>
              <c:ext xmlns:c16="http://schemas.microsoft.com/office/drawing/2014/chart" uri="{C3380CC4-5D6E-409C-BE32-E72D297353CC}">
                <c16:uniqueId val="{00000013-07FD-4EB1-81F8-534B329853A7}"/>
              </c:ext>
            </c:extLst>
          </c:dPt>
          <c:dPt>
            <c:idx val="10"/>
            <c:invertIfNegative val="1"/>
            <c:bubble3D val="0"/>
            <c:spPr>
              <a:solidFill>
                <a:srgbClr val="9A6A00"/>
              </a:solidFill>
            </c:spPr>
            <c:extLst>
              <c:ext xmlns:c16="http://schemas.microsoft.com/office/drawing/2014/chart" uri="{C3380CC4-5D6E-409C-BE32-E72D297353CC}">
                <c16:uniqueId val="{00000015-07FD-4EB1-81F8-534B329853A7}"/>
              </c:ext>
            </c:extLst>
          </c:dPt>
          <c:dPt>
            <c:idx val="11"/>
            <c:invertIfNegative val="1"/>
            <c:bubble3D val="0"/>
            <c:spPr>
              <a:solidFill>
                <a:srgbClr val="9A6A00"/>
              </a:solidFill>
            </c:spPr>
            <c:extLst>
              <c:ext xmlns:c16="http://schemas.microsoft.com/office/drawing/2014/chart" uri="{C3380CC4-5D6E-409C-BE32-E72D297353CC}">
                <c16:uniqueId val="{00000017-07FD-4EB1-81F8-534B329853A7}"/>
              </c:ext>
            </c:extLst>
          </c:dPt>
          <c:dPt>
            <c:idx val="12"/>
            <c:invertIfNegative val="1"/>
            <c:bubble3D val="0"/>
            <c:spPr>
              <a:solidFill>
                <a:srgbClr val="9A6A00"/>
              </a:solidFill>
            </c:spPr>
            <c:extLst>
              <c:ext xmlns:c16="http://schemas.microsoft.com/office/drawing/2014/chart" uri="{C3380CC4-5D6E-409C-BE32-E72D297353CC}">
                <c16:uniqueId val="{00000019-07FD-4EB1-81F8-534B329853A7}"/>
              </c:ext>
            </c:extLst>
          </c:dPt>
          <c:dPt>
            <c:idx val="13"/>
            <c:invertIfNegative val="1"/>
            <c:bubble3D val="0"/>
            <c:spPr>
              <a:solidFill>
                <a:srgbClr val="9A6A00"/>
              </a:solidFill>
            </c:spPr>
            <c:extLst>
              <c:ext xmlns:c16="http://schemas.microsoft.com/office/drawing/2014/chart" uri="{C3380CC4-5D6E-409C-BE32-E72D297353CC}">
                <c16:uniqueId val="{0000001B-07FD-4EB1-81F8-534B329853A7}"/>
              </c:ext>
            </c:extLst>
          </c:dPt>
          <c:dPt>
            <c:idx val="14"/>
            <c:invertIfNegative val="1"/>
            <c:bubble3D val="0"/>
            <c:spPr>
              <a:solidFill>
                <a:srgbClr val="9A6A00"/>
              </a:solidFill>
            </c:spPr>
            <c:extLst>
              <c:ext xmlns:c16="http://schemas.microsoft.com/office/drawing/2014/chart" uri="{C3380CC4-5D6E-409C-BE32-E72D297353CC}">
                <c16:uniqueId val="{0000001D-07FD-4EB1-81F8-534B329853A7}"/>
              </c:ext>
            </c:extLst>
          </c:dPt>
          <c:dPt>
            <c:idx val="15"/>
            <c:invertIfNegative val="1"/>
            <c:bubble3D val="0"/>
            <c:spPr>
              <a:solidFill>
                <a:srgbClr val="9A6A00"/>
              </a:solidFill>
            </c:spPr>
            <c:extLst>
              <c:ext xmlns:c16="http://schemas.microsoft.com/office/drawing/2014/chart" uri="{C3380CC4-5D6E-409C-BE32-E72D297353CC}">
                <c16:uniqueId val="{0000001F-07FD-4EB1-81F8-534B329853A7}"/>
              </c:ext>
            </c:extLst>
          </c:dPt>
          <c:dPt>
            <c:idx val="16"/>
            <c:invertIfNegative val="1"/>
            <c:bubble3D val="0"/>
            <c:spPr>
              <a:solidFill>
                <a:srgbClr val="9A6A00"/>
              </a:solidFill>
            </c:spPr>
            <c:extLst>
              <c:ext xmlns:c16="http://schemas.microsoft.com/office/drawing/2014/chart" uri="{C3380CC4-5D6E-409C-BE32-E72D297353CC}">
                <c16:uniqueId val="{00000021-07FD-4EB1-81F8-534B329853A7}"/>
              </c:ext>
            </c:extLst>
          </c:dPt>
          <c:dPt>
            <c:idx val="17"/>
            <c:invertIfNegative val="1"/>
            <c:bubble3D val="0"/>
            <c:spPr>
              <a:solidFill>
                <a:srgbClr val="9A6A00"/>
              </a:solidFill>
            </c:spPr>
            <c:extLst>
              <c:ext xmlns:c16="http://schemas.microsoft.com/office/drawing/2014/chart" uri="{C3380CC4-5D6E-409C-BE32-E72D297353CC}">
                <c16:uniqueId val="{00000023-07FD-4EB1-81F8-534B329853A7}"/>
              </c:ext>
            </c:extLst>
          </c:dPt>
          <c:cat>
            <c:strRef>
              <c:f>Sheet1!$A$2:$A$19</c:f>
              <c:strCache>
                <c:ptCount val="18"/>
                <c:pt idx="0">
                  <c:v>Apr 25</c:v>
                </c:pt>
                <c:pt idx="1">
                  <c:v>May 25</c:v>
                </c:pt>
                <c:pt idx="2">
                  <c:v>Jun 25</c:v>
                </c:pt>
                <c:pt idx="3">
                  <c:v>Jul 25</c:v>
                </c:pt>
                <c:pt idx="4">
                  <c:v>Aug 25</c:v>
                </c:pt>
                <c:pt idx="5">
                  <c:v>Sep 25</c:v>
                </c:pt>
                <c:pt idx="6">
                  <c:v>Oct 25</c:v>
                </c:pt>
                <c:pt idx="7">
                  <c:v>Nov 25</c:v>
                </c:pt>
                <c:pt idx="8">
                  <c:v>Dec 25</c:v>
                </c:pt>
                <c:pt idx="9">
                  <c:v>Jan 26</c:v>
                </c:pt>
                <c:pt idx="10">
                  <c:v>Feb 26</c:v>
                </c:pt>
                <c:pt idx="11">
                  <c:v>Mar 26</c:v>
                </c:pt>
                <c:pt idx="12">
                  <c:v>Apr 26</c:v>
                </c:pt>
                <c:pt idx="13">
                  <c:v>May 26</c:v>
                </c:pt>
                <c:pt idx="14">
                  <c:v>Jun 26</c:v>
                </c:pt>
                <c:pt idx="15">
                  <c:v>Jul 26</c:v>
                </c:pt>
                <c:pt idx="16">
                  <c:v>Aug 26</c:v>
                </c:pt>
                <c:pt idx="17">
                  <c:v>Sep 26</c:v>
                </c:pt>
              </c:strCache>
            </c:strRef>
          </c:cat>
          <c:val>
            <c:numRef>
              <c:f>Sheet1!$B$2:$B$19</c:f>
              <c:numCache>
                <c:formatCode>General</c:formatCode>
                <c:ptCount val="18"/>
                <c:pt idx="0">
                  <c:v>2.5</c:v>
                </c:pt>
                <c:pt idx="1">
                  <c:v>2.7</c:v>
                </c:pt>
                <c:pt idx="2">
                  <c:v>2.9</c:v>
                </c:pt>
                <c:pt idx="3">
                  <c:v>1.7</c:v>
                </c:pt>
                <c:pt idx="4">
                  <c:v>1.8</c:v>
                </c:pt>
                <c:pt idx="5">
                  <c:v>3.8</c:v>
                </c:pt>
                <c:pt idx="6">
                  <c:v>1.2</c:v>
                </c:pt>
                <c:pt idx="7">
                  <c:v>4.7</c:v>
                </c:pt>
                <c:pt idx="8">
                  <c:v>19.600000000000001</c:v>
                </c:pt>
                <c:pt idx="9">
                  <c:v>115.9</c:v>
                </c:pt>
                <c:pt idx="10">
                  <c:v>196.8</c:v>
                </c:pt>
                <c:pt idx="11">
                  <c:v>120.7</c:v>
                </c:pt>
                <c:pt idx="12">
                  <c:v>122</c:v>
                </c:pt>
                <c:pt idx="13">
                  <c:v>100</c:v>
                </c:pt>
                <c:pt idx="14">
                  <c:v>117.4</c:v>
                </c:pt>
                <c:pt idx="15">
                  <c:v>122.8</c:v>
                </c:pt>
                <c:pt idx="16">
                  <c:v>53.2</c:v>
                </c:pt>
                <c:pt idx="17">
                  <c:v>54.9</c:v>
                </c:pt>
              </c:numCache>
            </c:numRef>
          </c:val>
          <c:extLst>
            <c:ext xmlns:c16="http://schemas.microsoft.com/office/drawing/2014/chart" uri="{C3380CC4-5D6E-409C-BE32-E72D297353CC}">
              <c16:uniqueId val="{00000024-07FD-4EB1-81F8-534B329853A7}"/>
            </c:ext>
          </c:extLst>
        </c:ser>
        <c:dLbls>
          <c:showLegendKey val="0"/>
          <c:showVal val="0"/>
          <c:showCatName val="0"/>
          <c:showSerName val="0"/>
          <c:showPercent val="0"/>
          <c:showBubbleSize val="0"/>
        </c:dLbls>
        <c:gapWidth val="4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CE3"/>
            </a:solidFill>
          </a:ln>
        </c:spPr>
        <c:txPr>
          <a:bodyPr/>
          <a:lstStyle/>
          <a:p>
            <a:pPr>
              <a:defRPr sz="1200">
                <a:solidFill>
                  <a:srgbClr val="5A6170"/>
                </a:solidFill>
                <a:latin typeface="Calibri"/>
              </a:defRPr>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D9DCE3"/>
              </a:solidFill>
            </a:ln>
          </c:spPr>
        </c:majorGridlines>
        <c:title>
          <c:tx>
            <c:rich>
              <a:bodyPr/>
              <a:lstStyle/>
              <a:p>
                <a:r>
                  <a:rPr lang="en-US" sz="1300" b="0">
                    <a:solidFill>
                      <a:srgbClr val="5A6170"/>
                    </a:solidFill>
                    <a:latin typeface="Calibri"/>
                  </a:rPr>
                  <a:t>₹ lakh of premium on positions entering the delivery window</a:t>
                </a:r>
              </a:p>
            </c:rich>
          </c:tx>
          <c:overlay val="0"/>
        </c:title>
        <c:numFmt formatCode="General" sourceLinked="1"/>
        <c:majorTickMark val="out"/>
        <c:minorTickMark val="none"/>
        <c:tickLblPos val="nextTo"/>
        <c:spPr>
          <a:ln>
            <a:solidFill>
              <a:srgbClr val="D9DCE3"/>
            </a:solidFill>
          </a:ln>
        </c:spPr>
        <c:txPr>
          <a:bodyPr/>
          <a:lstStyle/>
          <a:p>
            <a:pPr>
              <a:defRPr sz="1400">
                <a:solidFill>
                  <a:srgbClr val="5A6170"/>
                </a:solidFill>
                <a:latin typeface="Calibri"/>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Introduce the two of us: one owns data and quant (fetching, decomposition, validation), the other owns product and pitch (UI, chooser, research, deck).</a:t>
            </a: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One gram of gold has five prices on MCX. The chart shows the 8 gram and 1 gram contracts trading above the 10 gram contract in every one of 18 monthly cycles, 79 and 94 basis points on average, even though all three settle to exactly the same price per gram. If you hold to delivery that is roughly 1,200 to 1,400 rupees per 10 grams. If you exit early it costs only the change, 6 to 11 basis points. No trading app shows either number. This maps directly onto the five PS-03 directions on the right.</a:t>
            </a: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Tola explains every price gap and turns it into a decision. Five features: the decomposition, a monitor for contracts that settle to the same price, a walk-forward verdict, the chooser, and an alert log that stays quiet unless a gap beats costs. The panel shows the chooser's logic with our real numbers: for 5 grams to take home, GOLDPETAL delivery beats the coin shop by about 3,000 rupees even after paying the premium. If you only trade, the premium costs you 9 to 16 rupees a gram.</a:t>
            </a:r>
          </a:p>
        </p:txBody>
      </p:sp>
      <p:sp>
        <p:nvSpPr>
          <p:cNvPr id="101" name="Google Shape;101;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Six stages: fetch, store, model, validate, publish, refresh. Everything comes from three public MCX endpoints. The hard part was access: MCX sits behind Akamai, which blocks scripts, so we use a Chrome-grade TLS client and cache every response. One request returns a whole contract's life, so a full backfill is about 260 requests. The site is static, so nothing breaks on stage.</a:t>
            </a:r>
          </a:p>
        </p:txBody>
      </p:sp>
      <p:sp>
        <p:nvSpPr>
          <p:cNvPr id="110" name="Google Shape;11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We sized the market ourselves rather than quote an industry number. Positions in the small contracts entering the delivery window carried about 10 crore rupees of premium over the last 12 cycles, up from a few lakh per cycle in mid-2025. Users: retail and HNI traders first, prop desks second, and the exchange and regulator as the fairness angle. Revenue: a free chooser, a paid desk tier, and licensing to brokers. Growth: bullion went from 44 to 57 percent of MCX turnover.</a:t>
            </a:r>
          </a:p>
        </p:txBody>
      </p:sp>
      <p:sp>
        <p:nvSpPr>
          <p:cNvPr id="119" name="Google Shape;11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Next steps: go live daily with an unedited track record, extend to silver, explain the GOLDPETAL regime break from the exchange's own circulars, put the chooser inside a broker's order ticket, publish a daily fairness index, and add an LLM explainer that is only allowed to cite numbers we computed.</a:t>
            </a:r>
          </a:p>
        </p:txBody>
      </p:sp>
      <p:sp>
        <p:nvSpPr>
          <p:cNvPr id="128" name="Google Shape;128;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Here is why you can trust the chart. We wrote the pass or fail rule down before pulling the history, used four different price marks including VWAP, which ignores when the last trade happened, and resampled whole cycles. Every condition passed, in every cycle, under every sensitivity run. We also confirmed the contracts really do settle to the same price. The walk-forward verdict is in build: our expectation is that the premium can't be captured without the ability to deliver coins.</a:t>
            </a:r>
          </a:p>
        </p:txBody>
      </p:sp>
      <p:sp>
        <p:nvSpPr>
          <p:cNvPr id="137" name="Google Shape;13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Thank you. The repo and the live demo are linked here.</a:t>
            </a:r>
          </a:p>
        </p:txBody>
      </p:sp>
      <p:sp>
        <p:nvSpPr>
          <p:cNvPr id="146" name="Google Shape;14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github.com/Mrigank005/Tola" TargetMode="Externa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7" name="Google Shape;87;p13" title="download (2).jpg"/>
          <p:cNvPicPr preferRelativeResize="0"/>
          <p:nvPr/>
        </p:nvPicPr>
        <p:blipFill rotWithShape="1">
          <a:blip r:embed="rId3">
            <a:alphaModFix/>
          </a:blip>
          <a:srcRect l="38928" r="16455"/>
          <a:stretch/>
        </p:blipFill>
        <p:spPr>
          <a:xfrm rot="-5400000">
            <a:off x="7123100" y="-7111200"/>
            <a:ext cx="4088375" cy="18326624"/>
          </a:xfrm>
          <a:prstGeom prst="rect">
            <a:avLst/>
          </a:prstGeom>
          <a:noFill/>
          <a:ln>
            <a:noFill/>
          </a:ln>
        </p:spPr>
      </p:pic>
      <p:pic>
        <p:nvPicPr>
          <p:cNvPr id="88" name="Google Shape;88;p13" title="Group 48097831.png"/>
          <p:cNvPicPr preferRelativeResize="0"/>
          <p:nvPr/>
        </p:nvPicPr>
        <p:blipFill>
          <a:blip r:embed="rId4">
            <a:alphaModFix/>
          </a:blip>
          <a:stretch>
            <a:fillRect/>
          </a:stretch>
        </p:blipFill>
        <p:spPr>
          <a:xfrm>
            <a:off x="318675" y="296224"/>
            <a:ext cx="7240346" cy="791925"/>
          </a:xfrm>
          <a:prstGeom prst="rect">
            <a:avLst/>
          </a:prstGeom>
          <a:noFill/>
          <a:ln>
            <a:noFill/>
          </a:ln>
        </p:spPr>
      </p:pic>
      <p:pic>
        <p:nvPicPr>
          <p:cNvPr id="89" name="Google Shape;89;p13" title="Logo.png"/>
          <p:cNvPicPr preferRelativeResize="0"/>
          <p:nvPr/>
        </p:nvPicPr>
        <p:blipFill>
          <a:blip r:embed="rId5">
            <a:alphaModFix/>
          </a:blip>
          <a:stretch>
            <a:fillRect/>
          </a:stretch>
        </p:blipFill>
        <p:spPr>
          <a:xfrm>
            <a:off x="12520575" y="296231"/>
            <a:ext cx="5599601" cy="791925"/>
          </a:xfrm>
          <a:prstGeom prst="rect">
            <a:avLst/>
          </a:prstGeom>
          <a:noFill/>
          <a:ln>
            <a:noFill/>
          </a:ln>
        </p:spPr>
      </p:pic>
      <p:sp>
        <p:nvSpPr>
          <p:cNvPr id="90" name="Team title"/>
          <p:cNvSpPr txBox="1"/>
          <p:nvPr/>
        </p:nvSpPr>
        <p:spPr>
          <a:xfrm>
            <a:off x="822960" y="4526280"/>
            <a:ext cx="10972800" cy="615553"/>
          </a:xfrm>
          <a:prstGeom prst="rect">
            <a:avLst/>
          </a:prstGeom>
          <a:noFill/>
        </p:spPr>
        <p:txBody>
          <a:bodyPr wrap="square" lIns="0" tIns="0" rIns="0" bIns="0" anchor="t">
            <a:spAutoFit/>
          </a:bodyPr>
          <a:lstStyle/>
          <a:p>
            <a:pPr algn="l"/>
            <a:r>
              <a:rPr sz="4000" b="1" dirty="0">
                <a:solidFill>
                  <a:srgbClr val="000000"/>
                </a:solidFill>
                <a:latin typeface="Montserrat"/>
              </a:rPr>
              <a:t>TEAM  </a:t>
            </a:r>
            <a:r>
              <a:rPr lang="en-US" sz="4000" b="1" dirty="0" err="1">
                <a:solidFill>
                  <a:srgbClr val="9A6A00"/>
                </a:solidFill>
                <a:latin typeface="Montserrat"/>
              </a:rPr>
              <a:t>Numero</a:t>
            </a:r>
            <a:r>
              <a:rPr lang="en-US" sz="4000" b="1" dirty="0">
                <a:solidFill>
                  <a:srgbClr val="9A6A00"/>
                </a:solidFill>
                <a:latin typeface="Montserrat"/>
              </a:rPr>
              <a:t> Uno</a:t>
            </a:r>
            <a:endParaRPr sz="4000" b="1" dirty="0">
              <a:solidFill>
                <a:srgbClr val="9A6A00"/>
              </a:solidFill>
              <a:latin typeface="Montserrat"/>
            </a:endParaRPr>
          </a:p>
        </p:txBody>
      </p:sp>
      <p:sp>
        <p:nvSpPr>
          <p:cNvPr id="91" name="Project line"/>
          <p:cNvSpPr txBox="1"/>
          <p:nvPr/>
        </p:nvSpPr>
        <p:spPr>
          <a:xfrm>
            <a:off x="822960" y="5349240"/>
            <a:ext cx="16642080" cy="457200"/>
          </a:xfrm>
          <a:prstGeom prst="rect">
            <a:avLst/>
          </a:prstGeom>
          <a:noFill/>
        </p:spPr>
        <p:txBody>
          <a:bodyPr wrap="square" lIns="0" tIns="0" rIns="0" bIns="0" anchor="t">
            <a:spAutoFit/>
          </a:bodyPr>
          <a:lstStyle/>
          <a:p>
            <a:pPr algn="l"/>
            <a:r>
              <a:rPr sz="1900" b="1">
                <a:solidFill>
                  <a:srgbClr val="5A6170"/>
                </a:solidFill>
                <a:latin typeface="IBM Plex Sans"/>
              </a:rPr>
              <a:t>Tola: the fair-price desk for MCX gold  ·  Hack in Hills ’26  ·  PS-03 Commodity Derivatives Intelligence</a:t>
            </a:r>
          </a:p>
        </p:txBody>
      </p:sp>
      <p:sp>
        <p:nvSpPr>
          <p:cNvPr id="92" name="Role Data and quant"/>
          <p:cNvSpPr/>
          <p:nvPr/>
        </p:nvSpPr>
        <p:spPr>
          <a:xfrm>
            <a:off x="822960" y="6172200"/>
            <a:ext cx="8183879" cy="324612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1097280" y="644652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IBM Plex Sans"/>
              </a:rPr>
              <a:t>1</a:t>
            </a:r>
          </a:p>
        </p:txBody>
      </p:sp>
      <p:sp>
        <p:nvSpPr>
          <p:cNvPr id="94" name="TextBox 93"/>
          <p:cNvSpPr txBox="1"/>
          <p:nvPr/>
        </p:nvSpPr>
        <p:spPr>
          <a:xfrm>
            <a:off x="1097280" y="7178040"/>
            <a:ext cx="7635240" cy="338554"/>
          </a:xfrm>
          <a:prstGeom prst="rect">
            <a:avLst/>
          </a:prstGeom>
          <a:noFill/>
        </p:spPr>
        <p:txBody>
          <a:bodyPr wrap="square" lIns="0" tIns="0" rIns="0" bIns="0" anchor="t">
            <a:spAutoFit/>
          </a:bodyPr>
          <a:lstStyle/>
          <a:p>
            <a:pPr algn="l"/>
            <a:r>
              <a:rPr lang="en-US" sz="2200" b="1" dirty="0">
                <a:solidFill>
                  <a:srgbClr val="1D1D1F"/>
                </a:solidFill>
                <a:latin typeface="Montserrat"/>
              </a:rPr>
              <a:t>Mrigank Singh</a:t>
            </a:r>
            <a:endParaRPr sz="2200" b="1" dirty="0">
              <a:solidFill>
                <a:srgbClr val="1D1D1F"/>
              </a:solidFill>
              <a:latin typeface="Montserrat"/>
            </a:endParaRPr>
          </a:p>
        </p:txBody>
      </p:sp>
      <p:sp>
        <p:nvSpPr>
          <p:cNvPr id="95" name="TextBox 94"/>
          <p:cNvSpPr txBox="1"/>
          <p:nvPr/>
        </p:nvSpPr>
        <p:spPr>
          <a:xfrm>
            <a:off x="1097280" y="7726679"/>
            <a:ext cx="7635240" cy="411480"/>
          </a:xfrm>
          <a:prstGeom prst="rect">
            <a:avLst/>
          </a:prstGeom>
          <a:noFill/>
        </p:spPr>
        <p:txBody>
          <a:bodyPr wrap="square" lIns="0" tIns="0" rIns="0" bIns="0" anchor="t">
            <a:spAutoFit/>
          </a:bodyPr>
          <a:lstStyle/>
          <a:p>
            <a:pPr algn="l"/>
            <a:r>
              <a:rPr sz="1800" b="1">
                <a:solidFill>
                  <a:srgbClr val="9A6A00"/>
                </a:solidFill>
                <a:latin typeface="IBM Plex Sans"/>
              </a:rPr>
              <a:t>Data and quant</a:t>
            </a:r>
          </a:p>
        </p:txBody>
      </p:sp>
      <p:sp>
        <p:nvSpPr>
          <p:cNvPr id="96" name="TextBox 95"/>
          <p:cNvSpPr txBox="1"/>
          <p:nvPr/>
        </p:nvSpPr>
        <p:spPr>
          <a:xfrm>
            <a:off x="1097280" y="8183879"/>
            <a:ext cx="7635240" cy="1097280"/>
          </a:xfrm>
          <a:prstGeom prst="rect">
            <a:avLst/>
          </a:prstGeom>
          <a:noFill/>
        </p:spPr>
        <p:txBody>
          <a:bodyPr wrap="square" lIns="0" tIns="0" rIns="0" bIns="0" anchor="t">
            <a:spAutoFit/>
          </a:bodyPr>
          <a:lstStyle/>
          <a:p>
            <a:pPr algn="l"/>
            <a:r>
              <a:rPr sz="1600" b="0">
                <a:solidFill>
                  <a:srgbClr val="5A6170"/>
                </a:solidFill>
                <a:latin typeface="Calibri"/>
              </a:rPr>
              <a:t>MCX fetcher, polled spot, versioned specs; gap decomposition, G0 gate, walk-forward and delivery-leg model</a:t>
            </a:r>
          </a:p>
        </p:txBody>
      </p:sp>
      <p:sp>
        <p:nvSpPr>
          <p:cNvPr id="97" name="Role Product and pitch"/>
          <p:cNvSpPr/>
          <p:nvPr/>
        </p:nvSpPr>
        <p:spPr>
          <a:xfrm>
            <a:off x="9281160" y="6172200"/>
            <a:ext cx="8183879" cy="324612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9555480" y="644652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IBM Plex Sans"/>
              </a:rPr>
              <a:t>2</a:t>
            </a:r>
          </a:p>
        </p:txBody>
      </p:sp>
      <p:sp>
        <p:nvSpPr>
          <p:cNvPr id="99" name="TextBox 98"/>
          <p:cNvSpPr txBox="1"/>
          <p:nvPr/>
        </p:nvSpPr>
        <p:spPr>
          <a:xfrm>
            <a:off x="9555480" y="7178040"/>
            <a:ext cx="7635240" cy="338554"/>
          </a:xfrm>
          <a:prstGeom prst="rect">
            <a:avLst/>
          </a:prstGeom>
          <a:noFill/>
        </p:spPr>
        <p:txBody>
          <a:bodyPr wrap="square" lIns="0" tIns="0" rIns="0" bIns="0" anchor="t">
            <a:spAutoFit/>
          </a:bodyPr>
          <a:lstStyle/>
          <a:p>
            <a:pPr algn="l"/>
            <a:r>
              <a:rPr lang="en-US" sz="2200" b="1" dirty="0">
                <a:solidFill>
                  <a:srgbClr val="1D1D1F"/>
                </a:solidFill>
                <a:latin typeface="Montserrat"/>
              </a:rPr>
              <a:t>Lakshita </a:t>
            </a:r>
            <a:r>
              <a:rPr lang="en-US" sz="2200" b="1" dirty="0" err="1">
                <a:solidFill>
                  <a:srgbClr val="1D1D1F"/>
                </a:solidFill>
                <a:latin typeface="Montserrat"/>
              </a:rPr>
              <a:t>Deopura</a:t>
            </a:r>
            <a:endParaRPr sz="2200" b="1" dirty="0">
              <a:solidFill>
                <a:srgbClr val="1D1D1F"/>
              </a:solidFill>
              <a:latin typeface="Montserrat"/>
            </a:endParaRPr>
          </a:p>
        </p:txBody>
      </p:sp>
      <p:sp>
        <p:nvSpPr>
          <p:cNvPr id="100" name="TextBox 99"/>
          <p:cNvSpPr txBox="1"/>
          <p:nvPr/>
        </p:nvSpPr>
        <p:spPr>
          <a:xfrm>
            <a:off x="9555480" y="7726679"/>
            <a:ext cx="7635240" cy="411480"/>
          </a:xfrm>
          <a:prstGeom prst="rect">
            <a:avLst/>
          </a:prstGeom>
          <a:noFill/>
        </p:spPr>
        <p:txBody>
          <a:bodyPr wrap="square" lIns="0" tIns="0" rIns="0" bIns="0" anchor="t">
            <a:spAutoFit/>
          </a:bodyPr>
          <a:lstStyle/>
          <a:p>
            <a:pPr algn="l"/>
            <a:r>
              <a:rPr sz="1800" b="1">
                <a:solidFill>
                  <a:srgbClr val="9A6A00"/>
                </a:solidFill>
                <a:latin typeface="IBM Plex Sans"/>
              </a:rPr>
              <a:t>Product and pitch</a:t>
            </a:r>
          </a:p>
        </p:txBody>
      </p:sp>
      <p:sp>
        <p:nvSpPr>
          <p:cNvPr id="101" name="TextBox 100"/>
          <p:cNvSpPr txBox="1"/>
          <p:nvPr/>
        </p:nvSpPr>
        <p:spPr>
          <a:xfrm>
            <a:off x="9555480" y="8183879"/>
            <a:ext cx="7635240" cy="1097280"/>
          </a:xfrm>
          <a:prstGeom prst="rect">
            <a:avLst/>
          </a:prstGeom>
          <a:noFill/>
        </p:spPr>
        <p:txBody>
          <a:bodyPr wrap="square" lIns="0" tIns="0" rIns="0" bIns="0" anchor="t">
            <a:spAutoFit/>
          </a:bodyPr>
          <a:lstStyle/>
          <a:p>
            <a:pPr algn="l"/>
            <a:r>
              <a:rPr sz="1600" b="0">
                <a:solidFill>
                  <a:srgbClr val="5A6170"/>
                </a:solidFill>
                <a:latin typeface="Calibri"/>
              </a:rPr>
              <a:t>Desk UI, “which contract?” chooser, alert log; market research, deck and demo video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8" name="Google Shape;98;p14"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99" name="Section label"/>
          <p:cNvSpPr txBox="1"/>
          <p:nvPr/>
        </p:nvSpPr>
        <p:spPr>
          <a:xfrm>
            <a:off x="548640" y="1444752"/>
            <a:ext cx="17190720" cy="365760"/>
          </a:xfrm>
          <a:prstGeom prst="rect">
            <a:avLst/>
          </a:prstGeom>
          <a:noFill/>
        </p:spPr>
        <p:txBody>
          <a:bodyPr wrap="square" lIns="0" tIns="0" rIns="0" bIns="0" anchor="t">
            <a:spAutoFit/>
          </a:bodyPr>
          <a:lstStyle/>
          <a:p>
            <a:pPr algn="l"/>
            <a:r>
              <a:rPr sz="1700" b="1">
                <a:solidFill>
                  <a:srgbClr val="9A6A00"/>
                </a:solidFill>
                <a:latin typeface="Montserrat"/>
              </a:rPr>
              <a:t>PROBLEM STATEMENT &amp; THEME</a:t>
            </a:r>
          </a:p>
        </p:txBody>
      </p:sp>
      <p:sp>
        <p:nvSpPr>
          <p:cNvPr id="100" name="Title"/>
          <p:cNvSpPr txBox="1"/>
          <p:nvPr/>
        </p:nvSpPr>
        <p:spPr>
          <a:xfrm>
            <a:off x="548640" y="1847088"/>
            <a:ext cx="17190720" cy="731520"/>
          </a:xfrm>
          <a:prstGeom prst="rect">
            <a:avLst/>
          </a:prstGeom>
          <a:noFill/>
        </p:spPr>
        <p:txBody>
          <a:bodyPr wrap="square" lIns="0" tIns="0" rIns="0" bIns="0" anchor="t">
            <a:spAutoFit/>
          </a:bodyPr>
          <a:lstStyle/>
          <a:p>
            <a:pPr algn="l"/>
            <a:r>
              <a:rPr sz="3600" b="1">
                <a:solidFill>
                  <a:srgbClr val="000000"/>
                </a:solidFill>
                <a:latin typeface="Montserrat"/>
              </a:rPr>
              <a:t>One gram of gold, five prices</a:t>
            </a:r>
          </a:p>
        </p:txBody>
      </p:sp>
      <p:graphicFrame>
        <p:nvGraphicFramePr>
          <p:cNvPr id="101" name="Premium by cycle chart"/>
          <p:cNvGraphicFramePr>
            <a:graphicFrameLocks noGrp="1"/>
          </p:cNvGraphicFramePr>
          <p:nvPr/>
        </p:nvGraphicFramePr>
        <p:xfrm>
          <a:off x="548640" y="2880360"/>
          <a:ext cx="10881360" cy="6537960"/>
        </p:xfrm>
        <a:graphic>
          <a:graphicData uri="http://schemas.openxmlformats.org/drawingml/2006/chart">
            <c:chart xmlns:c="http://schemas.openxmlformats.org/drawingml/2006/chart" xmlns:r="http://schemas.openxmlformats.org/officeDocument/2006/relationships" r:id="rId4"/>
          </a:graphicData>
        </a:graphic>
      </p:graphicFrame>
      <p:cxnSp>
        <p:nvCxnSpPr>
          <p:cNvPr id="102" name="Context line Jan 26"/>
          <p:cNvCxnSpPr/>
          <p:nvPr/>
        </p:nvCxnSpPr>
        <p:spPr>
          <a:xfrm>
            <a:off x="6610464" y="3730294"/>
            <a:ext cx="0" cy="4576572"/>
          </a:xfrm>
          <a:prstGeom prst="line">
            <a:avLst/>
          </a:prstGeom>
          <a:ln w="15875">
            <a:solidFill>
              <a:srgbClr val="5A6170"/>
            </a:solidFill>
            <a:prstDash val="lgDash"/>
          </a:ln>
        </p:spPr>
        <p:style>
          <a:lnRef idx="2">
            <a:schemeClr val="accent1"/>
          </a:lnRef>
          <a:fillRef idx="0">
            <a:schemeClr val="accent1"/>
          </a:fillRef>
          <a:effectRef idx="1">
            <a:schemeClr val="accent1"/>
          </a:effectRef>
          <a:fontRef idx="minor">
            <a:schemeClr val="tx1"/>
          </a:fontRef>
        </p:style>
      </p:cxnSp>
      <p:sp>
        <p:nvSpPr>
          <p:cNvPr id="103" name="Context label Jan 26"/>
          <p:cNvSpPr txBox="1"/>
          <p:nvPr/>
        </p:nvSpPr>
        <p:spPr>
          <a:xfrm>
            <a:off x="3775824" y="3776014"/>
            <a:ext cx="2743200" cy="365760"/>
          </a:xfrm>
          <a:prstGeom prst="rect">
            <a:avLst/>
          </a:prstGeom>
          <a:noFill/>
        </p:spPr>
        <p:txBody>
          <a:bodyPr wrap="square" lIns="0" tIns="0" rIns="0" bIns="0" anchor="t">
            <a:spAutoFit/>
          </a:bodyPr>
          <a:lstStyle/>
          <a:p>
            <a:pPr algn="r"/>
            <a:r>
              <a:rPr sz="1300" b="1">
                <a:solidFill>
                  <a:srgbClr val="5A6170"/>
                </a:solidFill>
                <a:latin typeface="IBM Plex Sans"/>
              </a:rPr>
              <a:t>30 Jan crash</a:t>
            </a:r>
          </a:p>
        </p:txBody>
      </p:sp>
      <p:cxnSp>
        <p:nvCxnSpPr>
          <p:cNvPr id="104" name="Context line May 26"/>
          <p:cNvCxnSpPr/>
          <p:nvPr/>
        </p:nvCxnSpPr>
        <p:spPr>
          <a:xfrm>
            <a:off x="8750465" y="3730294"/>
            <a:ext cx="0" cy="4576572"/>
          </a:xfrm>
          <a:prstGeom prst="line">
            <a:avLst/>
          </a:prstGeom>
          <a:ln w="15875">
            <a:solidFill>
              <a:srgbClr val="5A6170"/>
            </a:solidFill>
            <a:prstDash val="lgDash"/>
          </a:ln>
        </p:spPr>
        <p:style>
          <a:lnRef idx="2">
            <a:schemeClr val="accent1"/>
          </a:lnRef>
          <a:fillRef idx="0">
            <a:schemeClr val="accent1"/>
          </a:fillRef>
          <a:effectRef idx="1">
            <a:schemeClr val="accent1"/>
          </a:effectRef>
          <a:fontRef idx="minor">
            <a:schemeClr val="tx1"/>
          </a:fontRef>
        </p:style>
      </p:cxnSp>
      <p:sp>
        <p:nvSpPr>
          <p:cNvPr id="105" name="Context label May 26"/>
          <p:cNvSpPr txBox="1"/>
          <p:nvPr/>
        </p:nvSpPr>
        <p:spPr>
          <a:xfrm>
            <a:off x="5915825" y="3776014"/>
            <a:ext cx="2743200" cy="365760"/>
          </a:xfrm>
          <a:prstGeom prst="rect">
            <a:avLst/>
          </a:prstGeom>
          <a:noFill/>
        </p:spPr>
        <p:txBody>
          <a:bodyPr wrap="square" lIns="0" tIns="0" rIns="0" bIns="0" anchor="t">
            <a:spAutoFit/>
          </a:bodyPr>
          <a:lstStyle/>
          <a:p>
            <a:pPr algn="r"/>
            <a:r>
              <a:rPr sz="1300" b="1">
                <a:solidFill>
                  <a:srgbClr val="5A6170"/>
                </a:solidFill>
                <a:latin typeface="IBM Plex Sans"/>
              </a:rPr>
              <a:t>Import duty 6→15%</a:t>
            </a:r>
          </a:p>
        </p:txBody>
      </p:sp>
      <p:sp>
        <p:nvSpPr>
          <p:cNvPr id="106" name="Block Problem"/>
          <p:cNvSpPr/>
          <p:nvPr/>
        </p:nvSpPr>
        <p:spPr>
          <a:xfrm>
            <a:off x="11795760" y="2880360"/>
            <a:ext cx="5943600" cy="196596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12070080" y="3063240"/>
            <a:ext cx="5394960" cy="365760"/>
          </a:xfrm>
          <a:prstGeom prst="rect">
            <a:avLst/>
          </a:prstGeom>
          <a:noFill/>
        </p:spPr>
        <p:txBody>
          <a:bodyPr wrap="square" lIns="0" tIns="0" rIns="0" bIns="0" anchor="t">
            <a:spAutoFit/>
          </a:bodyPr>
          <a:lstStyle/>
          <a:p>
            <a:pPr algn="l"/>
            <a:r>
              <a:rPr sz="1900" b="1">
                <a:solidFill>
                  <a:srgbClr val="9A6A00"/>
                </a:solidFill>
                <a:latin typeface="Montserrat"/>
              </a:rPr>
              <a:t>Problem</a:t>
            </a:r>
          </a:p>
        </p:txBody>
      </p:sp>
      <p:sp>
        <p:nvSpPr>
          <p:cNvPr id="108" name="TextBox 107"/>
          <p:cNvSpPr txBox="1"/>
          <p:nvPr/>
        </p:nvSpPr>
        <p:spPr>
          <a:xfrm>
            <a:off x="12070080" y="3520439"/>
            <a:ext cx="5394960" cy="1234439"/>
          </a:xfrm>
          <a:prstGeom prst="rect">
            <a:avLst/>
          </a:prstGeom>
          <a:noFill/>
        </p:spPr>
        <p:txBody>
          <a:bodyPr wrap="square" lIns="0" tIns="0" rIns="0" bIns="0" anchor="t">
            <a:spAutoFit/>
          </a:bodyPr>
          <a:lstStyle/>
          <a:p>
            <a:pPr algn="l">
              <a:spcAft>
                <a:spcPts val="300"/>
              </a:spcAft>
            </a:pPr>
            <a:r>
              <a:rPr sz="1600" b="1">
                <a:solidFill>
                  <a:srgbClr val="1D1D1F"/>
                </a:solidFill>
                <a:latin typeface="Calibri"/>
              </a:rPr>
              <a:t>GOLDGUINEA +79 bp</a:t>
            </a:r>
            <a:r>
              <a:rPr sz="1600" b="0">
                <a:solidFill>
                  <a:srgbClr val="1D1D1F"/>
                </a:solidFill>
                <a:latin typeface="Calibri"/>
              </a:rPr>
              <a:t> and </a:t>
            </a:r>
            <a:r>
              <a:rPr sz="1600" b="1">
                <a:solidFill>
                  <a:srgbClr val="1D1D1F"/>
                </a:solidFill>
                <a:latin typeface="Calibri"/>
              </a:rPr>
              <a:t>GOLDPETAL +94 bp</a:t>
            </a:r>
            <a:r>
              <a:rPr sz="1600" b="0">
                <a:solidFill>
                  <a:srgbClr val="1D1D1F"/>
                </a:solidFill>
                <a:latin typeface="Calibri"/>
              </a:rPr>
              <a:t> over GOLDTEN, though all three settle to the same price per gram. Every cycle, 18 of 18 (Apr 2025 – Sep 2026).</a:t>
            </a:r>
          </a:p>
        </p:txBody>
      </p:sp>
      <p:sp>
        <p:nvSpPr>
          <p:cNvPr id="109" name="Block Impact"/>
          <p:cNvSpPr/>
          <p:nvPr/>
        </p:nvSpPr>
        <p:spPr>
          <a:xfrm>
            <a:off x="11795760" y="4983479"/>
            <a:ext cx="5943600" cy="169164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12070080" y="5166359"/>
            <a:ext cx="5394960" cy="365760"/>
          </a:xfrm>
          <a:prstGeom prst="rect">
            <a:avLst/>
          </a:prstGeom>
          <a:noFill/>
        </p:spPr>
        <p:txBody>
          <a:bodyPr wrap="square" lIns="0" tIns="0" rIns="0" bIns="0" anchor="t">
            <a:spAutoFit/>
          </a:bodyPr>
          <a:lstStyle/>
          <a:p>
            <a:pPr algn="l"/>
            <a:r>
              <a:rPr sz="1900" b="1">
                <a:solidFill>
                  <a:srgbClr val="9A6A00"/>
                </a:solidFill>
                <a:latin typeface="Montserrat"/>
              </a:rPr>
              <a:t>Impact</a:t>
            </a:r>
          </a:p>
        </p:txBody>
      </p:sp>
      <p:sp>
        <p:nvSpPr>
          <p:cNvPr id="111" name="TextBox 110"/>
          <p:cNvSpPr txBox="1"/>
          <p:nvPr/>
        </p:nvSpPr>
        <p:spPr>
          <a:xfrm>
            <a:off x="12070080" y="5623559"/>
            <a:ext cx="5394960" cy="960120"/>
          </a:xfrm>
          <a:prstGeom prst="rect">
            <a:avLst/>
          </a:prstGeom>
          <a:noFill/>
        </p:spPr>
        <p:txBody>
          <a:bodyPr wrap="square" lIns="0" tIns="0" rIns="0" bIns="0" anchor="t">
            <a:spAutoFit/>
          </a:bodyPr>
          <a:lstStyle/>
          <a:p>
            <a:pPr algn="l">
              <a:spcAft>
                <a:spcPts val="300"/>
              </a:spcAft>
            </a:pPr>
            <a:r>
              <a:rPr sz="1600" b="1">
                <a:solidFill>
                  <a:srgbClr val="1D1D1F"/>
                </a:solidFill>
                <a:latin typeface="Calibri"/>
              </a:rPr>
              <a:t>Hold to delivery: </a:t>
            </a:r>
            <a:r>
              <a:rPr sz="1600" b="0">
                <a:solidFill>
                  <a:srgbClr val="1D1D1F"/>
                </a:solidFill>
                <a:latin typeface="Calibri"/>
              </a:rPr>
              <a:t>≈ ₹1,170–1,390 per 10 g.</a:t>
            </a:r>
          </a:p>
          <a:p>
            <a:pPr algn="l">
              <a:spcAft>
                <a:spcPts val="300"/>
              </a:spcAft>
            </a:pPr>
            <a:r>
              <a:rPr sz="1600" b="1">
                <a:solidFill>
                  <a:srgbClr val="1D1D1F"/>
                </a:solidFill>
                <a:latin typeface="Calibri"/>
              </a:rPr>
              <a:t>Exit early: </a:t>
            </a:r>
            <a:r>
              <a:rPr sz="1600" b="0">
                <a:solidFill>
                  <a:srgbClr val="1D1D1F"/>
                </a:solidFill>
                <a:latin typeface="Calibri"/>
              </a:rPr>
              <a:t>≈ 6–11 bp. No trading app shows either.</a:t>
            </a:r>
          </a:p>
        </p:txBody>
      </p:sp>
      <p:sp>
        <p:nvSpPr>
          <p:cNvPr id="112" name="Block Theme alignment"/>
          <p:cNvSpPr/>
          <p:nvPr/>
        </p:nvSpPr>
        <p:spPr>
          <a:xfrm>
            <a:off x="11795760" y="6812279"/>
            <a:ext cx="5943600" cy="260604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12070080" y="6995159"/>
            <a:ext cx="5394960" cy="365760"/>
          </a:xfrm>
          <a:prstGeom prst="rect">
            <a:avLst/>
          </a:prstGeom>
          <a:noFill/>
        </p:spPr>
        <p:txBody>
          <a:bodyPr wrap="square" lIns="0" tIns="0" rIns="0" bIns="0" anchor="t">
            <a:spAutoFit/>
          </a:bodyPr>
          <a:lstStyle/>
          <a:p>
            <a:pPr algn="l"/>
            <a:r>
              <a:rPr sz="1900" b="1">
                <a:solidFill>
                  <a:srgbClr val="9A6A00"/>
                </a:solidFill>
                <a:latin typeface="Montserrat"/>
              </a:rPr>
              <a:t>Theme alignment</a:t>
            </a:r>
          </a:p>
        </p:txBody>
      </p:sp>
      <p:sp>
        <p:nvSpPr>
          <p:cNvPr id="114" name="TextBox 113"/>
          <p:cNvSpPr txBox="1"/>
          <p:nvPr/>
        </p:nvSpPr>
        <p:spPr>
          <a:xfrm>
            <a:off x="12070080" y="7452359"/>
            <a:ext cx="5394960" cy="1874519"/>
          </a:xfrm>
          <a:prstGeom prst="rect">
            <a:avLst/>
          </a:prstGeom>
          <a:noFill/>
        </p:spPr>
        <p:txBody>
          <a:bodyPr wrap="square" lIns="0" tIns="0" rIns="0" bIns="0" anchor="t">
            <a:spAutoFit/>
          </a:bodyPr>
          <a:lstStyle/>
          <a:p>
            <a:pPr algn="l">
              <a:spcAft>
                <a:spcPts val="300"/>
              </a:spcAft>
            </a:pPr>
            <a:r>
              <a:rPr sz="1600" b="1">
                <a:solidFill>
                  <a:srgbClr val="1D1D1F"/>
                </a:solidFill>
                <a:latin typeface="Calibri"/>
              </a:rPr>
              <a:t>Relative value · </a:t>
            </a:r>
            <a:r>
              <a:rPr sz="1600" b="0">
                <a:solidFill>
                  <a:srgbClr val="1D1D1F"/>
                </a:solidFill>
                <a:latin typeface="Calibri"/>
              </a:rPr>
              <a:t>gaps decomposed per gram</a:t>
            </a:r>
          </a:p>
          <a:p>
            <a:pPr algn="l">
              <a:spcAft>
                <a:spcPts val="300"/>
              </a:spcAft>
            </a:pPr>
            <a:r>
              <a:rPr sz="1600" b="1">
                <a:solidFill>
                  <a:srgbClr val="1D1D1F"/>
                </a:solidFill>
                <a:latin typeface="Calibri"/>
              </a:rPr>
              <a:t>Carry · </a:t>
            </a:r>
            <a:r>
              <a:rPr sz="1600" b="0">
                <a:solidFill>
                  <a:srgbClr val="1D1D1F"/>
                </a:solidFill>
                <a:latin typeface="Calibri"/>
              </a:rPr>
              <a:t>implied from each contract’s curve</a:t>
            </a:r>
          </a:p>
          <a:p>
            <a:pPr algn="l">
              <a:spcAft>
                <a:spcPts val="300"/>
              </a:spcAft>
            </a:pPr>
            <a:r>
              <a:rPr sz="1600" b="1">
                <a:solidFill>
                  <a:srgbClr val="1D1D1F"/>
                </a:solidFill>
                <a:latin typeface="Calibri"/>
              </a:rPr>
              <a:t>Walk-forward · </a:t>
            </a:r>
            <a:r>
              <a:rPr sz="1600" b="0">
                <a:solidFill>
                  <a:srgbClr val="1D1D1F"/>
                </a:solidFill>
                <a:latin typeface="Calibri"/>
              </a:rPr>
              <a:t>pre-registered G0, then M4</a:t>
            </a:r>
          </a:p>
          <a:p>
            <a:pPr algn="l">
              <a:spcAft>
                <a:spcPts val="300"/>
              </a:spcAft>
            </a:pPr>
            <a:r>
              <a:rPr sz="1600" b="1">
                <a:solidFill>
                  <a:srgbClr val="1D1D1F"/>
                </a:solidFill>
                <a:latin typeface="Calibri"/>
              </a:rPr>
              <a:t>Trader intelligence · </a:t>
            </a:r>
            <a:r>
              <a:rPr sz="1600" b="0">
                <a:solidFill>
                  <a:srgbClr val="1D1D1F"/>
                </a:solidFill>
                <a:latin typeface="Calibri"/>
              </a:rPr>
              <a:t>chooser, quiet alert log</a:t>
            </a:r>
          </a:p>
          <a:p>
            <a:pPr algn="l">
              <a:spcAft>
                <a:spcPts val="300"/>
              </a:spcAft>
            </a:pPr>
            <a:r>
              <a:rPr sz="1600" b="1">
                <a:solidFill>
                  <a:srgbClr val="1D1D1F"/>
                </a:solidFill>
                <a:latin typeface="Calibri"/>
              </a:rPr>
              <a:t>Lifecycle · </a:t>
            </a:r>
            <a:r>
              <a:rPr sz="1600" b="0">
                <a:solidFill>
                  <a:srgbClr val="1D1D1F"/>
                </a:solidFill>
                <a:latin typeface="Calibri"/>
              </a:rPr>
              <a:t>tender windows, versioned specs</a:t>
            </a:r>
          </a:p>
        </p:txBody>
      </p:sp>
      <p:sp>
        <p:nvSpPr>
          <p:cNvPr id="115" name="Source note"/>
          <p:cNvSpPr txBox="1"/>
          <p:nvPr/>
        </p:nvSpPr>
        <p:spPr>
          <a:xfrm>
            <a:off x="548640" y="9692640"/>
            <a:ext cx="17190720" cy="365760"/>
          </a:xfrm>
          <a:prstGeom prst="rect">
            <a:avLst/>
          </a:prstGeom>
          <a:noFill/>
        </p:spPr>
        <p:txBody>
          <a:bodyPr wrap="square" lIns="0" tIns="0" rIns="0" bIns="0" anchor="t">
            <a:spAutoFit/>
          </a:bodyPr>
          <a:lstStyle/>
          <a:p>
            <a:pPr algn="l"/>
            <a:r>
              <a:rPr sz="1200" b="0">
                <a:solidFill>
                  <a:srgbClr val="5A6170"/>
                </a:solidFill>
                <a:latin typeface="Calibri"/>
              </a:rPr>
              <a:t>Source: MCX bhavcopy + polled spot (our pipeline), Apr 2025 – Sep 2026 expiries; pre-tender days, ≥ ₹1 Cr per leg. Settlement price per gram identical for GOLDTEN and GOLDGUINEA in 18/18 cycles. Dashed lines: context, not cause. ₹ at ≈ ₹14,800/g.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107" name="Google Shape;107;p15"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08" name="Section label"/>
          <p:cNvSpPr txBox="1"/>
          <p:nvPr/>
        </p:nvSpPr>
        <p:spPr>
          <a:xfrm>
            <a:off x="548640" y="1444752"/>
            <a:ext cx="17190720" cy="365760"/>
          </a:xfrm>
          <a:prstGeom prst="rect">
            <a:avLst/>
          </a:prstGeom>
          <a:noFill/>
        </p:spPr>
        <p:txBody>
          <a:bodyPr wrap="square" lIns="0" tIns="0" rIns="0" bIns="0" anchor="t">
            <a:spAutoFit/>
          </a:bodyPr>
          <a:lstStyle/>
          <a:p>
            <a:pPr algn="l"/>
            <a:r>
              <a:rPr sz="1700" b="1">
                <a:solidFill>
                  <a:srgbClr val="9A6A00"/>
                </a:solidFill>
                <a:latin typeface="Montserrat"/>
              </a:rPr>
              <a:t>SOLUTION</a:t>
            </a:r>
          </a:p>
        </p:txBody>
      </p:sp>
      <p:sp>
        <p:nvSpPr>
          <p:cNvPr id="109" name="Title"/>
          <p:cNvSpPr txBox="1"/>
          <p:nvPr/>
        </p:nvSpPr>
        <p:spPr>
          <a:xfrm>
            <a:off x="548640" y="1847088"/>
            <a:ext cx="17190720" cy="731520"/>
          </a:xfrm>
          <a:prstGeom prst="rect">
            <a:avLst/>
          </a:prstGeom>
          <a:noFill/>
        </p:spPr>
        <p:txBody>
          <a:bodyPr wrap="square" lIns="0" tIns="0" rIns="0" bIns="0" anchor="t">
            <a:spAutoFit/>
          </a:bodyPr>
          <a:lstStyle/>
          <a:p>
            <a:pPr algn="l"/>
            <a:r>
              <a:rPr sz="3600" b="1">
                <a:solidFill>
                  <a:srgbClr val="000000"/>
                </a:solidFill>
                <a:latin typeface="Montserrat"/>
              </a:rPr>
              <a:t>Every gap explained, then a decision</a:t>
            </a:r>
          </a:p>
        </p:txBody>
      </p:sp>
      <p:sp>
        <p:nvSpPr>
          <p:cNvPr id="110" name="TextBox 109"/>
          <p:cNvSpPr txBox="1"/>
          <p:nvPr/>
        </p:nvSpPr>
        <p:spPr>
          <a:xfrm>
            <a:off x="548640" y="2880360"/>
            <a:ext cx="7680960" cy="1188720"/>
          </a:xfrm>
          <a:prstGeom prst="rect">
            <a:avLst/>
          </a:prstGeom>
          <a:noFill/>
        </p:spPr>
        <p:txBody>
          <a:bodyPr wrap="square" lIns="0" tIns="0" rIns="0" bIns="0" anchor="t">
            <a:spAutoFit/>
          </a:bodyPr>
          <a:lstStyle/>
          <a:p>
            <a:pPr algn="l"/>
            <a:r>
              <a:rPr sz="1800" b="0">
                <a:solidFill>
                  <a:srgbClr val="1D1D1F"/>
                </a:solidFill>
                <a:latin typeface="Calibri"/>
              </a:rPr>
              <a:t>Tola splits each price gap into unit, carry, settlement reference, delivery terms and residual, measured against the exchange’s own polled spot price.</a:t>
            </a:r>
          </a:p>
        </p:txBody>
      </p:sp>
      <p:sp>
        <p:nvSpPr>
          <p:cNvPr id="111" name="Oval 110"/>
          <p:cNvSpPr/>
          <p:nvPr/>
        </p:nvSpPr>
        <p:spPr>
          <a:xfrm>
            <a:off x="548640" y="4306824"/>
            <a:ext cx="329184" cy="329184"/>
          </a:xfrm>
          <a:prstGeom prst="ellipse">
            <a:avLst/>
          </a:prstGeom>
          <a:solidFill>
            <a:srgbClr val="D9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1097280" y="4251960"/>
            <a:ext cx="7132320" cy="685800"/>
          </a:xfrm>
          <a:prstGeom prst="rect">
            <a:avLst/>
          </a:prstGeom>
          <a:noFill/>
        </p:spPr>
        <p:txBody>
          <a:bodyPr wrap="square" lIns="0" tIns="0" rIns="0" bIns="0" anchor="t">
            <a:spAutoFit/>
          </a:bodyPr>
          <a:lstStyle/>
          <a:p>
            <a:pPr algn="l"/>
            <a:r>
              <a:rPr sz="1700" b="1">
                <a:solidFill>
                  <a:srgbClr val="1D1D1F"/>
                </a:solidFill>
                <a:latin typeface="IBM Plex Sans"/>
              </a:rPr>
              <a:t>Decomposition waterfall</a:t>
            </a:r>
            <a:r>
              <a:rPr sz="1700" b="0">
                <a:solidFill>
                  <a:srgbClr val="5A6170"/>
                </a:solidFill>
                <a:latin typeface="Calibri"/>
              </a:rPr>
              <a:t>  every contract, every day</a:t>
            </a:r>
          </a:p>
        </p:txBody>
      </p:sp>
      <p:sp>
        <p:nvSpPr>
          <p:cNvPr id="113" name="Oval 112"/>
          <p:cNvSpPr/>
          <p:nvPr/>
        </p:nvSpPr>
        <p:spPr>
          <a:xfrm>
            <a:off x="548640" y="5093208"/>
            <a:ext cx="329184" cy="329184"/>
          </a:xfrm>
          <a:prstGeom prst="ellipse">
            <a:avLst/>
          </a:prstGeom>
          <a:solidFill>
            <a:srgbClr val="D9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1097280" y="5038344"/>
            <a:ext cx="7132320" cy="685800"/>
          </a:xfrm>
          <a:prstGeom prst="rect">
            <a:avLst/>
          </a:prstGeom>
          <a:noFill/>
        </p:spPr>
        <p:txBody>
          <a:bodyPr wrap="square" lIns="0" tIns="0" rIns="0" bIns="0" anchor="t">
            <a:spAutoFit/>
          </a:bodyPr>
          <a:lstStyle/>
          <a:p>
            <a:pPr algn="l"/>
            <a:r>
              <a:rPr sz="1700" b="1">
                <a:solidFill>
                  <a:srgbClr val="1D1D1F"/>
                </a:solidFill>
                <a:latin typeface="IBM Plex Sans"/>
              </a:rPr>
              <a:t>Convergence monitor</a:t>
            </a:r>
            <a:r>
              <a:rPr sz="1700" b="0">
                <a:solidFill>
                  <a:srgbClr val="5A6170"/>
                </a:solidFill>
                <a:latin typeface="Calibri"/>
              </a:rPr>
              <a:t>  contracts that settle to the same price</a:t>
            </a:r>
          </a:p>
        </p:txBody>
      </p:sp>
      <p:sp>
        <p:nvSpPr>
          <p:cNvPr id="115" name="Oval 114"/>
          <p:cNvSpPr/>
          <p:nvPr/>
        </p:nvSpPr>
        <p:spPr>
          <a:xfrm>
            <a:off x="548640" y="5879592"/>
            <a:ext cx="329184" cy="329184"/>
          </a:xfrm>
          <a:prstGeom prst="ellipse">
            <a:avLst/>
          </a:prstGeom>
          <a:solidFill>
            <a:srgbClr val="D9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1097280" y="5824728"/>
            <a:ext cx="7132320" cy="685800"/>
          </a:xfrm>
          <a:prstGeom prst="rect">
            <a:avLst/>
          </a:prstGeom>
          <a:noFill/>
        </p:spPr>
        <p:txBody>
          <a:bodyPr wrap="square" lIns="0" tIns="0" rIns="0" bIns="0" anchor="t">
            <a:spAutoFit/>
          </a:bodyPr>
          <a:lstStyle/>
          <a:p>
            <a:pPr algn="l"/>
            <a:r>
              <a:rPr sz="1700" b="1">
                <a:solidFill>
                  <a:srgbClr val="1D1D1F"/>
                </a:solidFill>
                <a:latin typeface="IBM Plex Sans"/>
              </a:rPr>
              <a:t>Walk-forward verdict</a:t>
            </a:r>
            <a:r>
              <a:rPr sz="1700" b="0">
                <a:solidFill>
                  <a:srgbClr val="5A6170"/>
                </a:solidFill>
                <a:latin typeface="Calibri"/>
              </a:rPr>
              <a:t>  including the delivery leg</a:t>
            </a:r>
          </a:p>
        </p:txBody>
      </p:sp>
      <p:sp>
        <p:nvSpPr>
          <p:cNvPr id="117" name="Oval 116"/>
          <p:cNvSpPr/>
          <p:nvPr/>
        </p:nvSpPr>
        <p:spPr>
          <a:xfrm>
            <a:off x="548640" y="6665976"/>
            <a:ext cx="329184" cy="329184"/>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1097280" y="6611112"/>
            <a:ext cx="7132320" cy="685800"/>
          </a:xfrm>
          <a:prstGeom prst="rect">
            <a:avLst/>
          </a:prstGeom>
          <a:noFill/>
        </p:spPr>
        <p:txBody>
          <a:bodyPr wrap="square" lIns="0" tIns="0" rIns="0" bIns="0" anchor="t">
            <a:spAutoFit/>
          </a:bodyPr>
          <a:lstStyle/>
          <a:p>
            <a:pPr algn="l"/>
            <a:r>
              <a:rPr sz="1700" b="1">
                <a:solidFill>
                  <a:srgbClr val="1D1D1F"/>
                </a:solidFill>
                <a:latin typeface="IBM Plex Sans"/>
              </a:rPr>
              <a:t>“Which contract?” chooser</a:t>
            </a:r>
            <a:r>
              <a:rPr sz="1700" b="0">
                <a:solidFill>
                  <a:srgbClr val="5A6170"/>
                </a:solidFill>
                <a:latin typeface="Calibri"/>
              </a:rPr>
              <a:t>  quantity, holding period, take delivery or not</a:t>
            </a:r>
          </a:p>
        </p:txBody>
      </p:sp>
      <p:sp>
        <p:nvSpPr>
          <p:cNvPr id="119" name="Oval 118"/>
          <p:cNvSpPr/>
          <p:nvPr/>
        </p:nvSpPr>
        <p:spPr>
          <a:xfrm>
            <a:off x="548640" y="7452360"/>
            <a:ext cx="329184" cy="329184"/>
          </a:xfrm>
          <a:prstGeom prst="ellipse">
            <a:avLst/>
          </a:prstGeom>
          <a:solidFill>
            <a:srgbClr val="D9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1097280" y="7397496"/>
            <a:ext cx="7132320" cy="685800"/>
          </a:xfrm>
          <a:prstGeom prst="rect">
            <a:avLst/>
          </a:prstGeom>
          <a:noFill/>
        </p:spPr>
        <p:txBody>
          <a:bodyPr wrap="square" lIns="0" tIns="0" rIns="0" bIns="0" anchor="t">
            <a:spAutoFit/>
          </a:bodyPr>
          <a:lstStyle/>
          <a:p>
            <a:pPr algn="l"/>
            <a:r>
              <a:rPr sz="1700" b="1">
                <a:solidFill>
                  <a:srgbClr val="1D1D1F"/>
                </a:solidFill>
                <a:latin typeface="IBM Plex Sans"/>
              </a:rPr>
              <a:t>Quiet alert log</a:t>
            </a:r>
            <a:r>
              <a:rPr sz="1700" b="0">
                <a:solidFill>
                  <a:srgbClr val="5A6170"/>
                </a:solidFill>
                <a:latin typeface="Calibri"/>
              </a:rPr>
              <a:t>  silent unless a gap clears costs</a:t>
            </a:r>
          </a:p>
        </p:txBody>
      </p:sp>
      <p:sp>
        <p:nvSpPr>
          <p:cNvPr id="121" name="Unique value"/>
          <p:cNvSpPr/>
          <p:nvPr/>
        </p:nvSpPr>
        <p:spPr>
          <a:xfrm>
            <a:off x="548640" y="8366760"/>
            <a:ext cx="7680960" cy="109728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822960" y="8503920"/>
            <a:ext cx="7132320" cy="868680"/>
          </a:xfrm>
          <a:prstGeom prst="rect">
            <a:avLst/>
          </a:prstGeom>
          <a:noFill/>
        </p:spPr>
        <p:txBody>
          <a:bodyPr wrap="square" lIns="0" tIns="0" rIns="0" bIns="0" anchor="t">
            <a:spAutoFit/>
          </a:bodyPr>
          <a:lstStyle/>
          <a:p>
            <a:pPr algn="l"/>
            <a:r>
              <a:rPr sz="1600" b="1">
                <a:solidFill>
                  <a:srgbClr val="9A6A00"/>
                </a:solidFill>
                <a:latin typeface="IBM Plex Sans"/>
              </a:rPr>
              <a:t>Unique value  </a:t>
            </a:r>
            <a:r>
              <a:rPr sz="1600" b="0">
                <a:solidFill>
                  <a:srgbClr val="1D1D1F"/>
                </a:solidFill>
                <a:latin typeface="Calibri"/>
              </a:rPr>
              <a:t>The first PS03 build on the settlement reference, with measured costs and a named user.</a:t>
            </a:r>
          </a:p>
        </p:txBody>
      </p:sp>
      <p:sp>
        <p:nvSpPr>
          <p:cNvPr id="123" name="Chooser panel"/>
          <p:cNvSpPr/>
          <p:nvPr/>
        </p:nvSpPr>
        <p:spPr>
          <a:xfrm>
            <a:off x="8686800" y="2880360"/>
            <a:ext cx="9052560" cy="6583680"/>
          </a:xfrm>
          <a:prstGeom prst="roundRect">
            <a:avLst>
              <a:gd name="adj" fmla="val 3000"/>
            </a:avLst>
          </a:prstGeom>
          <a:solidFill>
            <a:srgbClr val="FFFFFF"/>
          </a:solidFill>
          <a:ln w="19050">
            <a:solidFill>
              <a:srgbClr val="D9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9052560" y="3154679"/>
            <a:ext cx="8321040" cy="411480"/>
          </a:xfrm>
          <a:prstGeom prst="rect">
            <a:avLst/>
          </a:prstGeom>
          <a:noFill/>
        </p:spPr>
        <p:txBody>
          <a:bodyPr wrap="square" lIns="0" tIns="0" rIns="0" bIns="0" anchor="t">
            <a:spAutoFit/>
          </a:bodyPr>
          <a:lstStyle/>
          <a:p>
            <a:pPr algn="l"/>
            <a:r>
              <a:rPr sz="2200" b="1">
                <a:solidFill>
                  <a:srgbClr val="1D1D1F"/>
                </a:solidFill>
                <a:latin typeface="Montserrat"/>
              </a:rPr>
              <a:t>Which contract should I hold?</a:t>
            </a:r>
          </a:p>
        </p:txBody>
      </p:sp>
      <p:sp>
        <p:nvSpPr>
          <p:cNvPr id="125" name="Input Quantity"/>
          <p:cNvSpPr/>
          <p:nvPr/>
        </p:nvSpPr>
        <p:spPr>
          <a:xfrm>
            <a:off x="9052560" y="3749039"/>
            <a:ext cx="2606040" cy="777240"/>
          </a:xfrm>
          <a:prstGeom prst="roundRect">
            <a:avLst>
              <a:gd name="adj" fmla="val 12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9235440" y="3813048"/>
            <a:ext cx="2286000" cy="685800"/>
          </a:xfrm>
          <a:prstGeom prst="rect">
            <a:avLst/>
          </a:prstGeom>
          <a:noFill/>
        </p:spPr>
        <p:txBody>
          <a:bodyPr wrap="square" lIns="0" tIns="0" rIns="0" bIns="0" anchor="t">
            <a:spAutoFit/>
          </a:bodyPr>
          <a:lstStyle/>
          <a:p>
            <a:pPr algn="l"/>
            <a:r>
              <a:rPr sz="1300" b="0">
                <a:solidFill>
                  <a:srgbClr val="5A6170"/>
                </a:solidFill>
                <a:latin typeface="IBM Plex Sans"/>
              </a:rPr>
              <a:t>Quantity</a:t>
            </a:r>
          </a:p>
          <a:p>
            <a:pPr algn="l"/>
            <a:r>
              <a:rPr sz="1600" b="1">
                <a:solidFill>
                  <a:srgbClr val="1D1D1F"/>
                </a:solidFill>
                <a:latin typeface="IBM Plex Sans"/>
              </a:rPr>
              <a:t>5 g</a:t>
            </a:r>
          </a:p>
        </p:txBody>
      </p:sp>
      <p:sp>
        <p:nvSpPr>
          <p:cNvPr id="127" name="Input Holding"/>
          <p:cNvSpPr/>
          <p:nvPr/>
        </p:nvSpPr>
        <p:spPr>
          <a:xfrm>
            <a:off x="11841480" y="3749039"/>
            <a:ext cx="2606040" cy="777240"/>
          </a:xfrm>
          <a:prstGeom prst="roundRect">
            <a:avLst>
              <a:gd name="adj" fmla="val 12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12024359" y="3813048"/>
            <a:ext cx="2286000" cy="685800"/>
          </a:xfrm>
          <a:prstGeom prst="rect">
            <a:avLst/>
          </a:prstGeom>
          <a:noFill/>
        </p:spPr>
        <p:txBody>
          <a:bodyPr wrap="square" lIns="0" tIns="0" rIns="0" bIns="0" anchor="t">
            <a:spAutoFit/>
          </a:bodyPr>
          <a:lstStyle/>
          <a:p>
            <a:pPr algn="l"/>
            <a:r>
              <a:rPr sz="1300" b="0">
                <a:solidFill>
                  <a:srgbClr val="5A6170"/>
                </a:solidFill>
                <a:latin typeface="IBM Plex Sans"/>
              </a:rPr>
              <a:t>Holding</a:t>
            </a:r>
          </a:p>
          <a:p>
            <a:pPr algn="l"/>
            <a:r>
              <a:rPr sz="1600" b="1">
                <a:solidFill>
                  <a:srgbClr val="1D1D1F"/>
                </a:solidFill>
                <a:latin typeface="IBM Plex Sans"/>
              </a:rPr>
              <a:t>to delivery</a:t>
            </a:r>
          </a:p>
        </p:txBody>
      </p:sp>
      <p:sp>
        <p:nvSpPr>
          <p:cNvPr id="129" name="Input Broker"/>
          <p:cNvSpPr/>
          <p:nvPr/>
        </p:nvSpPr>
        <p:spPr>
          <a:xfrm>
            <a:off x="14630400" y="3749039"/>
            <a:ext cx="2606040" cy="777240"/>
          </a:xfrm>
          <a:prstGeom prst="roundRect">
            <a:avLst>
              <a:gd name="adj" fmla="val 12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14813280" y="3813048"/>
            <a:ext cx="2286000" cy="685800"/>
          </a:xfrm>
          <a:prstGeom prst="rect">
            <a:avLst/>
          </a:prstGeom>
          <a:noFill/>
        </p:spPr>
        <p:txBody>
          <a:bodyPr wrap="square" lIns="0" tIns="0" rIns="0" bIns="0" anchor="t">
            <a:spAutoFit/>
          </a:bodyPr>
          <a:lstStyle/>
          <a:p>
            <a:pPr algn="l"/>
            <a:r>
              <a:rPr sz="1300" b="0">
                <a:solidFill>
                  <a:srgbClr val="5A6170"/>
                </a:solidFill>
                <a:latin typeface="IBM Plex Sans"/>
              </a:rPr>
              <a:t>Broker</a:t>
            </a:r>
          </a:p>
          <a:p>
            <a:pPr algn="l"/>
            <a:r>
              <a:rPr sz="1600" b="1">
                <a:solidFill>
                  <a:srgbClr val="1D1D1F"/>
                </a:solidFill>
                <a:latin typeface="IBM Plex Sans"/>
              </a:rPr>
              <a:t>Zerodha rates</a:t>
            </a:r>
          </a:p>
        </p:txBody>
      </p:sp>
      <p:sp>
        <p:nvSpPr>
          <p:cNvPr id="131" name="Option GOLDPETAL × 5 lots"/>
          <p:cNvSpPr/>
          <p:nvPr/>
        </p:nvSpPr>
        <p:spPr>
          <a:xfrm>
            <a:off x="9052560" y="4892040"/>
            <a:ext cx="8321040" cy="822960"/>
          </a:xfrm>
          <a:prstGeom prst="roundRect">
            <a:avLst>
              <a:gd name="adj" fmla="val 10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9326880" y="5001768"/>
            <a:ext cx="3291840" cy="640080"/>
          </a:xfrm>
          <a:prstGeom prst="rect">
            <a:avLst/>
          </a:prstGeom>
          <a:noFill/>
        </p:spPr>
        <p:txBody>
          <a:bodyPr wrap="square" lIns="0" tIns="0" rIns="0" bIns="0" anchor="ctr">
            <a:spAutoFit/>
          </a:bodyPr>
          <a:lstStyle/>
          <a:p>
            <a:pPr algn="l"/>
            <a:r>
              <a:rPr sz="1700" b="1">
                <a:solidFill>
                  <a:srgbClr val="1D1D1F"/>
                </a:solidFill>
                <a:latin typeface="IBM Plex Sans"/>
              </a:rPr>
              <a:t>GOLDPETAL × 5 lots</a:t>
            </a:r>
          </a:p>
        </p:txBody>
      </p:sp>
      <p:sp>
        <p:nvSpPr>
          <p:cNvPr id="133" name="TextBox 132"/>
          <p:cNvSpPr txBox="1"/>
          <p:nvPr/>
        </p:nvSpPr>
        <p:spPr>
          <a:xfrm>
            <a:off x="12527280" y="5001768"/>
            <a:ext cx="2103120" cy="640080"/>
          </a:xfrm>
          <a:prstGeom prst="rect">
            <a:avLst/>
          </a:prstGeom>
          <a:noFill/>
        </p:spPr>
        <p:txBody>
          <a:bodyPr wrap="square" lIns="0" tIns="0" rIns="0" bIns="0" anchor="ctr">
            <a:spAutoFit/>
          </a:bodyPr>
          <a:lstStyle/>
          <a:p>
            <a:pPr algn="l"/>
            <a:r>
              <a:rPr sz="2000" b="1">
                <a:solidFill>
                  <a:srgbClr val="1D1D1F"/>
                </a:solidFill>
                <a:latin typeface="Montserrat"/>
              </a:rPr>
              <a:t>₹77,250</a:t>
            </a:r>
          </a:p>
        </p:txBody>
      </p:sp>
      <p:sp>
        <p:nvSpPr>
          <p:cNvPr id="134" name="TextBox 133"/>
          <p:cNvSpPr txBox="1"/>
          <p:nvPr/>
        </p:nvSpPr>
        <p:spPr>
          <a:xfrm>
            <a:off x="14630400" y="5001768"/>
            <a:ext cx="2651760" cy="640080"/>
          </a:xfrm>
          <a:prstGeom prst="rect">
            <a:avLst/>
          </a:prstGeom>
          <a:noFill/>
        </p:spPr>
        <p:txBody>
          <a:bodyPr wrap="square" lIns="0" tIns="0" rIns="0" bIns="0" anchor="ctr">
            <a:spAutoFit/>
          </a:bodyPr>
          <a:lstStyle/>
          <a:p>
            <a:pPr algn="l"/>
            <a:r>
              <a:rPr sz="1300" b="0">
                <a:solidFill>
                  <a:srgbClr val="5A6170"/>
                </a:solidFill>
                <a:latin typeface="Calibri"/>
              </a:rPr>
              <a:t>Best: 1 g bars/coins, incl. premium + making charge</a:t>
            </a:r>
          </a:p>
        </p:txBody>
      </p:sp>
      <p:sp>
        <p:nvSpPr>
          <p:cNvPr id="135" name="Option Retail 1 g coins × 5"/>
          <p:cNvSpPr/>
          <p:nvPr/>
        </p:nvSpPr>
        <p:spPr>
          <a:xfrm>
            <a:off x="9052560" y="5852159"/>
            <a:ext cx="8321040" cy="822960"/>
          </a:xfrm>
          <a:prstGeom prst="roundRect">
            <a:avLst>
              <a:gd name="adj" fmla="val 10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9326880" y="5961888"/>
            <a:ext cx="3291840" cy="640080"/>
          </a:xfrm>
          <a:prstGeom prst="rect">
            <a:avLst/>
          </a:prstGeom>
          <a:noFill/>
        </p:spPr>
        <p:txBody>
          <a:bodyPr wrap="square" lIns="0" tIns="0" rIns="0" bIns="0" anchor="ctr">
            <a:spAutoFit/>
          </a:bodyPr>
          <a:lstStyle/>
          <a:p>
            <a:pPr algn="l"/>
            <a:r>
              <a:rPr sz="1700" b="1">
                <a:solidFill>
                  <a:srgbClr val="1D1D1F"/>
                </a:solidFill>
                <a:latin typeface="IBM Plex Sans"/>
              </a:rPr>
              <a:t>Retail 1 g coins × 5</a:t>
            </a:r>
          </a:p>
        </p:txBody>
      </p:sp>
      <p:sp>
        <p:nvSpPr>
          <p:cNvPr id="137" name="TextBox 136"/>
          <p:cNvSpPr txBox="1"/>
          <p:nvPr/>
        </p:nvSpPr>
        <p:spPr>
          <a:xfrm>
            <a:off x="12527280" y="5961888"/>
            <a:ext cx="2103120" cy="640080"/>
          </a:xfrm>
          <a:prstGeom prst="rect">
            <a:avLst/>
          </a:prstGeom>
          <a:noFill/>
        </p:spPr>
        <p:txBody>
          <a:bodyPr wrap="square" lIns="0" tIns="0" rIns="0" bIns="0" anchor="ctr">
            <a:spAutoFit/>
          </a:bodyPr>
          <a:lstStyle/>
          <a:p>
            <a:pPr algn="l"/>
            <a:r>
              <a:rPr sz="2000" b="1">
                <a:solidFill>
                  <a:srgbClr val="1D1D1F"/>
                </a:solidFill>
                <a:latin typeface="Montserrat"/>
              </a:rPr>
              <a:t>₹80,300</a:t>
            </a:r>
          </a:p>
        </p:txBody>
      </p:sp>
      <p:sp>
        <p:nvSpPr>
          <p:cNvPr id="138" name="TextBox 137"/>
          <p:cNvSpPr txBox="1"/>
          <p:nvPr/>
        </p:nvSpPr>
        <p:spPr>
          <a:xfrm>
            <a:off x="14630400" y="5961888"/>
            <a:ext cx="2651760" cy="640080"/>
          </a:xfrm>
          <a:prstGeom prst="rect">
            <a:avLst/>
          </a:prstGeom>
          <a:noFill/>
        </p:spPr>
        <p:txBody>
          <a:bodyPr wrap="square" lIns="0" tIns="0" rIns="0" bIns="0" anchor="ctr">
            <a:spAutoFit/>
          </a:bodyPr>
          <a:lstStyle/>
          <a:p>
            <a:pPr algn="l"/>
            <a:r>
              <a:rPr sz="1300" b="0">
                <a:solidFill>
                  <a:srgbClr val="5A6170"/>
                </a:solidFill>
                <a:latin typeface="Calibri"/>
              </a:rPr>
              <a:t>Coin shop, incl. GST</a:t>
            </a:r>
          </a:p>
        </p:txBody>
      </p:sp>
      <p:sp>
        <p:nvSpPr>
          <p:cNvPr id="139" name="Option GOLDGUINEA"/>
          <p:cNvSpPr/>
          <p:nvPr/>
        </p:nvSpPr>
        <p:spPr>
          <a:xfrm>
            <a:off x="9052560" y="6812279"/>
            <a:ext cx="8321040" cy="822960"/>
          </a:xfrm>
          <a:prstGeom prst="roundRect">
            <a:avLst>
              <a:gd name="adj" fmla="val 10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9326880" y="6922007"/>
            <a:ext cx="3291840" cy="640080"/>
          </a:xfrm>
          <a:prstGeom prst="rect">
            <a:avLst/>
          </a:prstGeom>
          <a:noFill/>
        </p:spPr>
        <p:txBody>
          <a:bodyPr wrap="square" lIns="0" tIns="0" rIns="0" bIns="0" anchor="ctr">
            <a:spAutoFit/>
          </a:bodyPr>
          <a:lstStyle/>
          <a:p>
            <a:pPr algn="l"/>
            <a:r>
              <a:rPr sz="1700" b="1">
                <a:solidFill>
                  <a:srgbClr val="5A6170"/>
                </a:solidFill>
                <a:latin typeface="IBM Plex Sans"/>
              </a:rPr>
              <a:t>GOLDGUINEA</a:t>
            </a:r>
          </a:p>
        </p:txBody>
      </p:sp>
      <p:sp>
        <p:nvSpPr>
          <p:cNvPr id="141" name="TextBox 140"/>
          <p:cNvSpPr txBox="1"/>
          <p:nvPr/>
        </p:nvSpPr>
        <p:spPr>
          <a:xfrm>
            <a:off x="12527280" y="6922007"/>
            <a:ext cx="2103120" cy="640080"/>
          </a:xfrm>
          <a:prstGeom prst="rect">
            <a:avLst/>
          </a:prstGeom>
          <a:noFill/>
        </p:spPr>
        <p:txBody>
          <a:bodyPr wrap="square" lIns="0" tIns="0" rIns="0" bIns="0" anchor="ctr">
            <a:spAutoFit/>
          </a:bodyPr>
          <a:lstStyle/>
          <a:p>
            <a:pPr algn="l"/>
            <a:r>
              <a:rPr sz="2000" b="1">
                <a:solidFill>
                  <a:srgbClr val="5A6170"/>
                </a:solidFill>
                <a:latin typeface="Montserrat"/>
              </a:rPr>
              <a:t>n/a</a:t>
            </a:r>
          </a:p>
        </p:txBody>
      </p:sp>
      <p:sp>
        <p:nvSpPr>
          <p:cNvPr id="142" name="TextBox 141"/>
          <p:cNvSpPr txBox="1"/>
          <p:nvPr/>
        </p:nvSpPr>
        <p:spPr>
          <a:xfrm>
            <a:off x="14630400" y="6922007"/>
            <a:ext cx="2651760" cy="640080"/>
          </a:xfrm>
          <a:prstGeom prst="rect">
            <a:avLst/>
          </a:prstGeom>
          <a:noFill/>
        </p:spPr>
        <p:txBody>
          <a:bodyPr wrap="square" lIns="0" tIns="0" rIns="0" bIns="0" anchor="ctr">
            <a:spAutoFit/>
          </a:bodyPr>
          <a:lstStyle/>
          <a:p>
            <a:pPr algn="l"/>
            <a:r>
              <a:rPr sz="1300" b="0">
                <a:solidFill>
                  <a:srgbClr val="5A6170"/>
                </a:solidFill>
                <a:latin typeface="Calibri"/>
              </a:rPr>
              <a:t>Lot is 8 g, too big for 5 g</a:t>
            </a:r>
          </a:p>
        </p:txBody>
      </p:sp>
      <p:sp>
        <p:nvSpPr>
          <p:cNvPr id="143" name="Option GOLDTEN"/>
          <p:cNvSpPr/>
          <p:nvPr/>
        </p:nvSpPr>
        <p:spPr>
          <a:xfrm>
            <a:off x="9052560" y="7772400"/>
            <a:ext cx="8321040" cy="822960"/>
          </a:xfrm>
          <a:prstGeom prst="roundRect">
            <a:avLst>
              <a:gd name="adj" fmla="val 10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9326880" y="7882127"/>
            <a:ext cx="3291840" cy="640080"/>
          </a:xfrm>
          <a:prstGeom prst="rect">
            <a:avLst/>
          </a:prstGeom>
          <a:noFill/>
        </p:spPr>
        <p:txBody>
          <a:bodyPr wrap="square" lIns="0" tIns="0" rIns="0" bIns="0" anchor="ctr">
            <a:spAutoFit/>
          </a:bodyPr>
          <a:lstStyle/>
          <a:p>
            <a:pPr algn="l"/>
            <a:r>
              <a:rPr sz="1700" b="1">
                <a:solidFill>
                  <a:srgbClr val="5A6170"/>
                </a:solidFill>
                <a:latin typeface="IBM Plex Sans"/>
              </a:rPr>
              <a:t>GOLDTEN</a:t>
            </a:r>
          </a:p>
        </p:txBody>
      </p:sp>
      <p:sp>
        <p:nvSpPr>
          <p:cNvPr id="145" name="TextBox 144"/>
          <p:cNvSpPr txBox="1"/>
          <p:nvPr/>
        </p:nvSpPr>
        <p:spPr>
          <a:xfrm>
            <a:off x="12527280" y="7882127"/>
            <a:ext cx="2103120" cy="640080"/>
          </a:xfrm>
          <a:prstGeom prst="rect">
            <a:avLst/>
          </a:prstGeom>
          <a:noFill/>
        </p:spPr>
        <p:txBody>
          <a:bodyPr wrap="square" lIns="0" tIns="0" rIns="0" bIns="0" anchor="ctr">
            <a:spAutoFit/>
          </a:bodyPr>
          <a:lstStyle/>
          <a:p>
            <a:pPr algn="l"/>
            <a:r>
              <a:rPr sz="2000" b="1">
                <a:solidFill>
                  <a:srgbClr val="5A6170"/>
                </a:solidFill>
                <a:latin typeface="Montserrat"/>
              </a:rPr>
              <a:t>n/a</a:t>
            </a:r>
          </a:p>
        </p:txBody>
      </p:sp>
      <p:sp>
        <p:nvSpPr>
          <p:cNvPr id="146" name="TextBox 145"/>
          <p:cNvSpPr txBox="1"/>
          <p:nvPr/>
        </p:nvSpPr>
        <p:spPr>
          <a:xfrm>
            <a:off x="14630400" y="7882127"/>
            <a:ext cx="2651760" cy="640080"/>
          </a:xfrm>
          <a:prstGeom prst="rect">
            <a:avLst/>
          </a:prstGeom>
          <a:noFill/>
        </p:spPr>
        <p:txBody>
          <a:bodyPr wrap="square" lIns="0" tIns="0" rIns="0" bIns="0" anchor="ctr">
            <a:spAutoFit/>
          </a:bodyPr>
          <a:lstStyle/>
          <a:p>
            <a:pPr algn="l"/>
            <a:r>
              <a:rPr sz="1300" b="0">
                <a:solidFill>
                  <a:srgbClr val="5A6170"/>
                </a:solidFill>
                <a:latin typeface="Calibri"/>
              </a:rPr>
              <a:t>Lot is 10 g, too big for 5 g</a:t>
            </a:r>
          </a:p>
        </p:txBody>
      </p:sp>
      <p:sp>
        <p:nvSpPr>
          <p:cNvPr id="147" name="TextBox 146"/>
          <p:cNvSpPr txBox="1"/>
          <p:nvPr/>
        </p:nvSpPr>
        <p:spPr>
          <a:xfrm>
            <a:off x="9052560" y="8778240"/>
            <a:ext cx="8321040" cy="457200"/>
          </a:xfrm>
          <a:prstGeom prst="rect">
            <a:avLst/>
          </a:prstGeom>
          <a:noFill/>
        </p:spPr>
        <p:txBody>
          <a:bodyPr wrap="square" lIns="0" tIns="0" rIns="0" bIns="0" anchor="t">
            <a:spAutoFit/>
          </a:bodyPr>
          <a:lstStyle/>
          <a:p>
            <a:pPr algn="l"/>
            <a:r>
              <a:rPr sz="1500" b="1">
                <a:solidFill>
                  <a:srgbClr val="1D1D1F"/>
                </a:solidFill>
                <a:latin typeface="IBM Plex Sans"/>
              </a:rPr>
              <a:t>Saves ≈ ₹3,050 vs the coin shop.</a:t>
            </a:r>
            <a:r>
              <a:rPr sz="1500" b="0">
                <a:solidFill>
                  <a:srgbClr val="5A6170"/>
                </a:solidFill>
                <a:latin typeface="IBM Plex Sans"/>
              </a:rPr>
              <a:t>  Exit before delivery instead and the premium costs ≈ ₹9–16/g.</a:t>
            </a:r>
          </a:p>
        </p:txBody>
      </p:sp>
      <p:sp>
        <p:nvSpPr>
          <p:cNvPr id="148" name="Source note"/>
          <p:cNvSpPr txBox="1"/>
          <p:nvPr/>
        </p:nvSpPr>
        <p:spPr>
          <a:xfrm>
            <a:off x="548640" y="9692640"/>
            <a:ext cx="17190720" cy="365760"/>
          </a:xfrm>
          <a:prstGeom prst="rect">
            <a:avLst/>
          </a:prstGeom>
          <a:noFill/>
        </p:spPr>
        <p:txBody>
          <a:bodyPr wrap="square" lIns="0" tIns="0" rIns="0" bIns="0" anchor="t">
            <a:spAutoFit/>
          </a:bodyPr>
          <a:lstStyle/>
          <a:p>
            <a:pPr algn="l"/>
            <a:r>
              <a:rPr sz="1200" b="0">
                <a:solidFill>
                  <a:srgbClr val="5A6170"/>
                </a:solidFill>
                <a:latin typeface="Calibri"/>
              </a:rPr>
              <a:t>Chooser panel: illustrative output computed from our pipeline (MCX polled spot 13 Oct 2026 + 3% GST + G0 premium; Augmont live price same day); the interactive UI is in build. Vault, assaying and transport not modelled.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6" name="Google Shape;116;p16"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17" name="Section label"/>
          <p:cNvSpPr txBox="1"/>
          <p:nvPr/>
        </p:nvSpPr>
        <p:spPr>
          <a:xfrm>
            <a:off x="548640" y="1444752"/>
            <a:ext cx="17190720" cy="365760"/>
          </a:xfrm>
          <a:prstGeom prst="rect">
            <a:avLst/>
          </a:prstGeom>
          <a:noFill/>
        </p:spPr>
        <p:txBody>
          <a:bodyPr wrap="square" lIns="0" tIns="0" rIns="0" bIns="0" anchor="t">
            <a:spAutoFit/>
          </a:bodyPr>
          <a:lstStyle/>
          <a:p>
            <a:pPr algn="l"/>
            <a:r>
              <a:rPr sz="1700" b="1">
                <a:solidFill>
                  <a:srgbClr val="9A6A00"/>
                </a:solidFill>
                <a:latin typeface="Montserrat"/>
              </a:rPr>
              <a:t>ARCHITECTURE</a:t>
            </a:r>
          </a:p>
        </p:txBody>
      </p:sp>
      <p:sp>
        <p:nvSpPr>
          <p:cNvPr id="118" name="Title"/>
          <p:cNvSpPr txBox="1"/>
          <p:nvPr/>
        </p:nvSpPr>
        <p:spPr>
          <a:xfrm>
            <a:off x="548640" y="1847088"/>
            <a:ext cx="17190720" cy="731520"/>
          </a:xfrm>
          <a:prstGeom prst="rect">
            <a:avLst/>
          </a:prstGeom>
          <a:noFill/>
        </p:spPr>
        <p:txBody>
          <a:bodyPr wrap="square" lIns="0" tIns="0" rIns="0" bIns="0" anchor="t">
            <a:spAutoFit/>
          </a:bodyPr>
          <a:lstStyle/>
          <a:p>
            <a:pPr algn="l"/>
            <a:r>
              <a:rPr sz="3600" b="1">
                <a:solidFill>
                  <a:srgbClr val="000000"/>
                </a:solidFill>
                <a:latin typeface="Montserrat"/>
              </a:rPr>
              <a:t>Exchange data in, verified verdicts out</a:t>
            </a:r>
          </a:p>
        </p:txBody>
      </p:sp>
      <p:sp>
        <p:nvSpPr>
          <p:cNvPr id="119" name="Stage Fetch"/>
          <p:cNvSpPr/>
          <p:nvPr/>
        </p:nvSpPr>
        <p:spPr>
          <a:xfrm>
            <a:off x="548640" y="2926080"/>
            <a:ext cx="2621280" cy="274320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777240" y="315468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IBM Plex Sans"/>
              </a:rPr>
              <a:t>1</a:t>
            </a:r>
          </a:p>
        </p:txBody>
      </p:sp>
      <p:sp>
        <p:nvSpPr>
          <p:cNvPr id="121" name="TextBox 120"/>
          <p:cNvSpPr txBox="1"/>
          <p:nvPr/>
        </p:nvSpPr>
        <p:spPr>
          <a:xfrm>
            <a:off x="777240" y="3840480"/>
            <a:ext cx="2164080" cy="411480"/>
          </a:xfrm>
          <a:prstGeom prst="rect">
            <a:avLst/>
          </a:prstGeom>
          <a:noFill/>
        </p:spPr>
        <p:txBody>
          <a:bodyPr wrap="square" lIns="0" tIns="0" rIns="0" bIns="0" anchor="t">
            <a:spAutoFit/>
          </a:bodyPr>
          <a:lstStyle/>
          <a:p>
            <a:pPr algn="l"/>
            <a:r>
              <a:rPr sz="2100" b="1">
                <a:solidFill>
                  <a:srgbClr val="1D1D1F"/>
                </a:solidFill>
                <a:latin typeface="Montserrat"/>
              </a:rPr>
              <a:t>Fetch</a:t>
            </a:r>
          </a:p>
        </p:txBody>
      </p:sp>
      <p:sp>
        <p:nvSpPr>
          <p:cNvPr id="122" name="TextBox 121"/>
          <p:cNvSpPr txBox="1"/>
          <p:nvPr/>
        </p:nvSpPr>
        <p:spPr>
          <a:xfrm>
            <a:off x="777240" y="4297680"/>
            <a:ext cx="2164080" cy="548640"/>
          </a:xfrm>
          <a:prstGeom prst="rect">
            <a:avLst/>
          </a:prstGeom>
          <a:noFill/>
        </p:spPr>
        <p:txBody>
          <a:bodyPr wrap="square" lIns="0" tIns="0" rIns="0" bIns="0" anchor="t">
            <a:spAutoFit/>
          </a:bodyPr>
          <a:lstStyle/>
          <a:p>
            <a:pPr algn="l"/>
            <a:r>
              <a:rPr sz="1500" b="1">
                <a:solidFill>
                  <a:srgbClr val="9A6A00"/>
                </a:solidFill>
                <a:latin typeface="IBM Plex Sans"/>
              </a:rPr>
              <a:t>curl_cffi</a:t>
            </a:r>
          </a:p>
        </p:txBody>
      </p:sp>
      <p:sp>
        <p:nvSpPr>
          <p:cNvPr id="123" name="TextBox 122"/>
          <p:cNvSpPr txBox="1"/>
          <p:nvPr/>
        </p:nvSpPr>
        <p:spPr>
          <a:xfrm>
            <a:off x="777240" y="4846320"/>
            <a:ext cx="2164080" cy="777240"/>
          </a:xfrm>
          <a:prstGeom prst="rect">
            <a:avLst/>
          </a:prstGeom>
          <a:noFill/>
        </p:spPr>
        <p:txBody>
          <a:bodyPr wrap="square" lIns="0" tIns="0" rIns="0" bIns="0" anchor="t">
            <a:spAutoFit/>
          </a:bodyPr>
          <a:lstStyle/>
          <a:p>
            <a:pPr algn="l"/>
            <a:r>
              <a:rPr sz="1400" b="0">
                <a:solidFill>
                  <a:srgbClr val="5A6170"/>
                </a:solidFill>
                <a:latin typeface="Calibri"/>
              </a:rPr>
              <a:t>bhavcopy, contract histories, polled spot; raw cache</a:t>
            </a:r>
          </a:p>
        </p:txBody>
      </p:sp>
      <p:sp>
        <p:nvSpPr>
          <p:cNvPr id="124" name="Right Arrow 123"/>
          <p:cNvSpPr/>
          <p:nvPr/>
        </p:nvSpPr>
        <p:spPr>
          <a:xfrm>
            <a:off x="3206496" y="4114800"/>
            <a:ext cx="219456" cy="310896"/>
          </a:xfrm>
          <a:prstGeom prst="rightArrow">
            <a:avLst/>
          </a:prstGeom>
          <a:solidFill>
            <a:srgbClr val="D9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Stage Store"/>
          <p:cNvSpPr/>
          <p:nvPr/>
        </p:nvSpPr>
        <p:spPr>
          <a:xfrm>
            <a:off x="3462528" y="2926080"/>
            <a:ext cx="2621280" cy="27432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3691128" y="315468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IBM Plex Sans"/>
              </a:rPr>
              <a:t>2</a:t>
            </a:r>
          </a:p>
        </p:txBody>
      </p:sp>
      <p:sp>
        <p:nvSpPr>
          <p:cNvPr id="127" name="TextBox 126"/>
          <p:cNvSpPr txBox="1"/>
          <p:nvPr/>
        </p:nvSpPr>
        <p:spPr>
          <a:xfrm>
            <a:off x="3691128" y="3840480"/>
            <a:ext cx="2164080" cy="411480"/>
          </a:xfrm>
          <a:prstGeom prst="rect">
            <a:avLst/>
          </a:prstGeom>
          <a:noFill/>
        </p:spPr>
        <p:txBody>
          <a:bodyPr wrap="square" lIns="0" tIns="0" rIns="0" bIns="0" anchor="t">
            <a:spAutoFit/>
          </a:bodyPr>
          <a:lstStyle/>
          <a:p>
            <a:pPr algn="l"/>
            <a:r>
              <a:rPr sz="2100" b="1">
                <a:solidFill>
                  <a:srgbClr val="1D1D1F"/>
                </a:solidFill>
                <a:latin typeface="Montserrat"/>
              </a:rPr>
              <a:t>Store</a:t>
            </a:r>
          </a:p>
        </p:txBody>
      </p:sp>
      <p:sp>
        <p:nvSpPr>
          <p:cNvPr id="128" name="TextBox 127"/>
          <p:cNvSpPr txBox="1"/>
          <p:nvPr/>
        </p:nvSpPr>
        <p:spPr>
          <a:xfrm>
            <a:off x="3691128" y="4297680"/>
            <a:ext cx="2164080" cy="548640"/>
          </a:xfrm>
          <a:prstGeom prst="rect">
            <a:avLst/>
          </a:prstGeom>
          <a:noFill/>
        </p:spPr>
        <p:txBody>
          <a:bodyPr wrap="square" lIns="0" tIns="0" rIns="0" bIns="0" anchor="t">
            <a:spAutoFit/>
          </a:bodyPr>
          <a:lstStyle/>
          <a:p>
            <a:pPr algn="l"/>
            <a:r>
              <a:rPr sz="1500" b="1">
                <a:solidFill>
                  <a:srgbClr val="9A6A00"/>
                </a:solidFill>
                <a:latin typeface="IBM Plex Sans"/>
              </a:rPr>
              <a:t>DuckDB + Parquet</a:t>
            </a:r>
          </a:p>
        </p:txBody>
      </p:sp>
      <p:sp>
        <p:nvSpPr>
          <p:cNvPr id="129" name="TextBox 128"/>
          <p:cNvSpPr txBox="1"/>
          <p:nvPr/>
        </p:nvSpPr>
        <p:spPr>
          <a:xfrm>
            <a:off x="3691128" y="4846320"/>
            <a:ext cx="2164080" cy="777240"/>
          </a:xfrm>
          <a:prstGeom prst="rect">
            <a:avLst/>
          </a:prstGeom>
          <a:noFill/>
        </p:spPr>
        <p:txBody>
          <a:bodyPr wrap="square" lIns="0" tIns="0" rIns="0" bIns="0" anchor="t">
            <a:spAutoFit/>
          </a:bodyPr>
          <a:lstStyle/>
          <a:p>
            <a:pPr algn="l"/>
            <a:r>
              <a:rPr sz="1400" b="0">
                <a:solidFill>
                  <a:srgbClr val="5A6170"/>
                </a:solidFill>
                <a:latin typeface="Calibri"/>
              </a:rPr>
              <a:t>keyed by symbol × expiry × date; spec versions</a:t>
            </a:r>
          </a:p>
        </p:txBody>
      </p:sp>
      <p:sp>
        <p:nvSpPr>
          <p:cNvPr id="130" name="Right Arrow 129"/>
          <p:cNvSpPr/>
          <p:nvPr/>
        </p:nvSpPr>
        <p:spPr>
          <a:xfrm>
            <a:off x="6120384" y="4114800"/>
            <a:ext cx="219456" cy="310896"/>
          </a:xfrm>
          <a:prstGeom prst="rightArrow">
            <a:avLst/>
          </a:prstGeom>
          <a:solidFill>
            <a:srgbClr val="D9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Stage Model"/>
          <p:cNvSpPr/>
          <p:nvPr/>
        </p:nvSpPr>
        <p:spPr>
          <a:xfrm>
            <a:off x="6376415" y="2926080"/>
            <a:ext cx="2621280" cy="27432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6605015" y="315468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IBM Plex Sans"/>
              </a:rPr>
              <a:t>3</a:t>
            </a:r>
          </a:p>
        </p:txBody>
      </p:sp>
      <p:sp>
        <p:nvSpPr>
          <p:cNvPr id="133" name="TextBox 132"/>
          <p:cNvSpPr txBox="1"/>
          <p:nvPr/>
        </p:nvSpPr>
        <p:spPr>
          <a:xfrm>
            <a:off x="6605015" y="3840480"/>
            <a:ext cx="2164080" cy="411480"/>
          </a:xfrm>
          <a:prstGeom prst="rect">
            <a:avLst/>
          </a:prstGeom>
          <a:noFill/>
        </p:spPr>
        <p:txBody>
          <a:bodyPr wrap="square" lIns="0" tIns="0" rIns="0" bIns="0" anchor="t">
            <a:spAutoFit/>
          </a:bodyPr>
          <a:lstStyle/>
          <a:p>
            <a:pPr algn="l"/>
            <a:r>
              <a:rPr sz="2100" b="1">
                <a:solidFill>
                  <a:srgbClr val="1D1D1F"/>
                </a:solidFill>
                <a:latin typeface="Montserrat"/>
              </a:rPr>
              <a:t>Model</a:t>
            </a:r>
          </a:p>
        </p:txBody>
      </p:sp>
      <p:sp>
        <p:nvSpPr>
          <p:cNvPr id="134" name="TextBox 133"/>
          <p:cNvSpPr txBox="1"/>
          <p:nvPr/>
        </p:nvSpPr>
        <p:spPr>
          <a:xfrm>
            <a:off x="6605015" y="4297680"/>
            <a:ext cx="2164080" cy="548640"/>
          </a:xfrm>
          <a:prstGeom prst="rect">
            <a:avLst/>
          </a:prstGeom>
          <a:noFill/>
        </p:spPr>
        <p:txBody>
          <a:bodyPr wrap="square" lIns="0" tIns="0" rIns="0" bIns="0" anchor="t">
            <a:spAutoFit/>
          </a:bodyPr>
          <a:lstStyle/>
          <a:p>
            <a:pPr algn="l"/>
            <a:r>
              <a:rPr sz="1500" b="1">
                <a:solidFill>
                  <a:srgbClr val="9A6A00"/>
                </a:solidFill>
                <a:latin typeface="IBM Plex Sans"/>
              </a:rPr>
              <a:t>pandas · statsmodels · bidask</a:t>
            </a:r>
          </a:p>
        </p:txBody>
      </p:sp>
      <p:sp>
        <p:nvSpPr>
          <p:cNvPr id="135" name="TextBox 134"/>
          <p:cNvSpPr txBox="1"/>
          <p:nvPr/>
        </p:nvSpPr>
        <p:spPr>
          <a:xfrm>
            <a:off x="6605015" y="4846320"/>
            <a:ext cx="2164080" cy="777240"/>
          </a:xfrm>
          <a:prstGeom prst="rect">
            <a:avLst/>
          </a:prstGeom>
          <a:noFill/>
        </p:spPr>
        <p:txBody>
          <a:bodyPr wrap="square" lIns="0" tIns="0" rIns="0" bIns="0" anchor="t">
            <a:spAutoFit/>
          </a:bodyPr>
          <a:lstStyle/>
          <a:p>
            <a:pPr algn="l"/>
            <a:r>
              <a:rPr sz="1400" b="0">
                <a:solidFill>
                  <a:srgbClr val="5A6170"/>
                </a:solidFill>
                <a:latin typeface="Calibri"/>
              </a:rPr>
              <a:t>decomposition, carry, convergence, costs</a:t>
            </a:r>
          </a:p>
        </p:txBody>
      </p:sp>
      <p:sp>
        <p:nvSpPr>
          <p:cNvPr id="136" name="Right Arrow 135"/>
          <p:cNvSpPr/>
          <p:nvPr/>
        </p:nvSpPr>
        <p:spPr>
          <a:xfrm>
            <a:off x="9034272" y="4114800"/>
            <a:ext cx="219456" cy="310896"/>
          </a:xfrm>
          <a:prstGeom prst="rightArrow">
            <a:avLst/>
          </a:prstGeom>
          <a:solidFill>
            <a:srgbClr val="D9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Stage Validate"/>
          <p:cNvSpPr/>
          <p:nvPr/>
        </p:nvSpPr>
        <p:spPr>
          <a:xfrm>
            <a:off x="9290303" y="2926080"/>
            <a:ext cx="2621280" cy="274320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9518903" y="315468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IBM Plex Sans"/>
              </a:rPr>
              <a:t>4</a:t>
            </a:r>
          </a:p>
        </p:txBody>
      </p:sp>
      <p:sp>
        <p:nvSpPr>
          <p:cNvPr id="139" name="TextBox 138"/>
          <p:cNvSpPr txBox="1"/>
          <p:nvPr/>
        </p:nvSpPr>
        <p:spPr>
          <a:xfrm>
            <a:off x="9518903" y="3840480"/>
            <a:ext cx="2164080" cy="411480"/>
          </a:xfrm>
          <a:prstGeom prst="rect">
            <a:avLst/>
          </a:prstGeom>
          <a:noFill/>
        </p:spPr>
        <p:txBody>
          <a:bodyPr wrap="square" lIns="0" tIns="0" rIns="0" bIns="0" anchor="t">
            <a:spAutoFit/>
          </a:bodyPr>
          <a:lstStyle/>
          <a:p>
            <a:pPr algn="l"/>
            <a:r>
              <a:rPr sz="2100" b="1">
                <a:solidFill>
                  <a:srgbClr val="1D1D1F"/>
                </a:solidFill>
                <a:latin typeface="Montserrat"/>
              </a:rPr>
              <a:t>Validate</a:t>
            </a:r>
          </a:p>
        </p:txBody>
      </p:sp>
      <p:sp>
        <p:nvSpPr>
          <p:cNvPr id="140" name="TextBox 139"/>
          <p:cNvSpPr txBox="1"/>
          <p:nvPr/>
        </p:nvSpPr>
        <p:spPr>
          <a:xfrm>
            <a:off x="9518903" y="4297680"/>
            <a:ext cx="2164080" cy="548640"/>
          </a:xfrm>
          <a:prstGeom prst="rect">
            <a:avLst/>
          </a:prstGeom>
          <a:noFill/>
        </p:spPr>
        <p:txBody>
          <a:bodyPr wrap="square" lIns="0" tIns="0" rIns="0" bIns="0" anchor="t">
            <a:spAutoFit/>
          </a:bodyPr>
          <a:lstStyle/>
          <a:p>
            <a:pPr algn="l"/>
            <a:r>
              <a:rPr sz="1500" b="1">
                <a:solidFill>
                  <a:srgbClr val="9A6A00"/>
                </a:solidFill>
                <a:latin typeface="IBM Plex Sans"/>
              </a:rPr>
              <a:t>walk-forward + pytest</a:t>
            </a:r>
          </a:p>
        </p:txBody>
      </p:sp>
      <p:sp>
        <p:nvSpPr>
          <p:cNvPr id="141" name="TextBox 140"/>
          <p:cNvSpPr txBox="1"/>
          <p:nvPr/>
        </p:nvSpPr>
        <p:spPr>
          <a:xfrm>
            <a:off x="9518903" y="4846320"/>
            <a:ext cx="2164080" cy="777240"/>
          </a:xfrm>
          <a:prstGeom prst="rect">
            <a:avLst/>
          </a:prstGeom>
          <a:noFill/>
        </p:spPr>
        <p:txBody>
          <a:bodyPr wrap="square" lIns="0" tIns="0" rIns="0" bIns="0" anchor="t">
            <a:spAutoFit/>
          </a:bodyPr>
          <a:lstStyle/>
          <a:p>
            <a:pPr algn="l"/>
            <a:r>
              <a:rPr sz="1400" b="0">
                <a:solidFill>
                  <a:srgbClr val="5A6170"/>
                </a:solidFill>
                <a:latin typeface="Calibri"/>
              </a:rPr>
              <a:t>G0 gate, bootstraps, look-ahead tests</a:t>
            </a:r>
          </a:p>
        </p:txBody>
      </p:sp>
      <p:sp>
        <p:nvSpPr>
          <p:cNvPr id="142" name="Right Arrow 141"/>
          <p:cNvSpPr/>
          <p:nvPr/>
        </p:nvSpPr>
        <p:spPr>
          <a:xfrm>
            <a:off x="11948159" y="4114800"/>
            <a:ext cx="219456" cy="310896"/>
          </a:xfrm>
          <a:prstGeom prst="rightArrow">
            <a:avLst/>
          </a:prstGeom>
          <a:solidFill>
            <a:srgbClr val="D9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Stage Publish"/>
          <p:cNvSpPr/>
          <p:nvPr/>
        </p:nvSpPr>
        <p:spPr>
          <a:xfrm>
            <a:off x="12204192" y="2926080"/>
            <a:ext cx="2621280" cy="27432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12432792" y="315468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IBM Plex Sans"/>
              </a:rPr>
              <a:t>5</a:t>
            </a:r>
          </a:p>
        </p:txBody>
      </p:sp>
      <p:sp>
        <p:nvSpPr>
          <p:cNvPr id="145" name="TextBox 144"/>
          <p:cNvSpPr txBox="1"/>
          <p:nvPr/>
        </p:nvSpPr>
        <p:spPr>
          <a:xfrm>
            <a:off x="12432792" y="3840480"/>
            <a:ext cx="2164080" cy="411480"/>
          </a:xfrm>
          <a:prstGeom prst="rect">
            <a:avLst/>
          </a:prstGeom>
          <a:noFill/>
        </p:spPr>
        <p:txBody>
          <a:bodyPr wrap="square" lIns="0" tIns="0" rIns="0" bIns="0" anchor="t">
            <a:spAutoFit/>
          </a:bodyPr>
          <a:lstStyle/>
          <a:p>
            <a:pPr algn="l"/>
            <a:r>
              <a:rPr sz="2100" b="1">
                <a:solidFill>
                  <a:srgbClr val="1D1D1F"/>
                </a:solidFill>
                <a:latin typeface="Montserrat"/>
              </a:rPr>
              <a:t>Publish</a:t>
            </a:r>
          </a:p>
        </p:txBody>
      </p:sp>
      <p:sp>
        <p:nvSpPr>
          <p:cNvPr id="146" name="TextBox 145"/>
          <p:cNvSpPr txBox="1"/>
          <p:nvPr/>
        </p:nvSpPr>
        <p:spPr>
          <a:xfrm>
            <a:off x="12432792" y="4297680"/>
            <a:ext cx="2164080" cy="548640"/>
          </a:xfrm>
          <a:prstGeom prst="rect">
            <a:avLst/>
          </a:prstGeom>
          <a:noFill/>
        </p:spPr>
        <p:txBody>
          <a:bodyPr wrap="square" lIns="0" tIns="0" rIns="0" bIns="0" anchor="t">
            <a:spAutoFit/>
          </a:bodyPr>
          <a:lstStyle/>
          <a:p>
            <a:pPr algn="l"/>
            <a:r>
              <a:rPr sz="1500" b="1">
                <a:solidFill>
                  <a:srgbClr val="9A6A00"/>
                </a:solidFill>
                <a:latin typeface="IBM Plex Sans"/>
              </a:rPr>
              <a:t>JSON → React + Vite + ECharts</a:t>
            </a:r>
          </a:p>
        </p:txBody>
      </p:sp>
      <p:sp>
        <p:nvSpPr>
          <p:cNvPr id="147" name="TextBox 146"/>
          <p:cNvSpPr txBox="1"/>
          <p:nvPr/>
        </p:nvSpPr>
        <p:spPr>
          <a:xfrm>
            <a:off x="12432792" y="4846320"/>
            <a:ext cx="2164080" cy="777240"/>
          </a:xfrm>
          <a:prstGeom prst="rect">
            <a:avLst/>
          </a:prstGeom>
          <a:noFill/>
        </p:spPr>
        <p:txBody>
          <a:bodyPr wrap="square" lIns="0" tIns="0" rIns="0" bIns="0" anchor="t">
            <a:spAutoFit/>
          </a:bodyPr>
          <a:lstStyle/>
          <a:p>
            <a:pPr algn="l"/>
            <a:r>
              <a:rPr sz="1400" b="0">
                <a:solidFill>
                  <a:srgbClr val="5A6170"/>
                </a:solidFill>
                <a:latin typeface="Calibri"/>
              </a:rPr>
              <a:t>static desk; chooser runs in the browser</a:t>
            </a:r>
          </a:p>
        </p:txBody>
      </p:sp>
      <p:sp>
        <p:nvSpPr>
          <p:cNvPr id="148" name="Right Arrow 147"/>
          <p:cNvSpPr/>
          <p:nvPr/>
        </p:nvSpPr>
        <p:spPr>
          <a:xfrm>
            <a:off x="14862047" y="4114800"/>
            <a:ext cx="219456" cy="310896"/>
          </a:xfrm>
          <a:prstGeom prst="rightArrow">
            <a:avLst/>
          </a:prstGeom>
          <a:solidFill>
            <a:srgbClr val="D9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Stage Refresh"/>
          <p:cNvSpPr/>
          <p:nvPr/>
        </p:nvSpPr>
        <p:spPr>
          <a:xfrm>
            <a:off x="15118080" y="2926080"/>
            <a:ext cx="2621280" cy="27432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val 149"/>
          <p:cNvSpPr/>
          <p:nvPr/>
        </p:nvSpPr>
        <p:spPr>
          <a:xfrm>
            <a:off x="15346680" y="315468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IBM Plex Sans"/>
              </a:rPr>
              <a:t>6</a:t>
            </a:r>
          </a:p>
        </p:txBody>
      </p:sp>
      <p:sp>
        <p:nvSpPr>
          <p:cNvPr id="151" name="TextBox 150"/>
          <p:cNvSpPr txBox="1"/>
          <p:nvPr/>
        </p:nvSpPr>
        <p:spPr>
          <a:xfrm>
            <a:off x="15346680" y="3840480"/>
            <a:ext cx="2164080" cy="411480"/>
          </a:xfrm>
          <a:prstGeom prst="rect">
            <a:avLst/>
          </a:prstGeom>
          <a:noFill/>
        </p:spPr>
        <p:txBody>
          <a:bodyPr wrap="square" lIns="0" tIns="0" rIns="0" bIns="0" anchor="t">
            <a:spAutoFit/>
          </a:bodyPr>
          <a:lstStyle/>
          <a:p>
            <a:pPr algn="l"/>
            <a:r>
              <a:rPr sz="2100" b="1">
                <a:solidFill>
                  <a:srgbClr val="1D1D1F"/>
                </a:solidFill>
                <a:latin typeface="Montserrat"/>
              </a:rPr>
              <a:t>Refresh</a:t>
            </a:r>
          </a:p>
        </p:txBody>
      </p:sp>
      <p:sp>
        <p:nvSpPr>
          <p:cNvPr id="152" name="TextBox 151"/>
          <p:cNvSpPr txBox="1"/>
          <p:nvPr/>
        </p:nvSpPr>
        <p:spPr>
          <a:xfrm>
            <a:off x="15346680" y="4297680"/>
            <a:ext cx="2164080" cy="548640"/>
          </a:xfrm>
          <a:prstGeom prst="rect">
            <a:avLst/>
          </a:prstGeom>
          <a:noFill/>
        </p:spPr>
        <p:txBody>
          <a:bodyPr wrap="square" lIns="0" tIns="0" rIns="0" bIns="0" anchor="t">
            <a:spAutoFit/>
          </a:bodyPr>
          <a:lstStyle/>
          <a:p>
            <a:pPr algn="l"/>
            <a:r>
              <a:rPr sz="1500" b="1">
                <a:solidFill>
                  <a:srgbClr val="9A6A00"/>
                </a:solidFill>
                <a:latin typeface="IBM Plex Sans"/>
              </a:rPr>
              <a:t>one-command script</a:t>
            </a:r>
          </a:p>
        </p:txBody>
      </p:sp>
      <p:sp>
        <p:nvSpPr>
          <p:cNvPr id="153" name="TextBox 152"/>
          <p:cNvSpPr txBox="1"/>
          <p:nvPr/>
        </p:nvSpPr>
        <p:spPr>
          <a:xfrm>
            <a:off x="15346680" y="4846320"/>
            <a:ext cx="2164080" cy="777240"/>
          </a:xfrm>
          <a:prstGeom prst="rect">
            <a:avLst/>
          </a:prstGeom>
          <a:noFill/>
        </p:spPr>
        <p:txBody>
          <a:bodyPr wrap="square" lIns="0" tIns="0" rIns="0" bIns="0" anchor="t">
            <a:spAutoFit/>
          </a:bodyPr>
          <a:lstStyle/>
          <a:p>
            <a:pPr algn="l"/>
            <a:r>
              <a:rPr sz="1400" b="0">
                <a:solidFill>
                  <a:srgbClr val="5A6170"/>
                </a:solidFill>
                <a:latin typeface="Calibri"/>
              </a:rPr>
              <a:t>daily cron + alerts at the finale</a:t>
            </a:r>
          </a:p>
        </p:txBody>
      </p:sp>
      <p:sp>
        <p:nvSpPr>
          <p:cNvPr id="154" name="APIs"/>
          <p:cNvSpPr/>
          <p:nvPr/>
        </p:nvSpPr>
        <p:spPr>
          <a:xfrm>
            <a:off x="548640" y="6035040"/>
            <a:ext cx="10332720" cy="34290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822960" y="6263640"/>
            <a:ext cx="9784080" cy="411480"/>
          </a:xfrm>
          <a:prstGeom prst="rect">
            <a:avLst/>
          </a:prstGeom>
          <a:noFill/>
        </p:spPr>
        <p:txBody>
          <a:bodyPr wrap="square" lIns="0" tIns="0" rIns="0" bIns="0" anchor="t">
            <a:spAutoFit/>
          </a:bodyPr>
          <a:lstStyle/>
          <a:p>
            <a:pPr algn="l"/>
            <a:r>
              <a:rPr sz="2000" b="1">
                <a:solidFill>
                  <a:srgbClr val="9A6A00"/>
                </a:solidFill>
                <a:latin typeface="Montserrat"/>
              </a:rPr>
              <a:t>MCX APIs used (public, no key)</a:t>
            </a:r>
          </a:p>
        </p:txBody>
      </p:sp>
      <p:sp>
        <p:nvSpPr>
          <p:cNvPr id="156" name="TextBox 155"/>
          <p:cNvSpPr txBox="1"/>
          <p:nvPr/>
        </p:nvSpPr>
        <p:spPr>
          <a:xfrm>
            <a:off x="822960" y="6858000"/>
            <a:ext cx="9784080" cy="731520"/>
          </a:xfrm>
          <a:prstGeom prst="rect">
            <a:avLst/>
          </a:prstGeom>
          <a:noFill/>
        </p:spPr>
        <p:txBody>
          <a:bodyPr wrap="square" lIns="0" tIns="0" rIns="0" bIns="0" anchor="t">
            <a:spAutoFit/>
          </a:bodyPr>
          <a:lstStyle/>
          <a:p>
            <a:pPr algn="l"/>
            <a:r>
              <a:rPr sz="1700" b="1">
                <a:solidFill>
                  <a:srgbClr val="1D1D1F"/>
                </a:solidFill>
                <a:latin typeface="IBM Plex Sans"/>
              </a:rPr>
              <a:t>Date-wise bhavcopy</a:t>
            </a:r>
          </a:p>
          <a:p>
            <a:pPr algn="l"/>
            <a:r>
              <a:rPr sz="1400" b="0">
                <a:solidFill>
                  <a:srgbClr val="5A6170"/>
                </a:solidFill>
                <a:latin typeface="Calibri"/>
              </a:rPr>
              <a:t>GET /market-data/bhavcopy/GetDateWiseBhavCopy</a:t>
            </a:r>
          </a:p>
        </p:txBody>
      </p:sp>
      <p:sp>
        <p:nvSpPr>
          <p:cNvPr id="157" name="TextBox 156"/>
          <p:cNvSpPr txBox="1"/>
          <p:nvPr/>
        </p:nvSpPr>
        <p:spPr>
          <a:xfrm>
            <a:off x="822960" y="7680960"/>
            <a:ext cx="9784080" cy="731520"/>
          </a:xfrm>
          <a:prstGeom prst="rect">
            <a:avLst/>
          </a:prstGeom>
          <a:noFill/>
        </p:spPr>
        <p:txBody>
          <a:bodyPr wrap="square" lIns="0" tIns="0" rIns="0" bIns="0" anchor="t">
            <a:spAutoFit/>
          </a:bodyPr>
          <a:lstStyle/>
          <a:p>
            <a:pPr algn="l"/>
            <a:r>
              <a:rPr sz="1700" b="1">
                <a:solidFill>
                  <a:srgbClr val="1D1D1F"/>
                </a:solidFill>
                <a:latin typeface="IBM Plex Sans"/>
              </a:rPr>
              <a:t>Contract-wise bhavcopy</a:t>
            </a:r>
          </a:p>
          <a:p>
            <a:pPr algn="l"/>
            <a:r>
              <a:rPr sz="1400" b="0">
                <a:solidFill>
                  <a:srgbClr val="5A6170"/>
                </a:solidFill>
                <a:latin typeface="Calibri"/>
              </a:rPr>
              <a:t>GET /market-data/bhavcopy/GetCommoditywiseBhavCopy</a:t>
            </a:r>
          </a:p>
        </p:txBody>
      </p:sp>
      <p:sp>
        <p:nvSpPr>
          <p:cNvPr id="158" name="TextBox 157"/>
          <p:cNvSpPr txBox="1"/>
          <p:nvPr/>
        </p:nvSpPr>
        <p:spPr>
          <a:xfrm>
            <a:off x="822960" y="8503920"/>
            <a:ext cx="9784080" cy="731520"/>
          </a:xfrm>
          <a:prstGeom prst="rect">
            <a:avLst/>
          </a:prstGeom>
          <a:noFill/>
        </p:spPr>
        <p:txBody>
          <a:bodyPr wrap="square" lIns="0" tIns="0" rIns="0" bIns="0" anchor="t">
            <a:spAutoFit/>
          </a:bodyPr>
          <a:lstStyle/>
          <a:p>
            <a:pPr algn="l"/>
            <a:r>
              <a:rPr sz="1700" b="1">
                <a:solidFill>
                  <a:srgbClr val="1D1D1F"/>
                </a:solidFill>
                <a:latin typeface="IBM Plex Sans"/>
              </a:rPr>
              <a:t>Polled spot archive</a:t>
            </a:r>
          </a:p>
          <a:p>
            <a:pPr algn="l"/>
            <a:r>
              <a:rPr sz="1400" b="0">
                <a:solidFill>
                  <a:srgbClr val="5A6170"/>
                </a:solidFill>
                <a:latin typeface="Calibri"/>
              </a:rPr>
              <a:t>GET /GetSpotMarketArchive  (the settlement reference)</a:t>
            </a:r>
          </a:p>
        </p:txBody>
      </p:sp>
      <p:sp>
        <p:nvSpPr>
          <p:cNvPr id="159" name="Engineering note"/>
          <p:cNvSpPr/>
          <p:nvPr/>
        </p:nvSpPr>
        <p:spPr>
          <a:xfrm>
            <a:off x="11155680" y="6035040"/>
            <a:ext cx="6583680" cy="342900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11430000" y="6263640"/>
            <a:ext cx="6035040" cy="411480"/>
          </a:xfrm>
          <a:prstGeom prst="rect">
            <a:avLst/>
          </a:prstGeom>
          <a:noFill/>
        </p:spPr>
        <p:txBody>
          <a:bodyPr wrap="square" lIns="0" tIns="0" rIns="0" bIns="0" anchor="t">
            <a:spAutoFit/>
          </a:bodyPr>
          <a:lstStyle/>
          <a:p>
            <a:pPr algn="l"/>
            <a:r>
              <a:rPr sz="2000" b="1">
                <a:solidFill>
                  <a:srgbClr val="9A6A00"/>
                </a:solidFill>
                <a:latin typeface="Montserrat"/>
              </a:rPr>
              <a:t>Getting past the bot wall</a:t>
            </a:r>
          </a:p>
        </p:txBody>
      </p:sp>
      <p:sp>
        <p:nvSpPr>
          <p:cNvPr id="161" name="TextBox 160"/>
          <p:cNvSpPr txBox="1"/>
          <p:nvPr/>
        </p:nvSpPr>
        <p:spPr>
          <a:xfrm>
            <a:off x="11430000" y="6812280"/>
            <a:ext cx="6035040" cy="2560320"/>
          </a:xfrm>
          <a:prstGeom prst="rect">
            <a:avLst/>
          </a:prstGeom>
          <a:noFill/>
        </p:spPr>
        <p:txBody>
          <a:bodyPr wrap="square" lIns="0" tIns="0" rIns="0" bIns="0" anchor="t">
            <a:spAutoFit/>
          </a:bodyPr>
          <a:lstStyle/>
          <a:p>
            <a:pPr algn="l">
              <a:spcAft>
                <a:spcPts val="600"/>
              </a:spcAft>
            </a:pPr>
            <a:r>
              <a:rPr sz="1600" b="0">
                <a:solidFill>
                  <a:srgbClr val="1D1D1F"/>
                </a:solidFill>
                <a:latin typeface="Calibri"/>
              </a:rPr>
              <a:t>Akamai returns HTTP 403 to scripted clients. A Chrome-TLS client (curl_cffi) gets through, and every response is cached.</a:t>
            </a:r>
          </a:p>
          <a:p>
            <a:pPr algn="l">
              <a:spcAft>
                <a:spcPts val="600"/>
              </a:spcAft>
            </a:pPr>
            <a:r>
              <a:rPr sz="1600" b="0">
                <a:solidFill>
                  <a:srgbClr val="1D1D1F"/>
                </a:solidFill>
                <a:latin typeface="Calibri"/>
              </a:rPr>
              <a:t>The endpoints older libraries use are dead; we traced the live ones from MCX’s own page scripts.</a:t>
            </a:r>
          </a:p>
          <a:p>
            <a:pPr algn="l">
              <a:spcAft>
                <a:spcPts val="600"/>
              </a:spcAft>
            </a:pPr>
            <a:r>
              <a:rPr sz="1600" b="1">
                <a:solidFill>
                  <a:srgbClr val="1D1D1F"/>
                </a:solidFill>
                <a:latin typeface="Calibri"/>
              </a:rPr>
              <a:t>Full 2020–2026 backfill: 260 requests.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5" name="Google Shape;125;p17"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26" name="Section label"/>
          <p:cNvSpPr txBox="1"/>
          <p:nvPr/>
        </p:nvSpPr>
        <p:spPr>
          <a:xfrm>
            <a:off x="548640" y="1444752"/>
            <a:ext cx="17190720" cy="365760"/>
          </a:xfrm>
          <a:prstGeom prst="rect">
            <a:avLst/>
          </a:prstGeom>
          <a:noFill/>
        </p:spPr>
        <p:txBody>
          <a:bodyPr wrap="square" lIns="0" tIns="0" rIns="0" bIns="0" anchor="t">
            <a:spAutoFit/>
          </a:bodyPr>
          <a:lstStyle/>
          <a:p>
            <a:pPr algn="l"/>
            <a:r>
              <a:rPr sz="1700" b="1">
                <a:solidFill>
                  <a:srgbClr val="9A6A00"/>
                </a:solidFill>
                <a:latin typeface="Montserrat"/>
              </a:rPr>
              <a:t>MARKET RESEARCH / ANALYSIS</a:t>
            </a:r>
          </a:p>
        </p:txBody>
      </p:sp>
      <p:sp>
        <p:nvSpPr>
          <p:cNvPr id="127" name="Title"/>
          <p:cNvSpPr txBox="1"/>
          <p:nvPr/>
        </p:nvSpPr>
        <p:spPr>
          <a:xfrm>
            <a:off x="548640" y="1847088"/>
            <a:ext cx="17190720" cy="731520"/>
          </a:xfrm>
          <a:prstGeom prst="rect">
            <a:avLst/>
          </a:prstGeom>
          <a:noFill/>
        </p:spPr>
        <p:txBody>
          <a:bodyPr wrap="square" lIns="0" tIns="0" rIns="0" bIns="0" anchor="t">
            <a:spAutoFit/>
          </a:bodyPr>
          <a:lstStyle/>
          <a:p>
            <a:pPr algn="l"/>
            <a:r>
              <a:rPr sz="3600" b="1">
                <a:solidFill>
                  <a:srgbClr val="000000"/>
                </a:solidFill>
                <a:latin typeface="Montserrat"/>
              </a:rPr>
              <a:t>₹10 crore a year rides into delivery</a:t>
            </a:r>
          </a:p>
        </p:txBody>
      </p:sp>
      <p:graphicFrame>
        <p:nvGraphicFramePr>
          <p:cNvPr id="128" name="Premium into delivery chart"/>
          <p:cNvGraphicFramePr>
            <a:graphicFrameLocks noGrp="1"/>
          </p:cNvGraphicFramePr>
          <p:nvPr/>
        </p:nvGraphicFramePr>
        <p:xfrm>
          <a:off x="548640" y="2880360"/>
          <a:ext cx="10424160" cy="6309360"/>
        </p:xfrm>
        <a:graphic>
          <a:graphicData uri="http://schemas.openxmlformats.org/drawingml/2006/chart">
            <c:chart xmlns:c="http://schemas.openxmlformats.org/drawingml/2006/chart" xmlns:r="http://schemas.openxmlformats.org/officeDocument/2006/relationships" r:id="rId4"/>
          </a:graphicData>
        </a:graphic>
      </p:graphicFrame>
      <p:sp>
        <p:nvSpPr>
          <p:cNvPr id="129" name="Block Target users"/>
          <p:cNvSpPr/>
          <p:nvPr/>
        </p:nvSpPr>
        <p:spPr>
          <a:xfrm>
            <a:off x="11338560" y="2880360"/>
            <a:ext cx="6400800" cy="20574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11612880" y="3063240"/>
            <a:ext cx="5852160" cy="365760"/>
          </a:xfrm>
          <a:prstGeom prst="rect">
            <a:avLst/>
          </a:prstGeom>
          <a:noFill/>
        </p:spPr>
        <p:txBody>
          <a:bodyPr wrap="square" lIns="0" tIns="0" rIns="0" bIns="0" anchor="t">
            <a:spAutoFit/>
          </a:bodyPr>
          <a:lstStyle/>
          <a:p>
            <a:pPr algn="l"/>
            <a:r>
              <a:rPr sz="1900" b="1">
                <a:solidFill>
                  <a:srgbClr val="9A6A00"/>
                </a:solidFill>
                <a:latin typeface="Montserrat"/>
              </a:rPr>
              <a:t>Target users</a:t>
            </a:r>
          </a:p>
        </p:txBody>
      </p:sp>
      <p:sp>
        <p:nvSpPr>
          <p:cNvPr id="131" name="TextBox 130"/>
          <p:cNvSpPr txBox="1"/>
          <p:nvPr/>
        </p:nvSpPr>
        <p:spPr>
          <a:xfrm>
            <a:off x="11612880" y="3520439"/>
            <a:ext cx="5852160" cy="1371600"/>
          </a:xfrm>
          <a:prstGeom prst="rect">
            <a:avLst/>
          </a:prstGeom>
          <a:noFill/>
        </p:spPr>
        <p:txBody>
          <a:bodyPr wrap="square" lIns="0" tIns="0" rIns="0" bIns="0" anchor="t">
            <a:spAutoFit/>
          </a:bodyPr>
          <a:lstStyle/>
          <a:p>
            <a:pPr algn="l">
              <a:spcAft>
                <a:spcPts val="300"/>
              </a:spcAft>
            </a:pPr>
            <a:r>
              <a:rPr sz="1600" b="0">
                <a:solidFill>
                  <a:srgbClr val="1D1D1F"/>
                </a:solidFill>
                <a:latin typeface="Calibri"/>
              </a:rPr>
              <a:t>·  Retail and HNI gold traders (primary)</a:t>
            </a:r>
          </a:p>
          <a:p>
            <a:pPr algn="l">
              <a:spcAft>
                <a:spcPts val="300"/>
              </a:spcAft>
            </a:pPr>
            <a:r>
              <a:rPr sz="1600" b="0">
                <a:solidFill>
                  <a:srgbClr val="1D1D1F"/>
                </a:solidFill>
                <a:latin typeface="Calibri"/>
              </a:rPr>
              <a:t>·  Prop desks (secondary)</a:t>
            </a:r>
          </a:p>
          <a:p>
            <a:pPr algn="l">
              <a:spcAft>
                <a:spcPts val="300"/>
              </a:spcAft>
            </a:pPr>
            <a:r>
              <a:rPr sz="1600" b="0">
                <a:solidFill>
                  <a:srgbClr val="1D1D1F"/>
                </a:solidFill>
                <a:latin typeface="Calibri"/>
              </a:rPr>
              <a:t>·  MCX and SEBI: the fairness angle</a:t>
            </a:r>
          </a:p>
        </p:txBody>
      </p:sp>
      <p:sp>
        <p:nvSpPr>
          <p:cNvPr id="132" name="Block Revenue model"/>
          <p:cNvSpPr/>
          <p:nvPr/>
        </p:nvSpPr>
        <p:spPr>
          <a:xfrm>
            <a:off x="11338560" y="5074920"/>
            <a:ext cx="6400800" cy="20574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11612880" y="5257800"/>
            <a:ext cx="5852160" cy="365760"/>
          </a:xfrm>
          <a:prstGeom prst="rect">
            <a:avLst/>
          </a:prstGeom>
          <a:noFill/>
        </p:spPr>
        <p:txBody>
          <a:bodyPr wrap="square" lIns="0" tIns="0" rIns="0" bIns="0" anchor="t">
            <a:spAutoFit/>
          </a:bodyPr>
          <a:lstStyle/>
          <a:p>
            <a:pPr algn="l"/>
            <a:r>
              <a:rPr sz="1900" b="1">
                <a:solidFill>
                  <a:srgbClr val="9A6A00"/>
                </a:solidFill>
                <a:latin typeface="Montserrat"/>
              </a:rPr>
              <a:t>Revenue model</a:t>
            </a:r>
          </a:p>
        </p:txBody>
      </p:sp>
      <p:sp>
        <p:nvSpPr>
          <p:cNvPr id="134" name="TextBox 133"/>
          <p:cNvSpPr txBox="1"/>
          <p:nvPr/>
        </p:nvSpPr>
        <p:spPr>
          <a:xfrm>
            <a:off x="11612880" y="5715000"/>
            <a:ext cx="5852160" cy="1371600"/>
          </a:xfrm>
          <a:prstGeom prst="rect">
            <a:avLst/>
          </a:prstGeom>
          <a:noFill/>
        </p:spPr>
        <p:txBody>
          <a:bodyPr wrap="square" lIns="0" tIns="0" rIns="0" bIns="0" anchor="t">
            <a:spAutoFit/>
          </a:bodyPr>
          <a:lstStyle/>
          <a:p>
            <a:pPr algn="l">
              <a:spcAft>
                <a:spcPts val="300"/>
              </a:spcAft>
            </a:pPr>
            <a:r>
              <a:rPr sz="1600" b="0">
                <a:solidFill>
                  <a:srgbClr val="1D1D1F"/>
                </a:solidFill>
                <a:latin typeface="Calibri"/>
              </a:rPr>
              <a:t>·  Free chooser</a:t>
            </a:r>
          </a:p>
          <a:p>
            <a:pPr algn="l">
              <a:spcAft>
                <a:spcPts val="300"/>
              </a:spcAft>
            </a:pPr>
            <a:r>
              <a:rPr sz="1600" b="0">
                <a:solidFill>
                  <a:srgbClr val="1D1D1F"/>
                </a:solidFill>
                <a:latin typeface="Calibri"/>
              </a:rPr>
              <a:t>·  Paid desk tier: alerts and history</a:t>
            </a:r>
          </a:p>
          <a:p>
            <a:pPr algn="l">
              <a:spcAft>
                <a:spcPts val="300"/>
              </a:spcAft>
            </a:pPr>
            <a:r>
              <a:rPr sz="1600" b="0">
                <a:solidFill>
                  <a:srgbClr val="1D1D1F"/>
                </a:solidFill>
                <a:latin typeface="Calibri"/>
              </a:rPr>
              <a:t>·  B2B licence to brokers, beside the order ticket</a:t>
            </a:r>
          </a:p>
        </p:txBody>
      </p:sp>
      <p:sp>
        <p:nvSpPr>
          <p:cNvPr id="135" name="Growth"/>
          <p:cNvSpPr/>
          <p:nvPr/>
        </p:nvSpPr>
        <p:spPr>
          <a:xfrm>
            <a:off x="11338560" y="7269479"/>
            <a:ext cx="6400800" cy="205740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11612880" y="7452359"/>
            <a:ext cx="5852160" cy="365760"/>
          </a:xfrm>
          <a:prstGeom prst="rect">
            <a:avLst/>
          </a:prstGeom>
          <a:noFill/>
        </p:spPr>
        <p:txBody>
          <a:bodyPr wrap="square" lIns="0" tIns="0" rIns="0" bIns="0" anchor="t">
            <a:spAutoFit/>
          </a:bodyPr>
          <a:lstStyle/>
          <a:p>
            <a:pPr algn="l"/>
            <a:r>
              <a:rPr sz="1900" b="1">
                <a:solidFill>
                  <a:srgbClr val="9A6A00"/>
                </a:solidFill>
                <a:latin typeface="Montserrat"/>
              </a:rPr>
              <a:t>Growth</a:t>
            </a:r>
          </a:p>
        </p:txBody>
      </p:sp>
      <p:sp>
        <p:nvSpPr>
          <p:cNvPr id="137" name="TextBox 136"/>
          <p:cNvSpPr txBox="1"/>
          <p:nvPr/>
        </p:nvSpPr>
        <p:spPr>
          <a:xfrm>
            <a:off x="11612880" y="7836407"/>
            <a:ext cx="2743200" cy="914400"/>
          </a:xfrm>
          <a:prstGeom prst="rect">
            <a:avLst/>
          </a:prstGeom>
          <a:noFill/>
        </p:spPr>
        <p:txBody>
          <a:bodyPr wrap="square" lIns="0" tIns="0" rIns="0" bIns="0" anchor="t">
            <a:spAutoFit/>
          </a:bodyPr>
          <a:lstStyle/>
          <a:p>
            <a:pPr algn="l"/>
            <a:r>
              <a:rPr sz="3400" b="1">
                <a:solidFill>
                  <a:srgbClr val="1D1D1F"/>
                </a:solidFill>
                <a:latin typeface="Montserrat"/>
              </a:rPr>
              <a:t>44% → 57%</a:t>
            </a:r>
          </a:p>
        </p:txBody>
      </p:sp>
      <p:sp>
        <p:nvSpPr>
          <p:cNvPr id="138" name="TextBox 137"/>
          <p:cNvSpPr txBox="1"/>
          <p:nvPr/>
        </p:nvSpPr>
        <p:spPr>
          <a:xfrm>
            <a:off x="14447520" y="7909559"/>
            <a:ext cx="3017520" cy="1280160"/>
          </a:xfrm>
          <a:prstGeom prst="rect">
            <a:avLst/>
          </a:prstGeom>
          <a:noFill/>
        </p:spPr>
        <p:txBody>
          <a:bodyPr wrap="square" lIns="0" tIns="0" rIns="0" bIns="0" anchor="t">
            <a:spAutoFit/>
          </a:bodyPr>
          <a:lstStyle/>
          <a:p>
            <a:pPr algn="l"/>
            <a:r>
              <a:rPr sz="1400" b="0">
                <a:solidFill>
                  <a:srgbClr val="5A6170"/>
                </a:solidFill>
                <a:latin typeface="Calibri"/>
              </a:rPr>
              <a:t>bullion’s share of MCX average daily turnover, Q2 FY26 vs Q2 FY25 (MCX results release)</a:t>
            </a:r>
          </a:p>
        </p:txBody>
      </p:sp>
      <p:sp>
        <p:nvSpPr>
          <p:cNvPr id="139" name="Source note"/>
          <p:cNvSpPr txBox="1"/>
          <p:nvPr/>
        </p:nvSpPr>
        <p:spPr>
          <a:xfrm>
            <a:off x="548640" y="9692640"/>
            <a:ext cx="17190720" cy="365760"/>
          </a:xfrm>
          <a:prstGeom prst="rect">
            <a:avLst/>
          </a:prstGeom>
          <a:noFill/>
        </p:spPr>
        <p:txBody>
          <a:bodyPr wrap="square" lIns="0" tIns="0" rIns="0" bIns="0" anchor="t">
            <a:spAutoFit/>
          </a:bodyPr>
          <a:lstStyle/>
          <a:p>
            <a:pPr algn="l"/>
            <a:r>
              <a:rPr sz="1200" b="0">
                <a:solidFill>
                  <a:srgbClr val="5A6170"/>
                </a:solidFill>
                <a:latin typeface="Calibri"/>
              </a:rPr>
              <a:t>Market size from our pipeline: GOLDGUINEA + GOLDPETAL open interest entering the final 3 trading days × cycle premium × settlement price. Last 12 cycles: ₹10.3 Cr (₹1.65 Cr on positions held to settlement). Cycle-mean premium used as a proxy.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4" name="Google Shape;134;p18"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35" name="Section label"/>
          <p:cNvSpPr txBox="1"/>
          <p:nvPr/>
        </p:nvSpPr>
        <p:spPr>
          <a:xfrm>
            <a:off x="548640" y="1444752"/>
            <a:ext cx="17190720" cy="365760"/>
          </a:xfrm>
          <a:prstGeom prst="rect">
            <a:avLst/>
          </a:prstGeom>
          <a:noFill/>
        </p:spPr>
        <p:txBody>
          <a:bodyPr wrap="square" lIns="0" tIns="0" rIns="0" bIns="0" anchor="t">
            <a:spAutoFit/>
          </a:bodyPr>
          <a:lstStyle/>
          <a:p>
            <a:pPr algn="l"/>
            <a:r>
              <a:rPr sz="1700" b="1">
                <a:solidFill>
                  <a:srgbClr val="9A6A00"/>
                </a:solidFill>
                <a:latin typeface="Montserrat"/>
              </a:rPr>
              <a:t>FUTURE SCOPE</a:t>
            </a:r>
          </a:p>
        </p:txBody>
      </p:sp>
      <p:sp>
        <p:nvSpPr>
          <p:cNvPr id="136" name="Title"/>
          <p:cNvSpPr txBox="1"/>
          <p:nvPr/>
        </p:nvSpPr>
        <p:spPr>
          <a:xfrm>
            <a:off x="548640" y="1847088"/>
            <a:ext cx="17190720" cy="731520"/>
          </a:xfrm>
          <a:prstGeom prst="rect">
            <a:avLst/>
          </a:prstGeom>
          <a:noFill/>
        </p:spPr>
        <p:txBody>
          <a:bodyPr wrap="square" lIns="0" tIns="0" rIns="0" bIns="0" anchor="t">
            <a:spAutoFit/>
          </a:bodyPr>
          <a:lstStyle/>
          <a:p>
            <a:pPr algn="l"/>
            <a:r>
              <a:rPr sz="3600" b="1">
                <a:solidFill>
                  <a:srgbClr val="000000"/>
                </a:solidFill>
                <a:latin typeface="Montserrat"/>
              </a:rPr>
              <a:t>Next: live, wider, and inside the broker</a:t>
            </a:r>
          </a:p>
        </p:txBody>
      </p:sp>
      <p:sp>
        <p:nvSpPr>
          <p:cNvPr id="137" name="Future Live daily pipeline"/>
          <p:cNvSpPr/>
          <p:nvPr/>
        </p:nvSpPr>
        <p:spPr>
          <a:xfrm>
            <a:off x="548640" y="2926080"/>
            <a:ext cx="5516880" cy="251460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868680" y="324612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868680" y="3977639"/>
            <a:ext cx="4876800" cy="457200"/>
          </a:xfrm>
          <a:prstGeom prst="rect">
            <a:avLst/>
          </a:prstGeom>
          <a:noFill/>
        </p:spPr>
        <p:txBody>
          <a:bodyPr wrap="square" lIns="0" tIns="0" rIns="0" bIns="0" anchor="t">
            <a:spAutoFit/>
          </a:bodyPr>
          <a:lstStyle/>
          <a:p>
            <a:pPr algn="l"/>
            <a:r>
              <a:rPr sz="2300" b="1">
                <a:solidFill>
                  <a:srgbClr val="1D1D1F"/>
                </a:solidFill>
                <a:latin typeface="Montserrat"/>
              </a:rPr>
              <a:t>Live daily pipeline</a:t>
            </a:r>
          </a:p>
        </p:txBody>
      </p:sp>
      <p:sp>
        <p:nvSpPr>
          <p:cNvPr id="140" name="TextBox 139"/>
          <p:cNvSpPr txBox="1"/>
          <p:nvPr/>
        </p:nvSpPr>
        <p:spPr>
          <a:xfrm>
            <a:off x="868680" y="4526280"/>
            <a:ext cx="4876800" cy="822960"/>
          </a:xfrm>
          <a:prstGeom prst="rect">
            <a:avLst/>
          </a:prstGeom>
          <a:noFill/>
        </p:spPr>
        <p:txBody>
          <a:bodyPr wrap="square" lIns="0" tIns="0" rIns="0" bIns="0" anchor="t">
            <a:spAutoFit/>
          </a:bodyPr>
          <a:lstStyle/>
          <a:p>
            <a:pPr algn="l"/>
            <a:r>
              <a:rPr sz="1800" b="0">
                <a:solidFill>
                  <a:srgbClr val="5A6170"/>
                </a:solidFill>
                <a:latin typeface="Calibri"/>
              </a:rPr>
              <a:t>Daily refresh and an unedited live alert track record by the finale</a:t>
            </a:r>
          </a:p>
        </p:txBody>
      </p:sp>
      <p:sp>
        <p:nvSpPr>
          <p:cNvPr id="141" name="Future Silver family"/>
          <p:cNvSpPr/>
          <p:nvPr/>
        </p:nvSpPr>
        <p:spPr>
          <a:xfrm>
            <a:off x="6385560" y="2926080"/>
            <a:ext cx="5516880" cy="25146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6705600" y="324612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6705600" y="3977639"/>
            <a:ext cx="4876800" cy="457200"/>
          </a:xfrm>
          <a:prstGeom prst="rect">
            <a:avLst/>
          </a:prstGeom>
          <a:noFill/>
        </p:spPr>
        <p:txBody>
          <a:bodyPr wrap="square" lIns="0" tIns="0" rIns="0" bIns="0" anchor="t">
            <a:spAutoFit/>
          </a:bodyPr>
          <a:lstStyle/>
          <a:p>
            <a:pPr algn="l"/>
            <a:r>
              <a:rPr sz="2300" b="1">
                <a:solidFill>
                  <a:srgbClr val="1D1D1F"/>
                </a:solidFill>
                <a:latin typeface="Montserrat"/>
              </a:rPr>
              <a:t>Silver family</a:t>
            </a:r>
          </a:p>
        </p:txBody>
      </p:sp>
      <p:sp>
        <p:nvSpPr>
          <p:cNvPr id="144" name="TextBox 143"/>
          <p:cNvSpPr txBox="1"/>
          <p:nvPr/>
        </p:nvSpPr>
        <p:spPr>
          <a:xfrm>
            <a:off x="6705600" y="4526280"/>
            <a:ext cx="4876800" cy="822960"/>
          </a:xfrm>
          <a:prstGeom prst="rect">
            <a:avLst/>
          </a:prstGeom>
          <a:noFill/>
        </p:spPr>
        <p:txBody>
          <a:bodyPr wrap="square" lIns="0" tIns="0" rIns="0" bIns="0" anchor="t">
            <a:spAutoFit/>
          </a:bodyPr>
          <a:lstStyle/>
          <a:p>
            <a:pPr algn="l"/>
            <a:r>
              <a:rPr sz="1800" b="0">
                <a:solidFill>
                  <a:srgbClr val="5A6170"/>
                </a:solidFill>
                <a:latin typeface="Calibri"/>
              </a:rPr>
              <a:t>SILVER, SILVERM, SILVERMIC through the same engine</a:t>
            </a:r>
          </a:p>
        </p:txBody>
      </p:sp>
      <p:sp>
        <p:nvSpPr>
          <p:cNvPr id="145" name="Future Spec-change annotator"/>
          <p:cNvSpPr/>
          <p:nvPr/>
        </p:nvSpPr>
        <p:spPr>
          <a:xfrm>
            <a:off x="12222480" y="2926080"/>
            <a:ext cx="5516880" cy="25146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12542520" y="324612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12542520" y="3977639"/>
            <a:ext cx="4876800" cy="457200"/>
          </a:xfrm>
          <a:prstGeom prst="rect">
            <a:avLst/>
          </a:prstGeom>
          <a:noFill/>
        </p:spPr>
        <p:txBody>
          <a:bodyPr wrap="square" lIns="0" tIns="0" rIns="0" bIns="0" anchor="t">
            <a:spAutoFit/>
          </a:bodyPr>
          <a:lstStyle/>
          <a:p>
            <a:pPr algn="l"/>
            <a:r>
              <a:rPr sz="2300" b="1">
                <a:solidFill>
                  <a:srgbClr val="1D1D1F"/>
                </a:solidFill>
                <a:latin typeface="Montserrat"/>
              </a:rPr>
              <a:t>Spec-change annotator</a:t>
            </a:r>
          </a:p>
        </p:txBody>
      </p:sp>
      <p:sp>
        <p:nvSpPr>
          <p:cNvPr id="148" name="TextBox 147"/>
          <p:cNvSpPr txBox="1"/>
          <p:nvPr/>
        </p:nvSpPr>
        <p:spPr>
          <a:xfrm>
            <a:off x="12542520" y="4526280"/>
            <a:ext cx="4876800" cy="822960"/>
          </a:xfrm>
          <a:prstGeom prst="rect">
            <a:avLst/>
          </a:prstGeom>
          <a:noFill/>
        </p:spPr>
        <p:txBody>
          <a:bodyPr wrap="square" lIns="0" tIns="0" rIns="0" bIns="0" anchor="t">
            <a:spAutoFit/>
          </a:bodyPr>
          <a:lstStyle/>
          <a:p>
            <a:pPr algn="l"/>
            <a:r>
              <a:rPr sz="1800" b="0">
                <a:solidFill>
                  <a:srgbClr val="5A6170"/>
                </a:solidFill>
                <a:latin typeface="Calibri"/>
              </a:rPr>
              <a:t>Explain the GOLDPETAL regime break from dated circulars</a:t>
            </a:r>
          </a:p>
        </p:txBody>
      </p:sp>
      <p:sp>
        <p:nvSpPr>
          <p:cNvPr id="149" name="Future Broker integration"/>
          <p:cNvSpPr/>
          <p:nvPr/>
        </p:nvSpPr>
        <p:spPr>
          <a:xfrm>
            <a:off x="548640" y="5760720"/>
            <a:ext cx="5516880" cy="25146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val 149"/>
          <p:cNvSpPr/>
          <p:nvPr/>
        </p:nvSpPr>
        <p:spPr>
          <a:xfrm>
            <a:off x="868680" y="608076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868680" y="6812280"/>
            <a:ext cx="4876800" cy="457200"/>
          </a:xfrm>
          <a:prstGeom prst="rect">
            <a:avLst/>
          </a:prstGeom>
          <a:noFill/>
        </p:spPr>
        <p:txBody>
          <a:bodyPr wrap="square" lIns="0" tIns="0" rIns="0" bIns="0" anchor="t">
            <a:spAutoFit/>
          </a:bodyPr>
          <a:lstStyle/>
          <a:p>
            <a:pPr algn="l"/>
            <a:r>
              <a:rPr sz="2300" b="1">
                <a:solidFill>
                  <a:srgbClr val="1D1D1F"/>
                </a:solidFill>
                <a:latin typeface="Montserrat"/>
              </a:rPr>
              <a:t>Broker integration</a:t>
            </a:r>
          </a:p>
        </p:txBody>
      </p:sp>
      <p:sp>
        <p:nvSpPr>
          <p:cNvPr id="152" name="TextBox 151"/>
          <p:cNvSpPr txBox="1"/>
          <p:nvPr/>
        </p:nvSpPr>
        <p:spPr>
          <a:xfrm>
            <a:off x="868680" y="7360920"/>
            <a:ext cx="4876800" cy="822960"/>
          </a:xfrm>
          <a:prstGeom prst="rect">
            <a:avLst/>
          </a:prstGeom>
          <a:noFill/>
        </p:spPr>
        <p:txBody>
          <a:bodyPr wrap="square" lIns="0" tIns="0" rIns="0" bIns="0" anchor="t">
            <a:spAutoFit/>
          </a:bodyPr>
          <a:lstStyle/>
          <a:p>
            <a:pPr algn="l"/>
            <a:r>
              <a:rPr sz="1800" b="0">
                <a:solidFill>
                  <a:srgbClr val="5A6170"/>
                </a:solidFill>
                <a:latin typeface="Calibri"/>
              </a:rPr>
              <a:t>Chooser embedded beside the order ticket</a:t>
            </a:r>
          </a:p>
        </p:txBody>
      </p:sp>
      <p:sp>
        <p:nvSpPr>
          <p:cNvPr id="153" name="Future Exchange fairness index"/>
          <p:cNvSpPr/>
          <p:nvPr/>
        </p:nvSpPr>
        <p:spPr>
          <a:xfrm>
            <a:off x="6385560" y="5760720"/>
            <a:ext cx="5516880" cy="25146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val 153"/>
          <p:cNvSpPr/>
          <p:nvPr/>
        </p:nvSpPr>
        <p:spPr>
          <a:xfrm>
            <a:off x="6705600" y="608076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6705600" y="6812280"/>
            <a:ext cx="4876800" cy="457200"/>
          </a:xfrm>
          <a:prstGeom prst="rect">
            <a:avLst/>
          </a:prstGeom>
          <a:noFill/>
        </p:spPr>
        <p:txBody>
          <a:bodyPr wrap="square" lIns="0" tIns="0" rIns="0" bIns="0" anchor="t">
            <a:spAutoFit/>
          </a:bodyPr>
          <a:lstStyle/>
          <a:p>
            <a:pPr algn="l"/>
            <a:r>
              <a:rPr sz="2300" b="1">
                <a:solidFill>
                  <a:srgbClr val="1D1D1F"/>
                </a:solidFill>
                <a:latin typeface="Montserrat"/>
              </a:rPr>
              <a:t>Exchange fairness index</a:t>
            </a:r>
          </a:p>
        </p:txBody>
      </p:sp>
      <p:sp>
        <p:nvSpPr>
          <p:cNvPr id="156" name="TextBox 155"/>
          <p:cNvSpPr txBox="1"/>
          <p:nvPr/>
        </p:nvSpPr>
        <p:spPr>
          <a:xfrm>
            <a:off x="6705600" y="7360920"/>
            <a:ext cx="4876800" cy="822960"/>
          </a:xfrm>
          <a:prstGeom prst="rect">
            <a:avLst/>
          </a:prstGeom>
          <a:noFill/>
        </p:spPr>
        <p:txBody>
          <a:bodyPr wrap="square" lIns="0" tIns="0" rIns="0" bIns="0" anchor="t">
            <a:spAutoFit/>
          </a:bodyPr>
          <a:lstStyle/>
          <a:p>
            <a:pPr algn="l"/>
            <a:r>
              <a:rPr sz="1800" b="0">
                <a:solidFill>
                  <a:srgbClr val="5A6170"/>
                </a:solidFill>
                <a:latin typeface="Calibri"/>
              </a:rPr>
              <a:t>One daily number: small contracts vs their settlement price</a:t>
            </a:r>
          </a:p>
        </p:txBody>
      </p:sp>
      <p:sp>
        <p:nvSpPr>
          <p:cNvPr id="157" name="Future LLM explainer"/>
          <p:cNvSpPr/>
          <p:nvPr/>
        </p:nvSpPr>
        <p:spPr>
          <a:xfrm>
            <a:off x="12222480" y="5760720"/>
            <a:ext cx="5516880" cy="251460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p:cNvSpPr/>
          <p:nvPr/>
        </p:nvSpPr>
        <p:spPr>
          <a:xfrm>
            <a:off x="12542520" y="6080760"/>
            <a:ext cx="502920" cy="502920"/>
          </a:xfrm>
          <a:prstGeom prst="ellipse">
            <a:avLst/>
          </a:prstGeom>
          <a:solidFill>
            <a:srgbClr val="9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TextBox 158"/>
          <p:cNvSpPr txBox="1"/>
          <p:nvPr/>
        </p:nvSpPr>
        <p:spPr>
          <a:xfrm>
            <a:off x="12542520" y="6812280"/>
            <a:ext cx="4876800" cy="457200"/>
          </a:xfrm>
          <a:prstGeom prst="rect">
            <a:avLst/>
          </a:prstGeom>
          <a:noFill/>
        </p:spPr>
        <p:txBody>
          <a:bodyPr wrap="square" lIns="0" tIns="0" rIns="0" bIns="0" anchor="t">
            <a:spAutoFit/>
          </a:bodyPr>
          <a:lstStyle/>
          <a:p>
            <a:pPr algn="l"/>
            <a:r>
              <a:rPr sz="2300" b="1">
                <a:solidFill>
                  <a:srgbClr val="1D1D1F"/>
                </a:solidFill>
                <a:latin typeface="Montserrat"/>
              </a:rPr>
              <a:t>LLM explainer</a:t>
            </a:r>
          </a:p>
        </p:txBody>
      </p:sp>
      <p:sp>
        <p:nvSpPr>
          <p:cNvPr id="160" name="TextBox 159"/>
          <p:cNvSpPr txBox="1"/>
          <p:nvPr/>
        </p:nvSpPr>
        <p:spPr>
          <a:xfrm>
            <a:off x="12542520" y="7360920"/>
            <a:ext cx="4876800" cy="822960"/>
          </a:xfrm>
          <a:prstGeom prst="rect">
            <a:avLst/>
          </a:prstGeom>
          <a:noFill/>
        </p:spPr>
        <p:txBody>
          <a:bodyPr wrap="square" lIns="0" tIns="0" rIns="0" bIns="0" anchor="t">
            <a:spAutoFit/>
          </a:bodyPr>
          <a:lstStyle/>
          <a:p>
            <a:pPr algn="l"/>
            <a:r>
              <a:rPr sz="1800" b="0">
                <a:solidFill>
                  <a:srgbClr val="5A6170"/>
                </a:solidFill>
                <a:latin typeface="Calibri"/>
              </a:rPr>
              <a:t>Plain-language notes that only cite computed numbers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43" name="Google Shape;143;p19"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44" name="Section label"/>
          <p:cNvSpPr txBox="1"/>
          <p:nvPr/>
        </p:nvSpPr>
        <p:spPr>
          <a:xfrm>
            <a:off x="548640" y="1444752"/>
            <a:ext cx="17190720" cy="365760"/>
          </a:xfrm>
          <a:prstGeom prst="rect">
            <a:avLst/>
          </a:prstGeom>
          <a:noFill/>
        </p:spPr>
        <p:txBody>
          <a:bodyPr wrap="square" lIns="0" tIns="0" rIns="0" bIns="0" anchor="t">
            <a:spAutoFit/>
          </a:bodyPr>
          <a:lstStyle/>
          <a:p>
            <a:pPr algn="l"/>
            <a:r>
              <a:rPr sz="1700" b="1">
                <a:solidFill>
                  <a:srgbClr val="9A6A00"/>
                </a:solidFill>
                <a:latin typeface="Montserrat"/>
              </a:rPr>
              <a:t>EVIDENCE &amp; VALIDATION</a:t>
            </a:r>
          </a:p>
        </p:txBody>
      </p:sp>
      <p:sp>
        <p:nvSpPr>
          <p:cNvPr id="145" name="Title"/>
          <p:cNvSpPr txBox="1"/>
          <p:nvPr/>
        </p:nvSpPr>
        <p:spPr>
          <a:xfrm>
            <a:off x="548640" y="1847088"/>
            <a:ext cx="17190720" cy="731520"/>
          </a:xfrm>
          <a:prstGeom prst="rect">
            <a:avLst/>
          </a:prstGeom>
          <a:noFill/>
        </p:spPr>
        <p:txBody>
          <a:bodyPr wrap="square" lIns="0" tIns="0" rIns="0" bIns="0" anchor="t">
            <a:spAutoFit/>
          </a:bodyPr>
          <a:lstStyle/>
          <a:p>
            <a:pPr algn="l"/>
            <a:r>
              <a:rPr sz="3600" b="1">
                <a:solidFill>
                  <a:srgbClr val="000000"/>
                </a:solidFill>
                <a:latin typeface="Montserrat"/>
              </a:rPr>
              <a:t>A test we could have failed, and didn’t</a:t>
            </a:r>
          </a:p>
        </p:txBody>
      </p:sp>
      <p:graphicFrame>
        <p:nvGraphicFramePr>
          <p:cNvPr id="146" name="G0 table"/>
          <p:cNvGraphicFramePr>
            <a:graphicFrameLocks noGrp="1"/>
          </p:cNvGraphicFramePr>
          <p:nvPr/>
        </p:nvGraphicFramePr>
        <p:xfrm>
          <a:off x="548640" y="2926080"/>
          <a:ext cx="10607040" cy="365760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731520">
                <a:tc>
                  <a:txBody>
                    <a:bodyPr/>
                    <a:lstStyle/>
                    <a:p>
                      <a:pPr algn="l"/>
                      <a:r>
                        <a:rPr sz="1600" b="1">
                          <a:solidFill>
                            <a:srgbClr val="1D1D1F"/>
                          </a:solidFill>
                          <a:latin typeface="IBM Plex Sans"/>
                        </a:rPr>
                        <a:t>Price mark</a:t>
                      </a:r>
                    </a:p>
                  </a:txBody>
                  <a:tcPr marL="137160" marR="137160" anchor="ctr">
                    <a:solidFill>
                      <a:srgbClr val="F6EDD9"/>
                    </a:solidFill>
                  </a:tcPr>
                </a:tc>
                <a:tc>
                  <a:txBody>
                    <a:bodyPr/>
                    <a:lstStyle/>
                    <a:p>
                      <a:pPr algn="r"/>
                      <a:r>
                        <a:rPr sz="1600" b="1">
                          <a:solidFill>
                            <a:srgbClr val="1D1D1F"/>
                          </a:solidFill>
                          <a:latin typeface="IBM Plex Sans"/>
                        </a:rPr>
                        <a:t>GOLDGUINEA bp</a:t>
                      </a:r>
                    </a:p>
                  </a:txBody>
                  <a:tcPr marL="137160" marR="137160" anchor="ctr">
                    <a:solidFill>
                      <a:srgbClr val="F6EDD9"/>
                    </a:solidFill>
                  </a:tcPr>
                </a:tc>
                <a:tc>
                  <a:txBody>
                    <a:bodyPr/>
                    <a:lstStyle/>
                    <a:p>
                      <a:pPr algn="r"/>
                      <a:r>
                        <a:rPr sz="1600" b="1">
                          <a:solidFill>
                            <a:srgbClr val="1D1D1F"/>
                          </a:solidFill>
                          <a:latin typeface="IBM Plex Sans"/>
                        </a:rPr>
                        <a:t>95% CI</a:t>
                      </a:r>
                    </a:p>
                  </a:txBody>
                  <a:tcPr marL="137160" marR="137160" anchor="ctr">
                    <a:solidFill>
                      <a:srgbClr val="F6EDD9"/>
                    </a:solidFill>
                  </a:tcPr>
                </a:tc>
                <a:tc>
                  <a:txBody>
                    <a:bodyPr/>
                    <a:lstStyle/>
                    <a:p>
                      <a:pPr algn="r"/>
                      <a:r>
                        <a:rPr sz="1600" b="1">
                          <a:solidFill>
                            <a:srgbClr val="1D1D1F"/>
                          </a:solidFill>
                          <a:latin typeface="IBM Plex Sans"/>
                        </a:rPr>
                        <a:t>GOLDPETAL bp</a:t>
                      </a:r>
                    </a:p>
                  </a:txBody>
                  <a:tcPr marL="137160" marR="137160" anchor="ctr">
                    <a:solidFill>
                      <a:srgbClr val="F6EDD9"/>
                    </a:solidFill>
                  </a:tcPr>
                </a:tc>
                <a:tc>
                  <a:txBody>
                    <a:bodyPr/>
                    <a:lstStyle/>
                    <a:p>
                      <a:pPr algn="r"/>
                      <a:r>
                        <a:rPr sz="1600" b="1">
                          <a:solidFill>
                            <a:srgbClr val="1D1D1F"/>
                          </a:solidFill>
                          <a:latin typeface="IBM Plex Sans"/>
                        </a:rPr>
                        <a:t>95% CI</a:t>
                      </a:r>
                    </a:p>
                  </a:txBody>
                  <a:tcPr marL="137160" marR="137160" anchor="ctr">
                    <a:solidFill>
                      <a:srgbClr val="F6EDD9"/>
                    </a:solidFill>
                  </a:tcPr>
                </a:tc>
                <a:extLst>
                  <a:ext uri="{0D108BD9-81ED-4DB2-BD59-A6C34878D82A}">
                    <a16:rowId xmlns:a16="http://schemas.microsoft.com/office/drawing/2014/main" val="10000"/>
                  </a:ext>
                </a:extLst>
              </a:tr>
              <a:tr h="731520">
                <a:tc>
                  <a:txBody>
                    <a:bodyPr/>
                    <a:lstStyle/>
                    <a:p>
                      <a:pPr algn="l"/>
                      <a:r>
                        <a:rPr sz="1800" b="0">
                          <a:solidFill>
                            <a:srgbClr val="1D1D1F"/>
                          </a:solidFill>
                          <a:latin typeface="Calibri"/>
                        </a:rPr>
                        <a:t>Close</a:t>
                      </a:r>
                    </a:p>
                  </a:txBody>
                  <a:tcPr marL="137160" marR="137160" anchor="ctr">
                    <a:solidFill>
                      <a:srgbClr val="F3F4F7"/>
                    </a:solidFill>
                  </a:tcPr>
                </a:tc>
                <a:tc>
                  <a:txBody>
                    <a:bodyPr/>
                    <a:lstStyle/>
                    <a:p>
                      <a:pPr algn="r"/>
                      <a:r>
                        <a:rPr sz="1800" b="1">
                          <a:solidFill>
                            <a:srgbClr val="1D1D1F"/>
                          </a:solidFill>
                          <a:latin typeface="IBM Plex Sans"/>
                        </a:rPr>
                        <a:t>+78.9</a:t>
                      </a:r>
                    </a:p>
                  </a:txBody>
                  <a:tcPr marL="137160" marR="137160" anchor="ctr">
                    <a:solidFill>
                      <a:srgbClr val="F3F4F7"/>
                    </a:solidFill>
                  </a:tcPr>
                </a:tc>
                <a:tc>
                  <a:txBody>
                    <a:bodyPr/>
                    <a:lstStyle/>
                    <a:p>
                      <a:pPr algn="r"/>
                      <a:r>
                        <a:rPr sz="1800" b="0">
                          <a:solidFill>
                            <a:srgbClr val="1D1D1F"/>
                          </a:solidFill>
                          <a:latin typeface="Calibri"/>
                        </a:rPr>
                        <a:t>61.6 – 98.0</a:t>
                      </a:r>
                    </a:p>
                  </a:txBody>
                  <a:tcPr marL="137160" marR="137160" anchor="ctr">
                    <a:solidFill>
                      <a:srgbClr val="F3F4F7"/>
                    </a:solidFill>
                  </a:tcPr>
                </a:tc>
                <a:tc>
                  <a:txBody>
                    <a:bodyPr/>
                    <a:lstStyle/>
                    <a:p>
                      <a:pPr algn="r"/>
                      <a:r>
                        <a:rPr sz="1800" b="1">
                          <a:solidFill>
                            <a:srgbClr val="1D1D1F"/>
                          </a:solidFill>
                          <a:latin typeface="IBM Plex Sans"/>
                        </a:rPr>
                        <a:t>+94.6</a:t>
                      </a:r>
                    </a:p>
                  </a:txBody>
                  <a:tcPr marL="137160" marR="137160" anchor="ctr">
                    <a:solidFill>
                      <a:srgbClr val="F3F4F7"/>
                    </a:solidFill>
                  </a:tcPr>
                </a:tc>
                <a:tc>
                  <a:txBody>
                    <a:bodyPr/>
                    <a:lstStyle/>
                    <a:p>
                      <a:pPr algn="r"/>
                      <a:r>
                        <a:rPr sz="1800" b="0">
                          <a:solidFill>
                            <a:srgbClr val="1D1D1F"/>
                          </a:solidFill>
                          <a:latin typeface="Calibri"/>
                        </a:rPr>
                        <a:t>80.6 – 109.8</a:t>
                      </a:r>
                    </a:p>
                  </a:txBody>
                  <a:tcPr marL="137160" marR="137160" anchor="ctr">
                    <a:solidFill>
                      <a:srgbClr val="F3F4F7"/>
                    </a:solidFill>
                  </a:tcPr>
                </a:tc>
                <a:extLst>
                  <a:ext uri="{0D108BD9-81ED-4DB2-BD59-A6C34878D82A}">
                    <a16:rowId xmlns:a16="http://schemas.microsoft.com/office/drawing/2014/main" val="10001"/>
                  </a:ext>
                </a:extLst>
              </a:tr>
              <a:tr h="731520">
                <a:tc>
                  <a:txBody>
                    <a:bodyPr/>
                    <a:lstStyle/>
                    <a:p>
                      <a:pPr algn="l"/>
                      <a:r>
                        <a:rPr sz="1800" b="0">
                          <a:solidFill>
                            <a:srgbClr val="1D1D1F"/>
                          </a:solidFill>
                          <a:latin typeface="Calibri"/>
                        </a:rPr>
                        <a:t>Open</a:t>
                      </a:r>
                    </a:p>
                  </a:txBody>
                  <a:tcPr marL="137160" marR="137160" anchor="ctr">
                    <a:solidFill>
                      <a:srgbClr val="FFFFFF"/>
                    </a:solidFill>
                  </a:tcPr>
                </a:tc>
                <a:tc>
                  <a:txBody>
                    <a:bodyPr/>
                    <a:lstStyle/>
                    <a:p>
                      <a:pPr algn="r"/>
                      <a:r>
                        <a:rPr sz="1800" b="1">
                          <a:solidFill>
                            <a:srgbClr val="1D1D1F"/>
                          </a:solidFill>
                          <a:latin typeface="IBM Plex Sans"/>
                        </a:rPr>
                        <a:t>+81.8</a:t>
                      </a:r>
                    </a:p>
                  </a:txBody>
                  <a:tcPr marL="137160" marR="137160" anchor="ctr">
                    <a:solidFill>
                      <a:srgbClr val="FFFFFF"/>
                    </a:solidFill>
                  </a:tcPr>
                </a:tc>
                <a:tc>
                  <a:txBody>
                    <a:bodyPr/>
                    <a:lstStyle/>
                    <a:p>
                      <a:pPr algn="r"/>
                      <a:r>
                        <a:rPr sz="1800" b="0">
                          <a:solidFill>
                            <a:srgbClr val="1D1D1F"/>
                          </a:solidFill>
                          <a:latin typeface="Calibri"/>
                        </a:rPr>
                        <a:t>65.6 – 99.3</a:t>
                      </a:r>
                    </a:p>
                  </a:txBody>
                  <a:tcPr marL="137160" marR="137160" anchor="ctr">
                    <a:solidFill>
                      <a:srgbClr val="FFFFFF"/>
                    </a:solidFill>
                  </a:tcPr>
                </a:tc>
                <a:tc>
                  <a:txBody>
                    <a:bodyPr/>
                    <a:lstStyle/>
                    <a:p>
                      <a:pPr algn="r"/>
                      <a:r>
                        <a:rPr sz="1800" b="1">
                          <a:solidFill>
                            <a:srgbClr val="1D1D1F"/>
                          </a:solidFill>
                          <a:latin typeface="IBM Plex Sans"/>
                        </a:rPr>
                        <a:t>+92.9</a:t>
                      </a:r>
                    </a:p>
                  </a:txBody>
                  <a:tcPr marL="137160" marR="137160" anchor="ctr">
                    <a:solidFill>
                      <a:srgbClr val="FFFFFF"/>
                    </a:solidFill>
                  </a:tcPr>
                </a:tc>
                <a:tc>
                  <a:txBody>
                    <a:bodyPr/>
                    <a:lstStyle/>
                    <a:p>
                      <a:pPr algn="r"/>
                      <a:r>
                        <a:rPr sz="1800" b="0">
                          <a:solidFill>
                            <a:srgbClr val="1D1D1F"/>
                          </a:solidFill>
                          <a:latin typeface="Calibri"/>
                        </a:rPr>
                        <a:t>80.3 – 106.5</a:t>
                      </a:r>
                    </a:p>
                  </a:txBody>
                  <a:tcPr marL="137160" marR="137160" anchor="ctr">
                    <a:solidFill>
                      <a:srgbClr val="FFFFFF"/>
                    </a:solidFill>
                  </a:tcPr>
                </a:tc>
                <a:extLst>
                  <a:ext uri="{0D108BD9-81ED-4DB2-BD59-A6C34878D82A}">
                    <a16:rowId xmlns:a16="http://schemas.microsoft.com/office/drawing/2014/main" val="10002"/>
                  </a:ext>
                </a:extLst>
              </a:tr>
              <a:tr h="731520">
                <a:tc>
                  <a:txBody>
                    <a:bodyPr/>
                    <a:lstStyle/>
                    <a:p>
                      <a:pPr algn="l"/>
                      <a:r>
                        <a:rPr sz="1800" b="0">
                          <a:solidFill>
                            <a:srgbClr val="1D1D1F"/>
                          </a:solidFill>
                          <a:latin typeface="Calibri"/>
                        </a:rPr>
                        <a:t>(High+Low)/2</a:t>
                      </a:r>
                    </a:p>
                  </a:txBody>
                  <a:tcPr marL="137160" marR="137160" anchor="ctr">
                    <a:solidFill>
                      <a:srgbClr val="F3F4F7"/>
                    </a:solidFill>
                  </a:tcPr>
                </a:tc>
                <a:tc>
                  <a:txBody>
                    <a:bodyPr/>
                    <a:lstStyle/>
                    <a:p>
                      <a:pPr algn="r"/>
                      <a:r>
                        <a:rPr sz="1800" b="1">
                          <a:solidFill>
                            <a:srgbClr val="1D1D1F"/>
                          </a:solidFill>
                          <a:latin typeface="IBM Plex Sans"/>
                        </a:rPr>
                        <a:t>+78.7</a:t>
                      </a:r>
                    </a:p>
                  </a:txBody>
                  <a:tcPr marL="137160" marR="137160" anchor="ctr">
                    <a:solidFill>
                      <a:srgbClr val="F3F4F7"/>
                    </a:solidFill>
                  </a:tcPr>
                </a:tc>
                <a:tc>
                  <a:txBody>
                    <a:bodyPr/>
                    <a:lstStyle/>
                    <a:p>
                      <a:pPr algn="r"/>
                      <a:r>
                        <a:rPr sz="1800" b="0">
                          <a:solidFill>
                            <a:srgbClr val="1D1D1F"/>
                          </a:solidFill>
                          <a:latin typeface="Calibri"/>
                        </a:rPr>
                        <a:t>60.6 – 97.4</a:t>
                      </a:r>
                    </a:p>
                  </a:txBody>
                  <a:tcPr marL="137160" marR="137160" anchor="ctr">
                    <a:solidFill>
                      <a:srgbClr val="F3F4F7"/>
                    </a:solidFill>
                  </a:tcPr>
                </a:tc>
                <a:tc>
                  <a:txBody>
                    <a:bodyPr/>
                    <a:lstStyle/>
                    <a:p>
                      <a:pPr algn="r"/>
                      <a:r>
                        <a:rPr sz="1800" b="1">
                          <a:solidFill>
                            <a:srgbClr val="1D1D1F"/>
                          </a:solidFill>
                          <a:latin typeface="IBM Plex Sans"/>
                        </a:rPr>
                        <a:t>+93.2</a:t>
                      </a:r>
                    </a:p>
                  </a:txBody>
                  <a:tcPr marL="137160" marR="137160" anchor="ctr">
                    <a:solidFill>
                      <a:srgbClr val="F3F4F7"/>
                    </a:solidFill>
                  </a:tcPr>
                </a:tc>
                <a:tc>
                  <a:txBody>
                    <a:bodyPr/>
                    <a:lstStyle/>
                    <a:p>
                      <a:pPr algn="r"/>
                      <a:r>
                        <a:rPr sz="1800" b="0">
                          <a:solidFill>
                            <a:srgbClr val="1D1D1F"/>
                          </a:solidFill>
                          <a:latin typeface="Calibri"/>
                        </a:rPr>
                        <a:t>79.5 – 107.8</a:t>
                      </a:r>
                    </a:p>
                  </a:txBody>
                  <a:tcPr marL="137160" marR="137160" anchor="ctr">
                    <a:solidFill>
                      <a:srgbClr val="F3F4F7"/>
                    </a:solidFill>
                  </a:tcPr>
                </a:tc>
                <a:extLst>
                  <a:ext uri="{0D108BD9-81ED-4DB2-BD59-A6C34878D82A}">
                    <a16:rowId xmlns:a16="http://schemas.microsoft.com/office/drawing/2014/main" val="10003"/>
                  </a:ext>
                </a:extLst>
              </a:tr>
              <a:tr h="731520">
                <a:tc>
                  <a:txBody>
                    <a:bodyPr/>
                    <a:lstStyle/>
                    <a:p>
                      <a:pPr algn="l"/>
                      <a:r>
                        <a:rPr sz="1800" b="1">
                          <a:solidFill>
                            <a:srgbClr val="1D1D1F"/>
                          </a:solidFill>
                          <a:latin typeface="IBM Plex Sans"/>
                        </a:rPr>
                        <a:t>VWAP</a:t>
                      </a:r>
                    </a:p>
                  </a:txBody>
                  <a:tcPr marL="137160" marR="137160" anchor="ctr">
                    <a:solidFill>
                      <a:srgbClr val="FFFFFF"/>
                    </a:solidFill>
                  </a:tcPr>
                </a:tc>
                <a:tc>
                  <a:txBody>
                    <a:bodyPr/>
                    <a:lstStyle/>
                    <a:p>
                      <a:pPr algn="r"/>
                      <a:r>
                        <a:rPr sz="1800" b="1">
                          <a:solidFill>
                            <a:srgbClr val="1D1D1F"/>
                          </a:solidFill>
                          <a:latin typeface="IBM Plex Sans"/>
                        </a:rPr>
                        <a:t>+78.7</a:t>
                      </a:r>
                    </a:p>
                  </a:txBody>
                  <a:tcPr marL="137160" marR="137160" anchor="ctr">
                    <a:solidFill>
                      <a:srgbClr val="FFFFFF"/>
                    </a:solidFill>
                  </a:tcPr>
                </a:tc>
                <a:tc>
                  <a:txBody>
                    <a:bodyPr/>
                    <a:lstStyle/>
                    <a:p>
                      <a:pPr algn="r"/>
                      <a:r>
                        <a:rPr sz="1800" b="1">
                          <a:solidFill>
                            <a:srgbClr val="1D1D1F"/>
                          </a:solidFill>
                          <a:latin typeface="Calibri"/>
                        </a:rPr>
                        <a:t>61.0 – 97.4</a:t>
                      </a:r>
                    </a:p>
                  </a:txBody>
                  <a:tcPr marL="137160" marR="137160" anchor="ctr">
                    <a:solidFill>
                      <a:srgbClr val="FFFFFF"/>
                    </a:solidFill>
                  </a:tcPr>
                </a:tc>
                <a:tc>
                  <a:txBody>
                    <a:bodyPr/>
                    <a:lstStyle/>
                    <a:p>
                      <a:pPr algn="r"/>
                      <a:r>
                        <a:rPr sz="1800" b="1">
                          <a:solidFill>
                            <a:srgbClr val="1D1D1F"/>
                          </a:solidFill>
                          <a:latin typeface="IBM Plex Sans"/>
                        </a:rPr>
                        <a:t>+94.1</a:t>
                      </a:r>
                    </a:p>
                  </a:txBody>
                  <a:tcPr marL="137160" marR="137160" anchor="ctr">
                    <a:solidFill>
                      <a:srgbClr val="FFFFFF"/>
                    </a:solidFill>
                  </a:tcPr>
                </a:tc>
                <a:tc>
                  <a:txBody>
                    <a:bodyPr/>
                    <a:lstStyle/>
                    <a:p>
                      <a:pPr algn="r"/>
                      <a:r>
                        <a:rPr sz="1800" b="1">
                          <a:solidFill>
                            <a:srgbClr val="1D1D1F"/>
                          </a:solidFill>
                          <a:latin typeface="Calibri"/>
                        </a:rPr>
                        <a:t>80.4 – 108.8</a:t>
                      </a:r>
                    </a:p>
                  </a:txBody>
                  <a:tcPr marL="137160" marR="137160" anchor="ctr">
                    <a:solidFill>
                      <a:srgbClr val="FFFFFF"/>
                    </a:solidFill>
                  </a:tcPr>
                </a:tc>
                <a:extLst>
                  <a:ext uri="{0D108BD9-81ED-4DB2-BD59-A6C34878D82A}">
                    <a16:rowId xmlns:a16="http://schemas.microsoft.com/office/drawing/2014/main" val="10004"/>
                  </a:ext>
                </a:extLst>
              </a:tr>
            </a:tbl>
          </a:graphicData>
        </a:graphic>
      </p:graphicFrame>
      <p:sp>
        <p:nvSpPr>
          <p:cNvPr id="147" name="TextBox 146"/>
          <p:cNvSpPr txBox="1"/>
          <p:nvPr/>
        </p:nvSpPr>
        <p:spPr>
          <a:xfrm>
            <a:off x="548640" y="6720840"/>
            <a:ext cx="10607040" cy="411480"/>
          </a:xfrm>
          <a:prstGeom prst="rect">
            <a:avLst/>
          </a:prstGeom>
          <a:noFill/>
        </p:spPr>
        <p:txBody>
          <a:bodyPr wrap="square" lIns="0" tIns="0" rIns="0" bIns="0" anchor="t">
            <a:spAutoFit/>
          </a:bodyPr>
          <a:lstStyle/>
          <a:p>
            <a:pPr algn="l"/>
            <a:r>
              <a:rPr sz="1500" b="0">
                <a:solidFill>
                  <a:srgbClr val="5A6170"/>
                </a:solidFill>
                <a:latin typeface="Calibri"/>
              </a:rPr>
              <a:t>18 of 18 cycles positive on every mark. Bootstrap over whole cycles; pre-tender days; ≥ ₹1 Cr per leg.</a:t>
            </a:r>
          </a:p>
        </p:txBody>
      </p:sp>
      <p:sp>
        <p:nvSpPr>
          <p:cNvPr id="148" name="Sensitivity"/>
          <p:cNvSpPr/>
          <p:nvPr/>
        </p:nvSpPr>
        <p:spPr>
          <a:xfrm>
            <a:off x="548640" y="7269480"/>
            <a:ext cx="10607040" cy="219456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822960" y="7452360"/>
            <a:ext cx="10058400" cy="365760"/>
          </a:xfrm>
          <a:prstGeom prst="rect">
            <a:avLst/>
          </a:prstGeom>
          <a:noFill/>
        </p:spPr>
        <p:txBody>
          <a:bodyPr wrap="square" lIns="0" tIns="0" rIns="0" bIns="0" anchor="t">
            <a:spAutoFit/>
          </a:bodyPr>
          <a:lstStyle/>
          <a:p>
            <a:pPr algn="l"/>
            <a:r>
              <a:rPr sz="1900" b="1">
                <a:solidFill>
                  <a:srgbClr val="9A6A00"/>
                </a:solidFill>
                <a:latin typeface="Montserrat"/>
              </a:rPr>
              <a:t>Holds under every sensitivity run (VWAP)</a:t>
            </a:r>
          </a:p>
        </p:txBody>
      </p:sp>
      <p:sp>
        <p:nvSpPr>
          <p:cNvPr id="150" name="TextBox 149"/>
          <p:cNvSpPr txBox="1"/>
          <p:nvPr/>
        </p:nvSpPr>
        <p:spPr>
          <a:xfrm>
            <a:off x="822960" y="7955279"/>
            <a:ext cx="10058400" cy="1463040"/>
          </a:xfrm>
          <a:prstGeom prst="rect">
            <a:avLst/>
          </a:prstGeom>
          <a:noFill/>
        </p:spPr>
        <p:txBody>
          <a:bodyPr wrap="square" lIns="0" tIns="0" rIns="0" bIns="0" anchor="t">
            <a:spAutoFit/>
          </a:bodyPr>
          <a:lstStyle/>
          <a:p>
            <a:pPr algn="l">
              <a:spcAft>
                <a:spcPts val="600"/>
              </a:spcAft>
            </a:pPr>
            <a:r>
              <a:rPr sz="1600" b="0">
                <a:solidFill>
                  <a:srgbClr val="1D1D1F"/>
                </a:solidFill>
                <a:latin typeface="Calibri"/>
              </a:rPr>
              <a:t>Turnover floor ₹0.25 Cr / ₹5 Cr:  GOLDGUINEA +79.4 / +76.7,  GOLDPETAL +94.0 / +93.7</a:t>
            </a:r>
          </a:p>
          <a:p>
            <a:pPr algn="l">
              <a:spcAft>
                <a:spcPts val="600"/>
              </a:spcAft>
            </a:pPr>
            <a:r>
              <a:rPr sz="1600" b="0">
                <a:solidFill>
                  <a:srgbClr val="1D1D1F"/>
                </a:solidFill>
                <a:latin typeface="Calibri"/>
              </a:rPr>
              <a:t>3-day tender exclusion:  +78.9 / +94.4      Without the Jan–Mar 2026 crash cycles:  +69.4 / +88.4</a:t>
            </a:r>
          </a:p>
        </p:txBody>
      </p:sp>
      <p:sp>
        <p:nvSpPr>
          <p:cNvPr id="151" name="Pre-registered"/>
          <p:cNvSpPr/>
          <p:nvPr/>
        </p:nvSpPr>
        <p:spPr>
          <a:xfrm>
            <a:off x="11521440" y="2926080"/>
            <a:ext cx="6217920" cy="1965960"/>
          </a:xfrm>
          <a:prstGeom prst="roundRect">
            <a:avLst>
              <a:gd name="adj" fmla="val 6000"/>
            </a:avLst>
          </a:prstGeom>
          <a:solidFill>
            <a:srgbClr val="F6E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11795760" y="3108960"/>
            <a:ext cx="5669280" cy="1691640"/>
          </a:xfrm>
          <a:prstGeom prst="rect">
            <a:avLst/>
          </a:prstGeom>
          <a:noFill/>
        </p:spPr>
        <p:txBody>
          <a:bodyPr wrap="square" lIns="0" tIns="0" rIns="0" bIns="0" anchor="t">
            <a:spAutoFit/>
          </a:bodyPr>
          <a:lstStyle/>
          <a:p>
            <a:pPr algn="l">
              <a:spcAft>
                <a:spcPts val="600"/>
              </a:spcAft>
            </a:pPr>
            <a:r>
              <a:rPr sz="1600" b="1">
                <a:solidFill>
                  <a:srgbClr val="1D1D1F"/>
                </a:solidFill>
                <a:latin typeface="IBM Plex Sans"/>
              </a:rPr>
              <a:t>Rule fixed before the data was pulled</a:t>
            </a:r>
          </a:p>
          <a:p>
            <a:pPr algn="l">
              <a:spcAft>
                <a:spcPts val="600"/>
              </a:spcAft>
            </a:pPr>
            <a:r>
              <a:rPr sz="1600" b="0">
                <a:solidFill>
                  <a:srgbClr val="1D1D1F"/>
                </a:solidFill>
                <a:latin typeface="Calibri"/>
              </a:rPr>
              <a:t>GO needed ≥ 8 cycles, and every mark ≥ +15 bp with its CI above 0 and ≥ 75% of cycles positive. Every condition passed.</a:t>
            </a:r>
          </a:p>
        </p:txBody>
      </p:sp>
      <p:sp>
        <p:nvSpPr>
          <p:cNvPr id="153" name="Settlement check"/>
          <p:cNvSpPr/>
          <p:nvPr/>
        </p:nvSpPr>
        <p:spPr>
          <a:xfrm>
            <a:off x="11521440" y="5029200"/>
            <a:ext cx="6217920" cy="1965960"/>
          </a:xfrm>
          <a:prstGeom prst="roundRect">
            <a:avLst>
              <a:gd name="adj" fmla="val 6000"/>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11795760" y="5212080"/>
            <a:ext cx="5669280" cy="1691640"/>
          </a:xfrm>
          <a:prstGeom prst="rect">
            <a:avLst/>
          </a:prstGeom>
          <a:noFill/>
        </p:spPr>
        <p:txBody>
          <a:bodyPr wrap="square" lIns="0" tIns="0" rIns="0" bIns="0" anchor="t">
            <a:spAutoFit/>
          </a:bodyPr>
          <a:lstStyle/>
          <a:p>
            <a:pPr algn="l">
              <a:spcAft>
                <a:spcPts val="600"/>
              </a:spcAft>
            </a:pPr>
            <a:r>
              <a:rPr sz="1600" b="1">
                <a:solidFill>
                  <a:srgbClr val="1D1D1F"/>
                </a:solidFill>
                <a:latin typeface="IBM Plex Sans"/>
              </a:rPr>
              <a:t>Same target, verified</a:t>
            </a:r>
          </a:p>
          <a:p>
            <a:pPr algn="l">
              <a:spcAft>
                <a:spcPts val="600"/>
              </a:spcAft>
            </a:pPr>
            <a:r>
              <a:rPr sz="1600" b="0">
                <a:solidFill>
                  <a:srgbClr val="1D1D1F"/>
                </a:solidFill>
                <a:latin typeface="Calibri"/>
              </a:rPr>
              <a:t>GOLDTEN = GOLDGUINEA settlement price per gram in 18/18 cycles (≤ 0.11 bp); 999/995 applied in every spec version.</a:t>
            </a:r>
          </a:p>
        </p:txBody>
      </p:sp>
      <p:sp>
        <p:nvSpPr>
          <p:cNvPr id="155" name="M4 in build"/>
          <p:cNvSpPr/>
          <p:nvPr/>
        </p:nvSpPr>
        <p:spPr>
          <a:xfrm>
            <a:off x="11521440" y="7132320"/>
            <a:ext cx="6217920" cy="2331720"/>
          </a:xfrm>
          <a:prstGeom prst="roundRect">
            <a:avLst>
              <a:gd name="adj" fmla="val 6000"/>
            </a:avLst>
          </a:prstGeom>
          <a:solidFill>
            <a:srgbClr val="F3F4F7"/>
          </a:solidFill>
          <a:ln w="19050">
            <a:solidFill>
              <a:srgbClr val="D9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11795760" y="7315200"/>
            <a:ext cx="5669280" cy="2057400"/>
          </a:xfrm>
          <a:prstGeom prst="rect">
            <a:avLst/>
          </a:prstGeom>
          <a:noFill/>
        </p:spPr>
        <p:txBody>
          <a:bodyPr wrap="square" lIns="0" tIns="0" rIns="0" bIns="0" anchor="t">
            <a:spAutoFit/>
          </a:bodyPr>
          <a:lstStyle/>
          <a:p>
            <a:pPr algn="l">
              <a:spcAft>
                <a:spcPts val="500"/>
              </a:spcAft>
            </a:pPr>
            <a:r>
              <a:rPr sz="1600" b="1">
                <a:solidFill>
                  <a:srgbClr val="1D1D1F"/>
                </a:solidFill>
                <a:latin typeface="IBM Plex Sans"/>
              </a:rPr>
              <a:t>Walk-forward verdict (M4): in build</a:t>
            </a:r>
          </a:p>
          <a:p>
            <a:pPr algn="l">
              <a:spcAft>
                <a:spcPts val="500"/>
              </a:spcAft>
            </a:pPr>
            <a:r>
              <a:rPr sz="1600" b="0">
                <a:solidFill>
                  <a:srgbClr val="1D1D1F"/>
                </a:solidFill>
                <a:latin typeface="Calibri"/>
              </a:rPr>
              <a:t>Models the only capturing trade: short the small contract into settlement and deliver coins. Expected: not capturable without delivery capability.</a:t>
            </a:r>
          </a:p>
          <a:p>
            <a:pPr algn="l">
              <a:spcAft>
                <a:spcPts val="500"/>
              </a:spcAft>
            </a:pPr>
            <a:r>
              <a:rPr sz="1400" b="0">
                <a:solidFill>
                  <a:srgbClr val="5A6170"/>
                </a:solidFill>
                <a:latin typeface="Calibri"/>
              </a:rPr>
              <a:t>Also in build: look-ahead truncation test · Deflated Sharpe · EDGE-measured costs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grpSp>
        <p:nvGrpSpPr>
          <p:cNvPr id="148" name="Google Shape;148;p20"/>
          <p:cNvGrpSpPr/>
          <p:nvPr/>
        </p:nvGrpSpPr>
        <p:grpSpPr>
          <a:xfrm>
            <a:off x="4239144" y="5736501"/>
            <a:ext cx="8898075" cy="2077107"/>
            <a:chOff x="0" y="180975"/>
            <a:chExt cx="11864100" cy="2769476"/>
          </a:xfrm>
        </p:grpSpPr>
        <p:sp>
          <p:nvSpPr>
            <p:cNvPr id="149" name="Google Shape;149;p20"/>
            <p:cNvSpPr txBox="1"/>
            <p:nvPr/>
          </p:nvSpPr>
          <p:spPr>
            <a:xfrm>
              <a:off x="0" y="180975"/>
              <a:ext cx="11864100" cy="369300"/>
            </a:xfrm>
            <a:prstGeom prst="rect">
              <a:avLst/>
            </a:prstGeom>
            <a:noFill/>
            <a:ln>
              <a:noFill/>
            </a:ln>
          </p:spPr>
          <p:txBody>
            <a:bodyPr spcFirstLastPara="1" wrap="square" lIns="0" tIns="0" rIns="0" bIns="0" anchor="t" anchorCtr="0">
              <a:spAutoFit/>
            </a:bodyPr>
            <a:lstStyle/>
            <a:p>
              <a:pPr marL="0" marR="0" lvl="0" indent="0" algn="ctr" rtl="0">
                <a:lnSpc>
                  <a:spcPct val="76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20"/>
            <p:cNvSpPr txBox="1"/>
            <p:nvPr/>
          </p:nvSpPr>
          <p:spPr>
            <a:xfrm>
              <a:off x="0" y="2581151"/>
              <a:ext cx="11864100" cy="369300"/>
            </a:xfrm>
            <a:prstGeom prst="rect">
              <a:avLst/>
            </a:prstGeom>
            <a:noFill/>
            <a:ln>
              <a:noFill/>
            </a:ln>
          </p:spPr>
          <p:txBody>
            <a:bodyPr spcFirstLastPara="1" wrap="square" lIns="0" tIns="0" rIns="0" bIns="0" anchor="t" anchorCtr="0">
              <a:spAutoFit/>
            </a:bodyPr>
            <a:lstStyle/>
            <a:p>
              <a:pPr marL="0" marR="0" lvl="0" indent="0" algn="ctr" rtl="0">
                <a:lnSpc>
                  <a:spcPct val="76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1" name="Google Shape;151;p20"/>
          <p:cNvGrpSpPr/>
          <p:nvPr/>
        </p:nvGrpSpPr>
        <p:grpSpPr>
          <a:xfrm>
            <a:off x="2554002" y="5409216"/>
            <a:ext cx="12268350" cy="1305429"/>
            <a:chOff x="0" y="19050"/>
            <a:chExt cx="16357800" cy="1740572"/>
          </a:xfrm>
        </p:grpSpPr>
        <p:sp>
          <p:nvSpPr>
            <p:cNvPr id="152" name="Google Shape;152;p20"/>
            <p:cNvSpPr txBox="1"/>
            <p:nvPr/>
          </p:nvSpPr>
          <p:spPr>
            <a:xfrm>
              <a:off x="0" y="19050"/>
              <a:ext cx="16357800" cy="369300"/>
            </a:xfrm>
            <a:prstGeom prst="rect">
              <a:avLst/>
            </a:prstGeom>
            <a:noFill/>
            <a:ln>
              <a:noFill/>
            </a:ln>
          </p:spPr>
          <p:txBody>
            <a:bodyPr spcFirstLastPara="1" wrap="square" lIns="0" tIns="0" rIns="0" bIns="0" anchor="t" anchorCtr="0">
              <a:spAutoFit/>
            </a:bodyPr>
            <a:lstStyle/>
            <a:p>
              <a:pPr marL="0" marR="0" lvl="0" indent="0" algn="ctr" rtl="0">
                <a:lnSpc>
                  <a:spcPct val="4091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3" name="Google Shape;153;p20"/>
            <p:cNvSpPr txBox="1"/>
            <p:nvPr/>
          </p:nvSpPr>
          <p:spPr>
            <a:xfrm>
              <a:off x="0" y="1390322"/>
              <a:ext cx="16357800" cy="369300"/>
            </a:xfrm>
            <a:prstGeom prst="rect">
              <a:avLst/>
            </a:prstGeom>
            <a:noFill/>
            <a:ln>
              <a:noFill/>
            </a:ln>
          </p:spPr>
          <p:txBody>
            <a:bodyPr spcFirstLastPara="1" wrap="square" lIns="0" tIns="0" rIns="0" bIns="0" anchor="t" anchorCtr="0">
              <a:spAutoFit/>
            </a:bodyPr>
            <a:lstStyle/>
            <a:p>
              <a:pPr marL="0" marR="0" lvl="0" indent="0" algn="ctr" rtl="0">
                <a:lnSpc>
                  <a:spcPct val="701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4" name="Google Shape;154;p20"/>
          <p:cNvGrpSpPr/>
          <p:nvPr/>
        </p:nvGrpSpPr>
        <p:grpSpPr>
          <a:xfrm>
            <a:off x="1873714" y="4696929"/>
            <a:ext cx="13628822" cy="4488047"/>
            <a:chOff x="2753902" y="4797891"/>
            <a:chExt cx="13628822" cy="4488047"/>
          </a:xfrm>
        </p:grpSpPr>
        <p:sp>
          <p:nvSpPr>
            <p:cNvPr id="155" name="Google Shape;155;p20"/>
            <p:cNvSpPr txBox="1"/>
            <p:nvPr/>
          </p:nvSpPr>
          <p:spPr>
            <a:xfrm rot="-348051">
              <a:off x="2847493" y="5401630"/>
              <a:ext cx="12071717" cy="2462422"/>
            </a:xfrm>
            <a:prstGeom prst="rect">
              <a:avLst/>
            </a:prstGeom>
            <a:noFill/>
            <a:ln>
              <a:noFill/>
            </a:ln>
          </p:spPr>
          <p:txBody>
            <a:bodyPr spcFirstLastPara="1" wrap="square" lIns="0" tIns="0" rIns="0" bIns="0" anchor="t" anchorCtr="0">
              <a:spAutoFit/>
            </a:bodyPr>
            <a:lstStyle/>
            <a:p>
              <a:pPr marL="0" marR="0" lvl="0" indent="0" algn="ctr" rtl="0">
                <a:lnSpc>
                  <a:spcPct val="54998"/>
                </a:lnSpc>
                <a:spcBef>
                  <a:spcPts val="0"/>
                </a:spcBef>
                <a:spcAft>
                  <a:spcPts val="0"/>
                </a:spcAft>
                <a:buNone/>
              </a:pPr>
              <a:r>
                <a:rPr lang="en-US" sz="29088" i="0" u="none" strike="noStrike" cap="none">
                  <a:solidFill>
                    <a:srgbClr val="1D1D1F"/>
                  </a:solidFill>
                  <a:latin typeface="Caveat"/>
                  <a:ea typeface="Caveat"/>
                  <a:cs typeface="Caveat"/>
                  <a:sym typeface="Caveat"/>
                </a:rPr>
                <a:t>Thank</a:t>
              </a:r>
              <a:endParaRPr>
                <a:latin typeface="Caveat"/>
                <a:ea typeface="Caveat"/>
                <a:cs typeface="Caveat"/>
                <a:sym typeface="Caveat"/>
              </a:endParaRPr>
            </a:p>
          </p:txBody>
        </p:sp>
        <p:sp>
          <p:nvSpPr>
            <p:cNvPr id="156" name="Google Shape;156;p20"/>
            <p:cNvSpPr txBox="1"/>
            <p:nvPr/>
          </p:nvSpPr>
          <p:spPr>
            <a:xfrm>
              <a:off x="4695023" y="6732039"/>
              <a:ext cx="11687700" cy="2553900"/>
            </a:xfrm>
            <a:prstGeom prst="rect">
              <a:avLst/>
            </a:prstGeom>
            <a:noFill/>
            <a:ln>
              <a:noFill/>
            </a:ln>
          </p:spPr>
          <p:txBody>
            <a:bodyPr spcFirstLastPara="1" wrap="square" lIns="0" tIns="0" rIns="0" bIns="0" anchor="t" anchorCtr="0">
              <a:spAutoFit/>
            </a:bodyPr>
            <a:lstStyle/>
            <a:p>
              <a:pPr marL="0" marR="0" lvl="0" indent="0" algn="ctr" rtl="0">
                <a:lnSpc>
                  <a:spcPct val="55000"/>
                </a:lnSpc>
                <a:spcBef>
                  <a:spcPts val="0"/>
                </a:spcBef>
                <a:spcAft>
                  <a:spcPts val="0"/>
                </a:spcAft>
                <a:buNone/>
              </a:pPr>
              <a:r>
                <a:rPr lang="en-US" sz="30167" i="0" u="none" strike="noStrike" cap="none">
                  <a:solidFill>
                    <a:srgbClr val="1D1D1F"/>
                  </a:solidFill>
                  <a:latin typeface="Caveat"/>
                  <a:ea typeface="Caveat"/>
                  <a:cs typeface="Caveat"/>
                  <a:sym typeface="Caveat"/>
                </a:rPr>
                <a:t>you!</a:t>
              </a:r>
              <a:endParaRPr>
                <a:latin typeface="Caveat"/>
                <a:ea typeface="Caveat"/>
                <a:cs typeface="Caveat"/>
                <a:sym typeface="Caveat"/>
              </a:endParaRPr>
            </a:p>
          </p:txBody>
        </p:sp>
      </p:grpSp>
      <p:pic>
        <p:nvPicPr>
          <p:cNvPr id="157" name="Google Shape;157;p20" title="download (2).jpg"/>
          <p:cNvPicPr preferRelativeResize="0"/>
          <p:nvPr/>
        </p:nvPicPr>
        <p:blipFill rotWithShape="1">
          <a:blip r:embed="rId3">
            <a:alphaModFix/>
          </a:blip>
          <a:srcRect l="38928" r="16455"/>
          <a:stretch/>
        </p:blipFill>
        <p:spPr>
          <a:xfrm rot="-5400000">
            <a:off x="7123100" y="-7111200"/>
            <a:ext cx="4088375" cy="18326624"/>
          </a:xfrm>
          <a:prstGeom prst="rect">
            <a:avLst/>
          </a:prstGeom>
          <a:noFill/>
          <a:ln>
            <a:noFill/>
          </a:ln>
        </p:spPr>
      </p:pic>
      <p:pic>
        <p:nvPicPr>
          <p:cNvPr id="158" name="Google Shape;158;p20" title="Group 48097831.png"/>
          <p:cNvPicPr preferRelativeResize="0"/>
          <p:nvPr/>
        </p:nvPicPr>
        <p:blipFill>
          <a:blip r:embed="rId4">
            <a:alphaModFix/>
          </a:blip>
          <a:stretch>
            <a:fillRect/>
          </a:stretch>
        </p:blipFill>
        <p:spPr>
          <a:xfrm>
            <a:off x="318675" y="296224"/>
            <a:ext cx="7240346" cy="791925"/>
          </a:xfrm>
          <a:prstGeom prst="rect">
            <a:avLst/>
          </a:prstGeom>
          <a:noFill/>
          <a:ln>
            <a:noFill/>
          </a:ln>
        </p:spPr>
      </p:pic>
      <p:pic>
        <p:nvPicPr>
          <p:cNvPr id="159" name="Google Shape;159;p20" title="Logo.png"/>
          <p:cNvPicPr preferRelativeResize="0"/>
          <p:nvPr/>
        </p:nvPicPr>
        <p:blipFill>
          <a:blip r:embed="rId5">
            <a:alphaModFix/>
          </a:blip>
          <a:stretch>
            <a:fillRect/>
          </a:stretch>
        </p:blipFill>
        <p:spPr>
          <a:xfrm>
            <a:off x="12520575" y="296231"/>
            <a:ext cx="5599601" cy="791925"/>
          </a:xfrm>
          <a:prstGeom prst="rect">
            <a:avLst/>
          </a:prstGeom>
          <a:noFill/>
          <a:ln>
            <a:noFill/>
          </a:ln>
        </p:spPr>
      </p:pic>
      <p:sp>
        <p:nvSpPr>
          <p:cNvPr id="160" name="Links"/>
          <p:cNvSpPr txBox="1"/>
          <p:nvPr/>
        </p:nvSpPr>
        <p:spPr>
          <a:xfrm>
            <a:off x="548640" y="9555480"/>
            <a:ext cx="17190720" cy="230832"/>
          </a:xfrm>
          <a:prstGeom prst="rect">
            <a:avLst/>
          </a:prstGeom>
          <a:noFill/>
        </p:spPr>
        <p:txBody>
          <a:bodyPr wrap="square" lIns="0" tIns="0" rIns="0" bIns="0" anchor="t">
            <a:spAutoFit/>
          </a:bodyPr>
          <a:lstStyle/>
          <a:p>
            <a:pPr algn="ctr"/>
            <a:r>
              <a:rPr sz="1500" b="1" dirty="0">
                <a:solidFill>
                  <a:srgbClr val="5A6170"/>
                </a:solidFill>
                <a:latin typeface="IBM Plex Sans"/>
              </a:rPr>
              <a:t>Tola · PS-03  ·  Repo: </a:t>
            </a:r>
            <a:r>
              <a:rPr sz="1500" b="1" dirty="0">
                <a:solidFill>
                  <a:srgbClr val="5A6170"/>
                </a:solidFill>
                <a:latin typeface="IBM Plex Sans"/>
                <a:hlinkClick r:id="rId6"/>
              </a:rPr>
              <a:t>https://github.com/Mrigank005/Tola</a:t>
            </a:r>
            <a:endParaRPr sz="1500" b="1" dirty="0">
              <a:solidFill>
                <a:srgbClr val="5A6170"/>
              </a:solidFill>
              <a:latin typeface="IBM Plex San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1758</Words>
  <Application>Microsoft Office PowerPoint</Application>
  <PresentationFormat>Custom</PresentationFormat>
  <Paragraphs>172</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Calibri</vt:lpstr>
      <vt:lpstr>Montserrat</vt:lpstr>
      <vt:lpstr>Caveat</vt:lpstr>
      <vt:lpstr>Arial</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Mrigank Singh</cp:lastModifiedBy>
  <cp:revision>2</cp:revision>
  <dcterms:modified xsi:type="dcterms:W3CDTF">2026-10-14T03:13:19Z</dcterms:modified>
</cp:coreProperties>
</file>